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y="10287000" cx="18288000"/>
  <p:notesSz cx="6858000" cy="9144000"/>
  <p:embeddedFontLst>
    <p:embeddedFont>
      <p:font typeface="Archivo Narrow"/>
      <p:bold r:id="rId27"/>
      <p:boldItalic r:id="rId28"/>
    </p:embeddedFont>
    <p:embeddedFont>
      <p:font typeface="Arimo"/>
      <p:regular r:id="rId29"/>
      <p:bold r:id="rId30"/>
      <p:italic r:id="rId31"/>
      <p:boldItalic r:id="rId32"/>
    </p:embeddedFont>
    <p:embeddedFont>
      <p:font typeface="Poppins"/>
      <p:regular r:id="rId33"/>
      <p:bold r:id="rId34"/>
      <p:italic r:id="rId35"/>
      <p:boldItalic r:id="rId36"/>
    </p:embeddedFont>
    <p:embeddedFont>
      <p:font typeface="Inter"/>
      <p:bold r:id="rId37"/>
      <p:boldItalic r:id="rId38"/>
    </p:embeddedFont>
    <p:embeddedFont>
      <p:font typeface="Poppins Black"/>
      <p:bold r:id="rId39"/>
      <p:boldItalic r:id="rId40"/>
    </p:embeddedFont>
    <p:embeddedFont>
      <p:font typeface="Helvetica Neue"/>
      <p:bold r:id="rId41"/>
      <p:boldItalic r:id="rId4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EA38B67D-69BF-4426-9D7D-43E40D648462}">
  <a:tblStyle styleId="{EA38B67D-69BF-4426-9D7D-43E40D648462}"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PoppinsBlack-boldItalic.fntdata"/><Relationship Id="rId20" Type="http://schemas.openxmlformats.org/officeDocument/2006/relationships/slide" Target="slides/slide14.xml"/><Relationship Id="rId42" Type="http://schemas.openxmlformats.org/officeDocument/2006/relationships/font" Target="fonts/HelveticaNeue-boldItalic.fntdata"/><Relationship Id="rId41" Type="http://schemas.openxmlformats.org/officeDocument/2006/relationships/font" Target="fonts/HelveticaNeue-bold.fntdata"/><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font" Target="fonts/ArchivoNarrow-boldItalic.fntdata"/><Relationship Id="rId27" Type="http://schemas.openxmlformats.org/officeDocument/2006/relationships/font" Target="fonts/ArchivoNarrow-bold.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Arimo-regular.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Arimo-italic.fntdata"/><Relationship Id="rId30" Type="http://schemas.openxmlformats.org/officeDocument/2006/relationships/font" Target="fonts/Arimo-bold.fntdata"/><Relationship Id="rId11" Type="http://schemas.openxmlformats.org/officeDocument/2006/relationships/slide" Target="slides/slide5.xml"/><Relationship Id="rId33" Type="http://schemas.openxmlformats.org/officeDocument/2006/relationships/font" Target="fonts/Poppins-regular.fntdata"/><Relationship Id="rId10" Type="http://schemas.openxmlformats.org/officeDocument/2006/relationships/slide" Target="slides/slide4.xml"/><Relationship Id="rId32" Type="http://schemas.openxmlformats.org/officeDocument/2006/relationships/font" Target="fonts/Arimo-boldItalic.fntdata"/><Relationship Id="rId13" Type="http://schemas.openxmlformats.org/officeDocument/2006/relationships/slide" Target="slides/slide7.xml"/><Relationship Id="rId35" Type="http://schemas.openxmlformats.org/officeDocument/2006/relationships/font" Target="fonts/Poppins-italic.fntdata"/><Relationship Id="rId12" Type="http://schemas.openxmlformats.org/officeDocument/2006/relationships/slide" Target="slides/slide6.xml"/><Relationship Id="rId34" Type="http://schemas.openxmlformats.org/officeDocument/2006/relationships/font" Target="fonts/Poppins-bold.fntdata"/><Relationship Id="rId15" Type="http://schemas.openxmlformats.org/officeDocument/2006/relationships/slide" Target="slides/slide9.xml"/><Relationship Id="rId37" Type="http://schemas.openxmlformats.org/officeDocument/2006/relationships/font" Target="fonts/Inter-bold.fntdata"/><Relationship Id="rId14" Type="http://schemas.openxmlformats.org/officeDocument/2006/relationships/slide" Target="slides/slide8.xml"/><Relationship Id="rId36" Type="http://schemas.openxmlformats.org/officeDocument/2006/relationships/font" Target="fonts/Poppins-boldItalic.fntdata"/><Relationship Id="rId17" Type="http://schemas.openxmlformats.org/officeDocument/2006/relationships/slide" Target="slides/slide11.xml"/><Relationship Id="rId39" Type="http://schemas.openxmlformats.org/officeDocument/2006/relationships/font" Target="fonts/PoppinsBlack-bold.fntdata"/><Relationship Id="rId16" Type="http://schemas.openxmlformats.org/officeDocument/2006/relationships/slide" Target="slides/slide10.xml"/><Relationship Id="rId38" Type="http://schemas.openxmlformats.org/officeDocument/2006/relationships/font" Target="fonts/Inter-boldItalic.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ph idx="1" type="body"/>
          </p:nvPr>
        </p:nvSpPr>
        <p:spPr>
          <a:xfrm>
            <a:off x="914400" y="3251200"/>
            <a:ext cx="7315200" cy="30813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 name="Google Shape;86;p1: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2:notes"/>
          <p:cNvSpPr txBox="1"/>
          <p:nvPr>
            <p:ph idx="1" type="body"/>
          </p:nvPr>
        </p:nvSpPr>
        <p:spPr>
          <a:xfrm>
            <a:off x="914400" y="3251200"/>
            <a:ext cx="7315200" cy="30813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5" name="Google Shape;125;p2: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3: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191" name="Google Shape;191;p3: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192" name="Google Shape;192;p3: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3" name="Google Shape;193;p3: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Paparkan skala basis data transaksi: 1,1 juta baris dari 7 negara Eropa, dengan total omzet tercatat €448M+ dan subset aktif dashboard €156M di 21,6M unit.</a:t>
            </a:r>
            <a:endParaRPr/>
          </a:p>
          <a:p>
            <a:pPr indent="0" lvl="0" marL="0" rtl="0" algn="l">
              <a:spcBef>
                <a:spcPts val="0"/>
              </a:spcBef>
              <a:spcAft>
                <a:spcPts val="0"/>
              </a:spcAft>
              <a:buNone/>
            </a:pPr>
            <a:r>
              <a:rPr lang="en-US"/>
              <a:t>2</a:t>
            </a:r>
            <a:endParaRPr/>
          </a:p>
        </p:txBody>
      </p:sp>
      <p:sp>
        <p:nvSpPr>
          <p:cNvPr id="194" name="Google Shape;194;p3: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195" name="Google Shape;195;p3: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p4: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235" name="Google Shape;235;p4: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236" name="Google Shape;236;p4: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7" name="Google Shape;237;p4: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Soroti empat paradoks utama: stockout pada produk cepat laku berbarengan dengan tumpukan inventaris lambat senilai $76M, diskon 1,4% tanpa panduan elastisitas, dan ketiadaan sinkronisasi S&amp;OP.</a:t>
            </a:r>
            <a:endParaRPr/>
          </a:p>
          <a:p>
            <a:pPr indent="0" lvl="0" marL="0" rtl="0" algn="l">
              <a:spcBef>
                <a:spcPts val="0"/>
              </a:spcBef>
              <a:spcAft>
                <a:spcPts val="0"/>
              </a:spcAft>
              <a:buNone/>
            </a:pPr>
            <a:r>
              <a:rPr lang="en-US"/>
              <a:t>3</a:t>
            </a:r>
            <a:endParaRPr/>
          </a:p>
        </p:txBody>
      </p:sp>
      <p:sp>
        <p:nvSpPr>
          <p:cNvPr id="238" name="Google Shape;238;p4: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239" name="Google Shape;239;p4: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p5: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279" name="Google Shape;279;p5: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280" name="Google Shape;280;p5: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1" name="Google Shape;281;p5: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Jelaskan bagaimana pipa ETL Python mengalirkan 1,1 juta baris ke dalam star schema Power BI yang menghubungkan fakta transaksi historis, tabel pengadaan dinamis, dan proyeksi permintaan 2024.</a:t>
            </a:r>
            <a:endParaRPr/>
          </a:p>
          <a:p>
            <a:pPr indent="0" lvl="0" marL="0" rtl="0" algn="l">
              <a:spcBef>
                <a:spcPts val="0"/>
              </a:spcBef>
              <a:spcAft>
                <a:spcPts val="0"/>
              </a:spcAft>
              <a:buNone/>
            </a:pPr>
            <a:r>
              <a:rPr lang="en-US"/>
              <a:t>4</a:t>
            </a:r>
            <a:endParaRPr/>
          </a:p>
        </p:txBody>
      </p:sp>
      <p:sp>
        <p:nvSpPr>
          <p:cNvPr id="282" name="Google Shape;282;p5: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283" name="Google Shape;283;p5: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p6: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307" name="Google Shape;307;p6: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308" name="Google Shape;308;p6: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9" name="Google Shape;309;p6: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Tinjau trade-off antar-metrik: tingginya OTIF supplier (97%) tidak mencegah lost sales $4,9M karena holding cost $76M terkonsentrasi pada SKU yang salah.</a:t>
            </a:r>
            <a:endParaRPr/>
          </a:p>
          <a:p>
            <a:pPr indent="0" lvl="0" marL="0" rtl="0" algn="l">
              <a:spcBef>
                <a:spcPts val="0"/>
              </a:spcBef>
              <a:spcAft>
                <a:spcPts val="0"/>
              </a:spcAft>
              <a:buNone/>
            </a:pPr>
            <a:r>
              <a:rPr lang="en-US"/>
              <a:t>5</a:t>
            </a:r>
            <a:endParaRPr/>
          </a:p>
        </p:txBody>
      </p:sp>
      <p:sp>
        <p:nvSpPr>
          <p:cNvPr id="310" name="Google Shape;310;p6: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311" name="Google Shape;311;p6: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p7: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356" name="Google Shape;356;p7: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357" name="Google Shape;357;p7: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8" name="Google Shape;358;p7: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Bahas performa pasar: Italy dan Spain adalah motor omzet sekaligus titik krisis 11,0K insiden stockout. Hypermarket memegang 54,5% pangsa transaksi.</a:t>
            </a:r>
            <a:endParaRPr/>
          </a:p>
          <a:p>
            <a:pPr indent="0" lvl="0" marL="0" rtl="0" algn="l">
              <a:spcBef>
                <a:spcPts val="0"/>
              </a:spcBef>
              <a:spcAft>
                <a:spcPts val="0"/>
              </a:spcAft>
              <a:buNone/>
            </a:pPr>
            <a:r>
              <a:rPr lang="en-US"/>
              <a:t>6</a:t>
            </a:r>
            <a:endParaRPr/>
          </a:p>
        </p:txBody>
      </p:sp>
      <p:sp>
        <p:nvSpPr>
          <p:cNvPr id="359" name="Google Shape;359;p7: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360" name="Google Shape;360;p7: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 name="Shape 382"/>
        <p:cNvGrpSpPr/>
        <p:nvPr/>
      </p:nvGrpSpPr>
      <p:grpSpPr>
        <a:xfrm>
          <a:off x="0" y="0"/>
          <a:ext cx="0" cy="0"/>
          <a:chOff x="0" y="0"/>
          <a:chExt cx="0" cy="0"/>
        </a:xfrm>
      </p:grpSpPr>
      <p:sp>
        <p:nvSpPr>
          <p:cNvPr id="383" name="Google Shape;383;p8:notes"/>
          <p:cNvSpPr txBox="1"/>
          <p:nvPr>
            <p:ph idx="1" type="body"/>
          </p:nvPr>
        </p:nvSpPr>
        <p:spPr>
          <a:xfrm>
            <a:off x="914400" y="3251200"/>
            <a:ext cx="7315200" cy="30813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4" name="Google Shape;384;p8: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0" name="Shape 400"/>
        <p:cNvGrpSpPr/>
        <p:nvPr/>
      </p:nvGrpSpPr>
      <p:grpSpPr>
        <a:xfrm>
          <a:off x="0" y="0"/>
          <a:ext cx="0" cy="0"/>
          <a:chOff x="0" y="0"/>
          <a:chExt cx="0" cy="0"/>
        </a:xfrm>
      </p:grpSpPr>
      <p:sp>
        <p:nvSpPr>
          <p:cNvPr id="401" name="Google Shape;401;p9: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402" name="Google Shape;402;p9: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403" name="Google Shape;403;p9: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4" name="Google Shape;404;p9: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Tunjukkan inefisiensi belanja promosi €3,81M: kategori Home Care dan Beverages merespons sangat baik, sementara Snacks dan Dairy justru merugi dengan uplift negatif.</a:t>
            </a:r>
            <a:endParaRPr/>
          </a:p>
          <a:p>
            <a:pPr indent="0" lvl="0" marL="0" rtl="0" algn="l">
              <a:spcBef>
                <a:spcPts val="0"/>
              </a:spcBef>
              <a:spcAft>
                <a:spcPts val="0"/>
              </a:spcAft>
              <a:buNone/>
            </a:pPr>
            <a:r>
              <a:rPr lang="en-US"/>
              <a:t>7</a:t>
            </a:r>
            <a:endParaRPr/>
          </a:p>
        </p:txBody>
      </p:sp>
      <p:sp>
        <p:nvSpPr>
          <p:cNvPr id="405" name="Google Shape;405;p9: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406" name="Google Shape;406;p9: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0" name="Shape 430"/>
        <p:cNvGrpSpPr/>
        <p:nvPr/>
      </p:nvGrpSpPr>
      <p:grpSpPr>
        <a:xfrm>
          <a:off x="0" y="0"/>
          <a:ext cx="0" cy="0"/>
          <a:chOff x="0" y="0"/>
          <a:chExt cx="0" cy="0"/>
        </a:xfrm>
      </p:grpSpPr>
      <p:sp>
        <p:nvSpPr>
          <p:cNvPr id="431" name="Google Shape;431;p10:notes"/>
          <p:cNvSpPr txBox="1"/>
          <p:nvPr>
            <p:ph idx="1" type="body"/>
          </p:nvPr>
        </p:nvSpPr>
        <p:spPr>
          <a:xfrm>
            <a:off x="914400" y="3251200"/>
            <a:ext cx="7315200" cy="30813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2" name="Google Shape;432;p10: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8" name="Shape 448"/>
        <p:cNvGrpSpPr/>
        <p:nvPr/>
      </p:nvGrpSpPr>
      <p:grpSpPr>
        <a:xfrm>
          <a:off x="0" y="0"/>
          <a:ext cx="0" cy="0"/>
          <a:chOff x="0" y="0"/>
          <a:chExt cx="0" cy="0"/>
        </a:xfrm>
      </p:grpSpPr>
      <p:sp>
        <p:nvSpPr>
          <p:cNvPr id="449" name="Google Shape;449;p11: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450" name="Google Shape;450;p11: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451" name="Google Shape;451;p11: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2" name="Google Shape;452;p11: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Gunakan distribusi stok untuk memicu tindakan: hanya 15% SKU yang berada pada level ideal, sementara 50-60% mengalami krisis pasokan (understock) yang memicu lost sales.</a:t>
            </a:r>
            <a:endParaRPr/>
          </a:p>
          <a:p>
            <a:pPr indent="0" lvl="0" marL="0" rtl="0" algn="l">
              <a:spcBef>
                <a:spcPts val="0"/>
              </a:spcBef>
              <a:spcAft>
                <a:spcPts val="0"/>
              </a:spcAft>
              <a:buNone/>
            </a:pPr>
            <a:r>
              <a:rPr lang="en-US"/>
              <a:t>8</a:t>
            </a:r>
            <a:endParaRPr/>
          </a:p>
        </p:txBody>
      </p:sp>
      <p:sp>
        <p:nvSpPr>
          <p:cNvPr id="453" name="Google Shape;453;p11: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454" name="Google Shape;454;p11: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8" name="Shape 478"/>
        <p:cNvGrpSpPr/>
        <p:nvPr/>
      </p:nvGrpSpPr>
      <p:grpSpPr>
        <a:xfrm>
          <a:off x="0" y="0"/>
          <a:ext cx="0" cy="0"/>
          <a:chOff x="0" y="0"/>
          <a:chExt cx="0" cy="0"/>
        </a:xfrm>
      </p:grpSpPr>
      <p:sp>
        <p:nvSpPr>
          <p:cNvPr id="479" name="Google Shape;479;p12: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480" name="Google Shape;480;p12: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481" name="Google Shape;481;p12: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2" name="Google Shape;482;p12: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Jelaskan reliabilitas vendor: OTIF 97% dan lead time rata-rata 6,5 hari cukup solid, tetapi ketiadaan batas PO dinamis menghasilkan overstock $19M pada Snacks dan $15,8M pada Personal Care.</a:t>
            </a:r>
            <a:endParaRPr/>
          </a:p>
          <a:p>
            <a:pPr indent="0" lvl="0" marL="0" rtl="0" algn="l">
              <a:spcBef>
                <a:spcPts val="0"/>
              </a:spcBef>
              <a:spcAft>
                <a:spcPts val="0"/>
              </a:spcAft>
              <a:buNone/>
            </a:pPr>
            <a:r>
              <a:rPr lang="en-US"/>
              <a:t>9</a:t>
            </a:r>
            <a:endParaRPr/>
          </a:p>
        </p:txBody>
      </p:sp>
      <p:sp>
        <p:nvSpPr>
          <p:cNvPr id="483" name="Google Shape;483;p12: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484" name="Google Shape;484;p12: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6" name="Shape 506"/>
        <p:cNvGrpSpPr/>
        <p:nvPr/>
      </p:nvGrpSpPr>
      <p:grpSpPr>
        <a:xfrm>
          <a:off x="0" y="0"/>
          <a:ext cx="0" cy="0"/>
          <a:chOff x="0" y="0"/>
          <a:chExt cx="0" cy="0"/>
        </a:xfrm>
      </p:grpSpPr>
      <p:sp>
        <p:nvSpPr>
          <p:cNvPr id="507" name="Google Shape;507;p13: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508" name="Google Shape;508;p13: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509" name="Google Shape;509;p13: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0" name="Google Shape;510;p13: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Bahas paradoks ketimpangan stok: brand utama seperti BrandC Chips (175K unit berisiko) kekurangan stok, sementara modal $76M menganggur pada lini yang lambat bergerak.</a:t>
            </a:r>
            <a:endParaRPr/>
          </a:p>
          <a:p>
            <a:pPr indent="0" lvl="0" marL="0" rtl="0" algn="l">
              <a:spcBef>
                <a:spcPts val="0"/>
              </a:spcBef>
              <a:spcAft>
                <a:spcPts val="0"/>
              </a:spcAft>
              <a:buNone/>
            </a:pPr>
            <a:r>
              <a:rPr lang="en-US"/>
              <a:t>10</a:t>
            </a:r>
            <a:endParaRPr/>
          </a:p>
        </p:txBody>
      </p:sp>
      <p:sp>
        <p:nvSpPr>
          <p:cNvPr id="511" name="Google Shape;511;p13: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512" name="Google Shape;512;p13: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1" name="Shape 541"/>
        <p:cNvGrpSpPr/>
        <p:nvPr/>
      </p:nvGrpSpPr>
      <p:grpSpPr>
        <a:xfrm>
          <a:off x="0" y="0"/>
          <a:ext cx="0" cy="0"/>
          <a:chOff x="0" y="0"/>
          <a:chExt cx="0" cy="0"/>
        </a:xfrm>
      </p:grpSpPr>
      <p:sp>
        <p:nvSpPr>
          <p:cNvPr id="542" name="Google Shape;542;p14: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543" name="Google Shape;543;p14: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544" name="Google Shape;544;p14: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5" name="Google Shape;545;p14: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Soroti inelastisitas harga pada kategori pendorong: diskon di Hypermarket (54,5% volume) tidak mendongkrak penjualan melainkan hanya memotong marjin bersih ke 38,5%.</a:t>
            </a:r>
            <a:endParaRPr/>
          </a:p>
          <a:p>
            <a:pPr indent="0" lvl="0" marL="0" rtl="0" algn="l">
              <a:spcBef>
                <a:spcPts val="0"/>
              </a:spcBef>
              <a:spcAft>
                <a:spcPts val="0"/>
              </a:spcAft>
              <a:buNone/>
            </a:pPr>
            <a:r>
              <a:rPr lang="en-US"/>
              <a:t>11</a:t>
            </a:r>
            <a:endParaRPr/>
          </a:p>
        </p:txBody>
      </p:sp>
      <p:sp>
        <p:nvSpPr>
          <p:cNvPr id="546" name="Google Shape;546;p14: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547" name="Google Shape;547;p14: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0" name="Shape 580"/>
        <p:cNvGrpSpPr/>
        <p:nvPr/>
      </p:nvGrpSpPr>
      <p:grpSpPr>
        <a:xfrm>
          <a:off x="0" y="0"/>
          <a:ext cx="0" cy="0"/>
          <a:chOff x="0" y="0"/>
          <a:chExt cx="0" cy="0"/>
        </a:xfrm>
      </p:grpSpPr>
      <p:sp>
        <p:nvSpPr>
          <p:cNvPr id="581" name="Google Shape;581;p15: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582" name="Google Shape;582;p15: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583" name="Google Shape;583;p15: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4" name="Google Shape;584;p15: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Tunjukkan bagaimana deviasi mikro pada lead time (rentang 6,44 hingga 6,69 hari) menciptakan efek cambuk (bullwhip effect) pada formula stok aman jika tidak dipandu peramalan prediktif.</a:t>
            </a:r>
            <a:endParaRPr/>
          </a:p>
          <a:p>
            <a:pPr indent="0" lvl="0" marL="0" rtl="0" algn="l">
              <a:spcBef>
                <a:spcPts val="0"/>
              </a:spcBef>
              <a:spcAft>
                <a:spcPts val="0"/>
              </a:spcAft>
              <a:buNone/>
            </a:pPr>
            <a:r>
              <a:rPr lang="en-US"/>
              <a:t>12</a:t>
            </a:r>
            <a:endParaRPr/>
          </a:p>
        </p:txBody>
      </p:sp>
      <p:sp>
        <p:nvSpPr>
          <p:cNvPr id="585" name="Google Shape;585;p15: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586" name="Google Shape;586;p15: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0" name="Shape 620"/>
        <p:cNvGrpSpPr/>
        <p:nvPr/>
      </p:nvGrpSpPr>
      <p:grpSpPr>
        <a:xfrm>
          <a:off x="0" y="0"/>
          <a:ext cx="0" cy="0"/>
          <a:chOff x="0" y="0"/>
          <a:chExt cx="0" cy="0"/>
        </a:xfrm>
      </p:grpSpPr>
      <p:sp>
        <p:nvSpPr>
          <p:cNvPr id="621" name="Google Shape;621;p16: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622" name="Google Shape;622;p16: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623" name="Google Shape;623;p16: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4" name="Google Shape;624;p16: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Uraikan 3 langkah implementasi safety stock dinamis: implementasi formula DAX dinamis, segmentasi SKU prioritas, dan penambahan kuota stok aman pada BrandC Chips.</a:t>
            </a:r>
            <a:endParaRPr/>
          </a:p>
          <a:p>
            <a:pPr indent="0" lvl="0" marL="0" rtl="0" algn="l">
              <a:spcBef>
                <a:spcPts val="0"/>
              </a:spcBef>
              <a:spcAft>
                <a:spcPts val="0"/>
              </a:spcAft>
              <a:buNone/>
            </a:pPr>
            <a:r>
              <a:rPr lang="en-US"/>
              <a:t>13</a:t>
            </a:r>
            <a:endParaRPr/>
          </a:p>
        </p:txBody>
      </p:sp>
      <p:sp>
        <p:nvSpPr>
          <p:cNvPr id="625" name="Google Shape;625;p16: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626" name="Google Shape;626;p16: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2" name="Shape 662"/>
        <p:cNvGrpSpPr/>
        <p:nvPr/>
      </p:nvGrpSpPr>
      <p:grpSpPr>
        <a:xfrm>
          <a:off x="0" y="0"/>
          <a:ext cx="0" cy="0"/>
          <a:chOff x="0" y="0"/>
          <a:chExt cx="0" cy="0"/>
        </a:xfrm>
      </p:grpSpPr>
      <p:sp>
        <p:nvSpPr>
          <p:cNvPr id="663" name="Google Shape;663;p17: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664" name="Google Shape;664;p17: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665" name="Google Shape;665;p17: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66" name="Google Shape;666;p17: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Jelaskan restrukturisasi strategi komersial: hentikan pemotongan harga otomatis pada Snacks dan Dairy, geser ke program loyalitas, dan ukur ROI secara terpilah.</a:t>
            </a:r>
            <a:endParaRPr/>
          </a:p>
          <a:p>
            <a:pPr indent="0" lvl="0" marL="0" rtl="0" algn="l">
              <a:spcBef>
                <a:spcPts val="0"/>
              </a:spcBef>
              <a:spcAft>
                <a:spcPts val="0"/>
              </a:spcAft>
              <a:buNone/>
            </a:pPr>
            <a:r>
              <a:rPr lang="en-US"/>
              <a:t>14</a:t>
            </a:r>
            <a:endParaRPr/>
          </a:p>
        </p:txBody>
      </p:sp>
      <p:sp>
        <p:nvSpPr>
          <p:cNvPr id="667" name="Google Shape;667;p17: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668" name="Google Shape;668;p17: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5" name="Shape 705"/>
        <p:cNvGrpSpPr/>
        <p:nvPr/>
      </p:nvGrpSpPr>
      <p:grpSpPr>
        <a:xfrm>
          <a:off x="0" y="0"/>
          <a:ext cx="0" cy="0"/>
          <a:chOff x="0" y="0"/>
          <a:chExt cx="0" cy="0"/>
        </a:xfrm>
      </p:grpSpPr>
      <p:sp>
        <p:nvSpPr>
          <p:cNvPr id="706" name="Google Shape;706;p18: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707" name="Google Shape;707;p18: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708" name="Google Shape;708;p18: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09" name="Google Shape;709;p18: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Tegaskan tata kelola S&amp;OP: gunakan Procurement Action Plan dalam forum bulanan, nilai vendor via matriks Lead Time vs OTIF, dan alokasikan kuota berdasarkan kinerja nyata.</a:t>
            </a:r>
            <a:endParaRPr/>
          </a:p>
          <a:p>
            <a:pPr indent="0" lvl="0" marL="0" rtl="0" algn="l">
              <a:spcBef>
                <a:spcPts val="0"/>
              </a:spcBef>
              <a:spcAft>
                <a:spcPts val="0"/>
              </a:spcAft>
              <a:buNone/>
            </a:pPr>
            <a:r>
              <a:rPr lang="en-US"/>
              <a:t>15</a:t>
            </a:r>
            <a:endParaRPr/>
          </a:p>
        </p:txBody>
      </p:sp>
      <p:sp>
        <p:nvSpPr>
          <p:cNvPr id="710" name="Google Shape;710;p18: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711" name="Google Shape;711;p18: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8" name="Shape 748"/>
        <p:cNvGrpSpPr/>
        <p:nvPr/>
      </p:nvGrpSpPr>
      <p:grpSpPr>
        <a:xfrm>
          <a:off x="0" y="0"/>
          <a:ext cx="0" cy="0"/>
          <a:chOff x="0" y="0"/>
          <a:chExt cx="0" cy="0"/>
        </a:xfrm>
      </p:grpSpPr>
      <p:sp>
        <p:nvSpPr>
          <p:cNvPr id="749" name="Google Shape;749;p19: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750" name="Google Shape;750;p19: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751" name="Google Shape;751;p19: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52" name="Google Shape;752;p19: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Tutup presentasi dengan 3 pilar dampak: penurunan stockout hingga 40%, pemangkasan biaya simpan 15-20%, dan perlindungan marjin laba bersih perusahaan.</a:t>
            </a:r>
            <a:endParaRPr/>
          </a:p>
          <a:p>
            <a:pPr indent="0" lvl="0" marL="0" rtl="0" algn="l">
              <a:spcBef>
                <a:spcPts val="0"/>
              </a:spcBef>
              <a:spcAft>
                <a:spcPts val="0"/>
              </a:spcAft>
              <a:buNone/>
            </a:pPr>
            <a:r>
              <a:rPr lang="en-US"/>
              <a:t>16</a:t>
            </a:r>
            <a:endParaRPr/>
          </a:p>
        </p:txBody>
      </p:sp>
      <p:sp>
        <p:nvSpPr>
          <p:cNvPr id="753" name="Google Shape;753;p19: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754" name="Google Shape;754;p19: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7" name="Shape 777"/>
        <p:cNvGrpSpPr/>
        <p:nvPr/>
      </p:nvGrpSpPr>
      <p:grpSpPr>
        <a:xfrm>
          <a:off x="0" y="0"/>
          <a:ext cx="0" cy="0"/>
          <a:chOff x="0" y="0"/>
          <a:chExt cx="0" cy="0"/>
        </a:xfrm>
      </p:grpSpPr>
      <p:sp>
        <p:nvSpPr>
          <p:cNvPr id="778" name="Google Shape;778;p20:notes"/>
          <p:cNvSpPr txBox="1"/>
          <p:nvPr>
            <p:ph idx="1" type="body"/>
          </p:nvPr>
        </p:nvSpPr>
        <p:spPr>
          <a:xfrm>
            <a:off x="914400" y="3251200"/>
            <a:ext cx="7315200" cy="30813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79" name="Google Shape;779;p20: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 name="Shape 15"/>
        <p:cNvGrpSpPr/>
        <p:nvPr/>
      </p:nvGrpSpPr>
      <p:grpSpPr>
        <a:xfrm>
          <a:off x="0" y="0"/>
          <a:ext cx="0" cy="0"/>
          <a:chOff x="0" y="0"/>
          <a:chExt cx="0" cy="0"/>
        </a:xfrm>
      </p:grpSpPr>
      <p:sp>
        <p:nvSpPr>
          <p:cNvPr id="16" name="Google Shape;16;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 name="Google Shape;17;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 name="Google Shape;18;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9" name="Shape 19"/>
        <p:cNvGrpSpPr/>
        <p:nvPr/>
      </p:nvGrpSpPr>
      <p:grpSpPr>
        <a:xfrm>
          <a:off x="0" y="0"/>
          <a:ext cx="0" cy="0"/>
          <a:chOff x="0" y="0"/>
          <a:chExt cx="0" cy="0"/>
        </a:xfrm>
      </p:grpSpPr>
      <p:sp>
        <p:nvSpPr>
          <p:cNvPr id="20" name="Google Shape;20;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 name="Google Shape;21;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22" name="Google Shape;22;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 name="Google Shape;23;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5" name="Shape 25"/>
        <p:cNvGrpSpPr/>
        <p:nvPr/>
      </p:nvGrpSpPr>
      <p:grpSpPr>
        <a:xfrm>
          <a:off x="0" y="0"/>
          <a:ext cx="0" cy="0"/>
          <a:chOff x="0" y="0"/>
          <a:chExt cx="0" cy="0"/>
        </a:xfrm>
      </p:grpSpPr>
      <p:sp>
        <p:nvSpPr>
          <p:cNvPr id="26" name="Google Shape;26;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 name="Google Shape;27;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8" name="Google Shape;28;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1" name="Shape 31"/>
        <p:cNvGrpSpPr/>
        <p:nvPr/>
      </p:nvGrpSpPr>
      <p:grpSpPr>
        <a:xfrm>
          <a:off x="0" y="0"/>
          <a:ext cx="0" cy="0"/>
          <a:chOff x="0" y="0"/>
          <a:chExt cx="0" cy="0"/>
        </a:xfrm>
      </p:grpSpPr>
      <p:sp>
        <p:nvSpPr>
          <p:cNvPr id="32" name="Google Shape;32;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 name="Google Shape;33;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4" name="Google Shape;34;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7" name="Shape 37"/>
        <p:cNvGrpSpPr/>
        <p:nvPr/>
      </p:nvGrpSpPr>
      <p:grpSpPr>
        <a:xfrm>
          <a:off x="0" y="0"/>
          <a:ext cx="0" cy="0"/>
          <a:chOff x="0" y="0"/>
          <a:chExt cx="0" cy="0"/>
        </a:xfrm>
      </p:grpSpPr>
      <p:sp>
        <p:nvSpPr>
          <p:cNvPr id="38" name="Google Shape;38;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 name="Google Shape;39;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40" name="Google Shape;40;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41" name="Google Shape;41;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4" name="Shape 44"/>
        <p:cNvGrpSpPr/>
        <p:nvPr/>
      </p:nvGrpSpPr>
      <p:grpSpPr>
        <a:xfrm>
          <a:off x="0" y="0"/>
          <a:ext cx="0" cy="0"/>
          <a:chOff x="0" y="0"/>
          <a:chExt cx="0" cy="0"/>
        </a:xfrm>
      </p:grpSpPr>
      <p:sp>
        <p:nvSpPr>
          <p:cNvPr id="45" name="Google Shape;45;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6" name="Google Shape;46;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7" name="Google Shape;47;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8" name="Google Shape;48;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9" name="Google Shape;49;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50" name="Google Shape;50;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3" name="Shape 53"/>
        <p:cNvGrpSpPr/>
        <p:nvPr/>
      </p:nvGrpSpPr>
      <p:grpSpPr>
        <a:xfrm>
          <a:off x="0" y="0"/>
          <a:ext cx="0" cy="0"/>
          <a:chOff x="0" y="0"/>
          <a:chExt cx="0" cy="0"/>
        </a:xfrm>
      </p:grpSpPr>
      <p:sp>
        <p:nvSpPr>
          <p:cNvPr id="54" name="Google Shape;54;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5" name="Google Shape;55;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61" name="Google Shape;61;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2" name="Google Shape;62;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10"/>
          <p:cNvSpPr/>
          <p:nvPr>
            <p:ph idx="2" type="pic"/>
          </p:nvPr>
        </p:nvSpPr>
        <p:spPr>
          <a:xfrm>
            <a:off x="1792288" y="612775"/>
            <a:ext cx="5486400" cy="4114800"/>
          </a:xfrm>
          <a:prstGeom prst="rect">
            <a:avLst/>
          </a:prstGeom>
          <a:noFill/>
          <a:ln>
            <a:noFill/>
          </a:ln>
        </p:spPr>
      </p:sp>
      <p:sp>
        <p:nvSpPr>
          <p:cNvPr id="68" name="Google Shape;68;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9" name="Google Shape;69;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5" name="Google Shape;75;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81" name="Google Shape;81;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 name="Google Shape;12;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2.png"/><Relationship Id="rId4" Type="http://schemas.openxmlformats.org/officeDocument/2006/relationships/image" Target="../media/image10.png"/><Relationship Id="rId5" Type="http://schemas.openxmlformats.org/officeDocument/2006/relationships/image" Target="../media/image25.png"/><Relationship Id="rId6" Type="http://schemas.openxmlformats.org/officeDocument/2006/relationships/image" Target="../media/image7.png"/><Relationship Id="rId7" Type="http://schemas.openxmlformats.org/officeDocument/2006/relationships/image" Target="../media/image4.png"/><Relationship Id="rId8" Type="http://schemas.openxmlformats.org/officeDocument/2006/relationships/image" Target="../media/image1.jpg"/></Relationships>
</file>

<file path=ppt/slides/_rels/slide2.xml.rels><?xml version="1.0" encoding="UTF-8" standalone="yes"?><Relationships xmlns="http://schemas.openxmlformats.org/package/2006/relationships"><Relationship Id="rId11" Type="http://schemas.openxmlformats.org/officeDocument/2006/relationships/image" Target="../media/image8.png"/><Relationship Id="rId10" Type="http://schemas.openxmlformats.org/officeDocument/2006/relationships/image" Target="../media/image22.png"/><Relationship Id="rId13" Type="http://schemas.openxmlformats.org/officeDocument/2006/relationships/image" Target="../media/image16.png"/><Relationship Id="rId12" Type="http://schemas.openxmlformats.org/officeDocument/2006/relationships/image" Target="../media/image7.png"/><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5.png"/><Relationship Id="rId4" Type="http://schemas.openxmlformats.org/officeDocument/2006/relationships/image" Target="../media/image14.png"/><Relationship Id="rId9" Type="http://schemas.openxmlformats.org/officeDocument/2006/relationships/image" Target="../media/image3.png"/><Relationship Id="rId15" Type="http://schemas.openxmlformats.org/officeDocument/2006/relationships/image" Target="../media/image9.png"/><Relationship Id="rId14" Type="http://schemas.openxmlformats.org/officeDocument/2006/relationships/image" Target="../media/image6.png"/><Relationship Id="rId17" Type="http://schemas.openxmlformats.org/officeDocument/2006/relationships/image" Target="../media/image17.png"/><Relationship Id="rId16" Type="http://schemas.openxmlformats.org/officeDocument/2006/relationships/image" Target="../media/image15.png"/><Relationship Id="rId5" Type="http://schemas.openxmlformats.org/officeDocument/2006/relationships/image" Target="../media/image2.png"/><Relationship Id="rId6" Type="http://schemas.openxmlformats.org/officeDocument/2006/relationships/image" Target="../media/image11.png"/><Relationship Id="rId18" Type="http://schemas.openxmlformats.org/officeDocument/2006/relationships/image" Target="../media/image13.png"/><Relationship Id="rId7" Type="http://schemas.openxmlformats.org/officeDocument/2006/relationships/image" Target="../media/image25.png"/><Relationship Id="rId8" Type="http://schemas.openxmlformats.org/officeDocument/2006/relationships/image" Target="../media/image10.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jp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jp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jpg"/><Relationship Id="rId4" Type="http://schemas.openxmlformats.org/officeDocument/2006/relationships/image" Target="../media/image19.jpg"/><Relationship Id="rId5"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jp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jpg"/><Relationship Id="rId4" Type="http://schemas.openxmlformats.org/officeDocument/2006/relationships/image" Target="../media/image20.png"/><Relationship Id="rId5"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4.png"/><Relationship Id="rId4" Type="http://schemas.openxmlformats.org/officeDocument/2006/relationships/image" Target="../media/image1.jpg"/><Relationship Id="rId5"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jpg"/><Relationship Id="rId4" Type="http://schemas.openxmlformats.org/officeDocument/2006/relationships/image" Target="../media/image23.png"/><Relationship Id="rId5"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jpg"/><Relationship Id="rId4" Type="http://schemas.openxmlformats.org/officeDocument/2006/relationships/image" Target="../media/image21.png"/><Relationship Id="rId5"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jpg"/><Relationship Id="rId4" Type="http://schemas.openxmlformats.org/officeDocument/2006/relationships/image" Target="../media/image18.png"/><Relationship Id="rId5"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8.png"/><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jpg"/><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jpg"/><Relationship Id="rId4"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jpg"/><Relationship Id="rId4" Type="http://schemas.openxmlformats.org/officeDocument/2006/relationships/image" Target="../media/image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jpg"/><Relationship Id="rId4" Type="http://schemas.openxmlformats.org/officeDocument/2006/relationships/image" Target="../media/image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jpg"/><Relationship Id="rId4" Type="http://schemas.openxmlformats.org/officeDocument/2006/relationships/image" Target="../media/image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jpg"/><Relationship Id="rId4" Type="http://schemas.openxmlformats.org/officeDocument/2006/relationships/image" Target="../media/image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jpg"/><Relationship Id="rId4" Type="http://schemas.openxmlformats.org/officeDocument/2006/relationships/image" Target="../media/image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2.png"/><Relationship Id="rId4" Type="http://schemas.openxmlformats.org/officeDocument/2006/relationships/image" Target="../media/image10.png"/><Relationship Id="rId5" Type="http://schemas.openxmlformats.org/officeDocument/2006/relationships/image" Target="../media/image25.png"/><Relationship Id="rId6" Type="http://schemas.openxmlformats.org/officeDocument/2006/relationships/image" Target="../media/image7.png"/><Relationship Id="rId7" Type="http://schemas.openxmlformats.org/officeDocument/2006/relationships/image" Target="../media/image4.png"/><Relationship Id="rId8" Type="http://schemas.openxmlformats.org/officeDocument/2006/relationships/image" Target="../media/image1.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7EEF9"/>
        </a:solidFill>
      </p:bgPr>
    </p:bg>
    <p:spTree>
      <p:nvGrpSpPr>
        <p:cNvPr id="87" name="Shape 87"/>
        <p:cNvGrpSpPr/>
        <p:nvPr/>
      </p:nvGrpSpPr>
      <p:grpSpPr>
        <a:xfrm>
          <a:off x="0" y="0"/>
          <a:ext cx="0" cy="0"/>
          <a:chOff x="0" y="0"/>
          <a:chExt cx="0" cy="0"/>
        </a:xfrm>
      </p:grpSpPr>
      <p:grpSp>
        <p:nvGrpSpPr>
          <p:cNvPr id="88" name="Google Shape;88;p13"/>
          <p:cNvGrpSpPr/>
          <p:nvPr/>
        </p:nvGrpSpPr>
        <p:grpSpPr>
          <a:xfrm>
            <a:off x="-1091704" y="4877752"/>
            <a:ext cx="8331780" cy="6598961"/>
            <a:chOff x="0" y="0"/>
            <a:chExt cx="11109040" cy="8798615"/>
          </a:xfrm>
        </p:grpSpPr>
        <p:sp>
          <p:nvSpPr>
            <p:cNvPr id="89" name="Google Shape;89;p13"/>
            <p:cNvSpPr/>
            <p:nvPr/>
          </p:nvSpPr>
          <p:spPr>
            <a:xfrm>
              <a:off x="0" y="0"/>
              <a:ext cx="11109040" cy="8798615"/>
            </a:xfrm>
            <a:custGeom>
              <a:rect b="b" l="l" r="r" t="t"/>
              <a:pathLst>
                <a:path extrusionOk="0" h="8798615" w="11109040">
                  <a:moveTo>
                    <a:pt x="0" y="0"/>
                  </a:moveTo>
                  <a:lnTo>
                    <a:pt x="11109040" y="0"/>
                  </a:lnTo>
                  <a:lnTo>
                    <a:pt x="11109040" y="8798615"/>
                  </a:lnTo>
                  <a:lnTo>
                    <a:pt x="0" y="8798615"/>
                  </a:lnTo>
                  <a:lnTo>
                    <a:pt x="0" y="0"/>
                  </a:lnTo>
                  <a:close/>
                </a:path>
              </a:pathLst>
            </a:custGeom>
            <a:blipFill rotWithShape="1">
              <a:blip r:embed="rId3">
                <a:alphaModFix amt="50000"/>
              </a:blip>
              <a:stretch>
                <a:fillRect b="-110141" l="-48131" r="0" t="0"/>
              </a:stretch>
            </a:blipFill>
            <a:ln>
              <a:noFill/>
            </a:ln>
          </p:spPr>
        </p:sp>
        <p:sp>
          <p:nvSpPr>
            <p:cNvPr id="90" name="Google Shape;90;p13"/>
            <p:cNvSpPr/>
            <p:nvPr/>
          </p:nvSpPr>
          <p:spPr>
            <a:xfrm>
              <a:off x="725193" y="1699015"/>
              <a:ext cx="6726445" cy="6876477"/>
            </a:xfrm>
            <a:custGeom>
              <a:rect b="b" l="l" r="r" t="t"/>
              <a:pathLst>
                <a:path extrusionOk="0" h="6876477" w="6726445">
                  <a:moveTo>
                    <a:pt x="0" y="0"/>
                  </a:moveTo>
                  <a:lnTo>
                    <a:pt x="6726445" y="0"/>
                  </a:lnTo>
                  <a:lnTo>
                    <a:pt x="6726445" y="6876477"/>
                  </a:lnTo>
                  <a:lnTo>
                    <a:pt x="0" y="6876477"/>
                  </a:lnTo>
                  <a:lnTo>
                    <a:pt x="0" y="0"/>
                  </a:lnTo>
                  <a:close/>
                </a:path>
              </a:pathLst>
            </a:custGeom>
            <a:blipFill rotWithShape="1">
              <a:blip r:embed="rId4">
                <a:alphaModFix amt="70000"/>
              </a:blip>
              <a:stretch>
                <a:fillRect b="0" l="0" r="0" t="0"/>
              </a:stretch>
            </a:blipFill>
            <a:ln>
              <a:noFill/>
            </a:ln>
          </p:spPr>
        </p:sp>
      </p:grpSp>
      <p:grpSp>
        <p:nvGrpSpPr>
          <p:cNvPr id="91" name="Google Shape;91;p13"/>
          <p:cNvGrpSpPr/>
          <p:nvPr/>
        </p:nvGrpSpPr>
        <p:grpSpPr>
          <a:xfrm>
            <a:off x="11557083" y="-1667082"/>
            <a:ext cx="8165933" cy="6344023"/>
            <a:chOff x="0" y="0"/>
            <a:chExt cx="10887911" cy="8458698"/>
          </a:xfrm>
        </p:grpSpPr>
        <p:sp>
          <p:nvSpPr>
            <p:cNvPr id="92" name="Google Shape;92;p13"/>
            <p:cNvSpPr/>
            <p:nvPr/>
          </p:nvSpPr>
          <p:spPr>
            <a:xfrm>
              <a:off x="168244" y="1236767"/>
              <a:ext cx="10719667" cy="7221931"/>
            </a:xfrm>
            <a:custGeom>
              <a:rect b="b" l="l" r="r" t="t"/>
              <a:pathLst>
                <a:path extrusionOk="0" h="7221931" w="10719667">
                  <a:moveTo>
                    <a:pt x="0" y="0"/>
                  </a:moveTo>
                  <a:lnTo>
                    <a:pt x="10719667" y="0"/>
                  </a:lnTo>
                  <a:lnTo>
                    <a:pt x="10719667" y="7221932"/>
                  </a:lnTo>
                  <a:lnTo>
                    <a:pt x="0" y="7221932"/>
                  </a:lnTo>
                  <a:lnTo>
                    <a:pt x="0" y="0"/>
                  </a:lnTo>
                  <a:close/>
                </a:path>
              </a:pathLst>
            </a:custGeom>
            <a:blipFill rotWithShape="1">
              <a:blip r:embed="rId5">
                <a:alphaModFix amt="40000"/>
              </a:blip>
              <a:stretch>
                <a:fillRect b="0" l="0" r="-57671" t="-41357"/>
              </a:stretch>
            </a:blipFill>
            <a:ln>
              <a:noFill/>
            </a:ln>
          </p:spPr>
        </p:sp>
        <p:sp>
          <p:nvSpPr>
            <p:cNvPr id="93" name="Google Shape;93;p13"/>
            <p:cNvSpPr/>
            <p:nvPr/>
          </p:nvSpPr>
          <p:spPr>
            <a:xfrm>
              <a:off x="0" y="0"/>
              <a:ext cx="6509685" cy="6654882"/>
            </a:xfrm>
            <a:custGeom>
              <a:rect b="b" l="l" r="r" t="t"/>
              <a:pathLst>
                <a:path extrusionOk="0" h="6654882" w="6509685">
                  <a:moveTo>
                    <a:pt x="0" y="0"/>
                  </a:moveTo>
                  <a:lnTo>
                    <a:pt x="6509685" y="0"/>
                  </a:lnTo>
                  <a:lnTo>
                    <a:pt x="6509685" y="6654882"/>
                  </a:lnTo>
                  <a:lnTo>
                    <a:pt x="0" y="6654882"/>
                  </a:lnTo>
                  <a:lnTo>
                    <a:pt x="0" y="0"/>
                  </a:lnTo>
                  <a:close/>
                </a:path>
              </a:pathLst>
            </a:custGeom>
            <a:blipFill rotWithShape="1">
              <a:blip r:embed="rId4">
                <a:alphaModFix amt="70000"/>
              </a:blip>
              <a:stretch>
                <a:fillRect b="0" l="0" r="0" t="0"/>
              </a:stretch>
            </a:blipFill>
            <a:ln>
              <a:noFill/>
            </a:ln>
          </p:spPr>
        </p:sp>
      </p:grpSp>
      <p:grpSp>
        <p:nvGrpSpPr>
          <p:cNvPr id="94" name="Google Shape;94;p13"/>
          <p:cNvGrpSpPr/>
          <p:nvPr/>
        </p:nvGrpSpPr>
        <p:grpSpPr>
          <a:xfrm>
            <a:off x="593940" y="8523512"/>
            <a:ext cx="3884701" cy="737798"/>
            <a:chOff x="0" y="-93082"/>
            <a:chExt cx="5179602" cy="983731"/>
          </a:xfrm>
        </p:grpSpPr>
        <p:grpSp>
          <p:nvGrpSpPr>
            <p:cNvPr id="95" name="Google Shape;95;p13"/>
            <p:cNvGrpSpPr/>
            <p:nvPr/>
          </p:nvGrpSpPr>
          <p:grpSpPr>
            <a:xfrm>
              <a:off x="0" y="-93082"/>
              <a:ext cx="5179602" cy="983731"/>
              <a:chOff x="0" y="-38100"/>
              <a:chExt cx="2120097" cy="402658"/>
            </a:xfrm>
          </p:grpSpPr>
          <p:sp>
            <p:nvSpPr>
              <p:cNvPr id="96" name="Google Shape;96;p13"/>
              <p:cNvSpPr/>
              <p:nvPr/>
            </p:nvSpPr>
            <p:spPr>
              <a:xfrm>
                <a:off x="0" y="0"/>
                <a:ext cx="2120097" cy="364558"/>
              </a:xfrm>
              <a:custGeom>
                <a:rect b="b" l="l" r="r" t="t"/>
                <a:pathLst>
                  <a:path extrusionOk="0" h="364558" w="2120097">
                    <a:moveTo>
                      <a:pt x="203200" y="0"/>
                    </a:moveTo>
                    <a:lnTo>
                      <a:pt x="2120097" y="0"/>
                    </a:lnTo>
                    <a:lnTo>
                      <a:pt x="1916897" y="364558"/>
                    </a:lnTo>
                    <a:lnTo>
                      <a:pt x="0" y="364558"/>
                    </a:lnTo>
                    <a:lnTo>
                      <a:pt x="203200" y="0"/>
                    </a:lnTo>
                    <a:close/>
                  </a:path>
                </a:pathLst>
              </a:custGeom>
              <a:solidFill>
                <a:srgbClr val="223448"/>
              </a:solidFill>
              <a:ln>
                <a:noFill/>
              </a:ln>
            </p:spPr>
          </p:sp>
          <p:sp>
            <p:nvSpPr>
              <p:cNvPr id="97" name="Google Shape;97;p13"/>
              <p:cNvSpPr txBox="1"/>
              <p:nvPr/>
            </p:nvSpPr>
            <p:spPr>
              <a:xfrm>
                <a:off x="101600" y="-38100"/>
                <a:ext cx="1916897" cy="402658"/>
              </a:xfrm>
              <a:prstGeom prst="rect">
                <a:avLst/>
              </a:prstGeom>
              <a:noFill/>
              <a:ln>
                <a:noFill/>
              </a:ln>
            </p:spPr>
            <p:txBody>
              <a:bodyPr anchorCtr="0" anchor="ctr" bIns="79375" lIns="79375" spcFirstLastPara="1" rIns="79375" wrap="square" tIns="79375">
                <a:noAutofit/>
              </a:bodyPr>
              <a:lstStyle/>
              <a:p>
                <a:pPr indent="0" lvl="0" marL="0" marR="0" rtl="0" algn="ctr">
                  <a:lnSpc>
                    <a:spcPct val="1410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98" name="Google Shape;98;p13"/>
            <p:cNvSpPr txBox="1"/>
            <p:nvPr/>
          </p:nvSpPr>
          <p:spPr>
            <a:xfrm>
              <a:off x="733351" y="125561"/>
              <a:ext cx="3712900" cy="543664"/>
            </a:xfrm>
            <a:prstGeom prst="rect">
              <a:avLst/>
            </a:prstGeom>
            <a:noFill/>
            <a:ln>
              <a:noFill/>
            </a:ln>
          </p:spPr>
          <p:txBody>
            <a:bodyPr anchorCtr="0" anchor="t" bIns="0" lIns="0" spcFirstLastPara="1" rIns="0" wrap="square" tIns="0">
              <a:spAutoFit/>
            </a:bodyPr>
            <a:lstStyle/>
            <a:p>
              <a:pPr indent="0" lvl="0" marL="0" marR="0" rtl="0" algn="ctr">
                <a:lnSpc>
                  <a:spcPct val="140031"/>
                </a:lnSpc>
                <a:spcBef>
                  <a:spcPts val="0"/>
                </a:spcBef>
                <a:spcAft>
                  <a:spcPts val="0"/>
                </a:spcAft>
                <a:buNone/>
              </a:pPr>
              <a:r>
                <a:rPr b="1" i="0" lang="en-US" spc="100" sz="2508" u="none" cap="none" strike="noStrike">
                  <a:solidFill>
                    <a:srgbClr val="FFFFFF"/>
                  </a:solidFill>
                  <a:latin typeface="Arial"/>
                  <a:ea typeface="Arial"/>
                  <a:cs typeface="Arial"/>
                  <a:sym typeface="Arial"/>
                </a:rPr>
                <a:t>2026.10.11</a:t>
              </a:r>
              <a:endParaRPr/>
            </a:p>
          </p:txBody>
        </p:sp>
      </p:grpSp>
      <p:grpSp>
        <p:nvGrpSpPr>
          <p:cNvPr id="99" name="Google Shape;99;p13"/>
          <p:cNvGrpSpPr/>
          <p:nvPr/>
        </p:nvGrpSpPr>
        <p:grpSpPr>
          <a:xfrm>
            <a:off x="0" y="9485662"/>
            <a:ext cx="18288000" cy="801338"/>
            <a:chOff x="0" y="-38100"/>
            <a:chExt cx="5177070" cy="226847"/>
          </a:xfrm>
        </p:grpSpPr>
        <p:sp>
          <p:nvSpPr>
            <p:cNvPr id="100" name="Google Shape;100;p13"/>
            <p:cNvSpPr/>
            <p:nvPr/>
          </p:nvSpPr>
          <p:spPr>
            <a:xfrm>
              <a:off x="0" y="0"/>
              <a:ext cx="5177070" cy="188747"/>
            </a:xfrm>
            <a:custGeom>
              <a:rect b="b" l="l" r="r" t="t"/>
              <a:pathLst>
                <a:path extrusionOk="0" h="188747" w="5177070">
                  <a:moveTo>
                    <a:pt x="0" y="0"/>
                  </a:moveTo>
                  <a:lnTo>
                    <a:pt x="5177070" y="0"/>
                  </a:lnTo>
                  <a:lnTo>
                    <a:pt x="5177070" y="188747"/>
                  </a:lnTo>
                  <a:lnTo>
                    <a:pt x="0" y="188747"/>
                  </a:lnTo>
                  <a:close/>
                </a:path>
              </a:pathLst>
            </a:custGeom>
            <a:solidFill>
              <a:srgbClr val="223448"/>
            </a:solidFill>
            <a:ln>
              <a:noFill/>
            </a:ln>
          </p:spPr>
        </p:sp>
        <p:sp>
          <p:nvSpPr>
            <p:cNvPr id="101" name="Google Shape;101;p13"/>
            <p:cNvSpPr txBox="1"/>
            <p:nvPr/>
          </p:nvSpPr>
          <p:spPr>
            <a:xfrm>
              <a:off x="0" y="-38100"/>
              <a:ext cx="5177070" cy="226847"/>
            </a:xfrm>
            <a:prstGeom prst="rect">
              <a:avLst/>
            </a:prstGeom>
            <a:noFill/>
            <a:ln>
              <a:noFill/>
            </a:ln>
          </p:spPr>
          <p:txBody>
            <a:bodyPr anchorCtr="0" anchor="ctr" bIns="70875" lIns="70875" spcFirstLastPara="1" rIns="70875" wrap="square" tIns="70875">
              <a:noAutofit/>
            </a:bodyPr>
            <a:lstStyle/>
            <a:p>
              <a:pPr indent="0" lvl="0" marL="0" marR="0" rtl="0" algn="ctr">
                <a:lnSpc>
                  <a:spcPct val="1410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02" name="Google Shape;102;p13"/>
          <p:cNvSpPr/>
          <p:nvPr/>
        </p:nvSpPr>
        <p:spPr>
          <a:xfrm>
            <a:off x="16472697" y="7675582"/>
            <a:ext cx="1339214" cy="1339214"/>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rotWithShape="1">
            <a:blip r:embed="rId6">
              <a:alphaModFix/>
            </a:blip>
            <a:stretch>
              <a:fillRect b="-14435" l="0" r="0" t="-14435"/>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13"/>
          <p:cNvSpPr txBox="1"/>
          <p:nvPr/>
        </p:nvSpPr>
        <p:spPr>
          <a:xfrm>
            <a:off x="4381500" y="2687249"/>
            <a:ext cx="9525000" cy="356235"/>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i="0" lang="en-US" spc="126" sz="2100" u="none" cap="none" strike="noStrike">
                <a:solidFill>
                  <a:srgbClr val="223448"/>
                </a:solidFill>
                <a:latin typeface="Arial"/>
                <a:ea typeface="Arial"/>
                <a:cs typeface="Arial"/>
                <a:sym typeface="Arial"/>
              </a:rPr>
              <a:t>Final Project</a:t>
            </a:r>
            <a:endParaRPr/>
          </a:p>
        </p:txBody>
      </p:sp>
      <p:sp>
        <p:nvSpPr>
          <p:cNvPr id="104" name="Google Shape;104;p13"/>
          <p:cNvSpPr txBox="1"/>
          <p:nvPr/>
        </p:nvSpPr>
        <p:spPr>
          <a:xfrm>
            <a:off x="1935000" y="3100625"/>
            <a:ext cx="13959300" cy="1738500"/>
          </a:xfrm>
          <a:prstGeom prst="rect">
            <a:avLst/>
          </a:prstGeom>
          <a:noFill/>
          <a:ln>
            <a:noFill/>
          </a:ln>
        </p:spPr>
        <p:txBody>
          <a:bodyPr anchorCtr="0" anchor="t" bIns="0" lIns="0" spcFirstLastPara="1" rIns="0" wrap="square" tIns="0">
            <a:spAutoFit/>
          </a:bodyPr>
          <a:lstStyle/>
          <a:p>
            <a:pPr indent="0" lvl="0" marL="0" marR="0" rtl="0" algn="ctr">
              <a:lnSpc>
                <a:spcPct val="139991"/>
              </a:lnSpc>
              <a:spcBef>
                <a:spcPts val="0"/>
              </a:spcBef>
              <a:spcAft>
                <a:spcPts val="0"/>
              </a:spcAft>
              <a:buNone/>
            </a:pPr>
            <a:r>
              <a:rPr b="1" i="0" lang="en-US" spc="282" sz="4706" u="none" cap="none" strike="noStrike">
                <a:solidFill>
                  <a:srgbClr val="223448"/>
                </a:solidFill>
                <a:latin typeface="Arial"/>
                <a:ea typeface="Arial"/>
                <a:cs typeface="Arial"/>
                <a:sym typeface="Arial"/>
              </a:rPr>
              <a:t>Global FMCG Retail Inventory Optimization &amp; Predictive Demand Planning</a:t>
            </a:r>
            <a:endParaRPr/>
          </a:p>
        </p:txBody>
      </p:sp>
      <p:grpSp>
        <p:nvGrpSpPr>
          <p:cNvPr id="105" name="Google Shape;105;p13"/>
          <p:cNvGrpSpPr/>
          <p:nvPr/>
        </p:nvGrpSpPr>
        <p:grpSpPr>
          <a:xfrm>
            <a:off x="-1664533" y="101823"/>
            <a:ext cx="4516946" cy="1127273"/>
            <a:chOff x="0" y="-241102"/>
            <a:chExt cx="6022595" cy="1503032"/>
          </a:xfrm>
        </p:grpSpPr>
        <p:grpSp>
          <p:nvGrpSpPr>
            <p:cNvPr id="106" name="Google Shape;106;p13"/>
            <p:cNvGrpSpPr/>
            <p:nvPr/>
          </p:nvGrpSpPr>
          <p:grpSpPr>
            <a:xfrm>
              <a:off x="0" y="-241102"/>
              <a:ext cx="6022595" cy="1503032"/>
              <a:chOff x="0" y="-47625"/>
              <a:chExt cx="1189648" cy="296895"/>
            </a:xfrm>
          </p:grpSpPr>
          <p:sp>
            <p:nvSpPr>
              <p:cNvPr id="107" name="Google Shape;107;p13"/>
              <p:cNvSpPr/>
              <p:nvPr/>
            </p:nvSpPr>
            <p:spPr>
              <a:xfrm>
                <a:off x="0" y="0"/>
                <a:ext cx="1189648" cy="249270"/>
              </a:xfrm>
              <a:custGeom>
                <a:rect b="b" l="l" r="r" t="t"/>
                <a:pathLst>
                  <a:path extrusionOk="0" h="249270" w="1189648">
                    <a:moveTo>
                      <a:pt x="87413" y="0"/>
                    </a:moveTo>
                    <a:lnTo>
                      <a:pt x="1102236" y="0"/>
                    </a:lnTo>
                    <a:cubicBezTo>
                      <a:pt x="1125419" y="0"/>
                      <a:pt x="1147653" y="9210"/>
                      <a:pt x="1164046" y="25603"/>
                    </a:cubicBezTo>
                    <a:cubicBezTo>
                      <a:pt x="1180439" y="41996"/>
                      <a:pt x="1189648" y="64229"/>
                      <a:pt x="1189648" y="87413"/>
                    </a:cubicBezTo>
                    <a:lnTo>
                      <a:pt x="1189648" y="161858"/>
                    </a:lnTo>
                    <a:cubicBezTo>
                      <a:pt x="1189648" y="185041"/>
                      <a:pt x="1180439" y="207275"/>
                      <a:pt x="1164046" y="223668"/>
                    </a:cubicBezTo>
                    <a:cubicBezTo>
                      <a:pt x="1147653" y="240061"/>
                      <a:pt x="1125419" y="249270"/>
                      <a:pt x="1102236" y="249270"/>
                    </a:cubicBezTo>
                    <a:lnTo>
                      <a:pt x="87413" y="249270"/>
                    </a:lnTo>
                    <a:cubicBezTo>
                      <a:pt x="64229" y="249270"/>
                      <a:pt x="41996" y="240061"/>
                      <a:pt x="25603" y="223668"/>
                    </a:cubicBezTo>
                    <a:cubicBezTo>
                      <a:pt x="9210" y="207275"/>
                      <a:pt x="0" y="185041"/>
                      <a:pt x="0" y="161858"/>
                    </a:cubicBezTo>
                    <a:lnTo>
                      <a:pt x="0" y="87413"/>
                    </a:lnTo>
                    <a:cubicBezTo>
                      <a:pt x="0" y="64229"/>
                      <a:pt x="9210" y="41996"/>
                      <a:pt x="25603" y="25603"/>
                    </a:cubicBezTo>
                    <a:cubicBezTo>
                      <a:pt x="41996" y="9210"/>
                      <a:pt x="64229" y="0"/>
                      <a:pt x="87413" y="0"/>
                    </a:cubicBezTo>
                    <a:close/>
                  </a:path>
                </a:pathLst>
              </a:custGeom>
              <a:solidFill>
                <a:srgbClr val="FE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13"/>
              <p:cNvSpPr txBox="1"/>
              <p:nvPr/>
            </p:nvSpPr>
            <p:spPr>
              <a:xfrm>
                <a:off x="0" y="-47625"/>
                <a:ext cx="1189648" cy="296895"/>
              </a:xfrm>
              <a:prstGeom prst="rect">
                <a:avLst/>
              </a:prstGeom>
              <a:noFill/>
              <a:ln>
                <a:noFill/>
              </a:ln>
            </p:spPr>
            <p:txBody>
              <a:bodyPr anchorCtr="0" anchor="ctr" bIns="50800" lIns="50800" spcFirstLastPara="1" rIns="50800" wrap="square" tIns="50800">
                <a:noAutofit/>
              </a:bodyPr>
              <a:lstStyle/>
              <a:p>
                <a:pPr indent="0" lvl="0" marL="0" marR="0" rtl="0" algn="ctr">
                  <a:lnSpc>
                    <a:spcPct val="155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09" name="Google Shape;109;p13"/>
            <p:cNvSpPr/>
            <p:nvPr/>
          </p:nvSpPr>
          <p:spPr>
            <a:xfrm>
              <a:off x="2718636" y="226255"/>
              <a:ext cx="2676306" cy="809419"/>
            </a:xfrm>
            <a:custGeom>
              <a:rect b="b" l="l" r="r" t="t"/>
              <a:pathLst>
                <a:path extrusionOk="0" h="809419" w="2676306">
                  <a:moveTo>
                    <a:pt x="0" y="0"/>
                  </a:moveTo>
                  <a:lnTo>
                    <a:pt x="2676305" y="0"/>
                  </a:lnTo>
                  <a:lnTo>
                    <a:pt x="2676305" y="809420"/>
                  </a:lnTo>
                  <a:lnTo>
                    <a:pt x="0" y="809420"/>
                  </a:lnTo>
                  <a:lnTo>
                    <a:pt x="0" y="0"/>
                  </a:lnTo>
                  <a:close/>
                </a:path>
              </a:pathLst>
            </a:custGeom>
            <a:blipFill rotWithShape="1">
              <a:blip r:embed="rId7">
                <a:alphaModFix/>
              </a:blip>
              <a:stretch>
                <a:fillRect b="0" l="0" r="0" t="0"/>
              </a:stretch>
            </a:blipFill>
            <a:ln>
              <a:noFill/>
            </a:ln>
          </p:spPr>
        </p:sp>
      </p:grpSp>
      <p:sp>
        <p:nvSpPr>
          <p:cNvPr id="110" name="Google Shape;110;p13"/>
          <p:cNvSpPr txBox="1"/>
          <p:nvPr/>
        </p:nvSpPr>
        <p:spPr>
          <a:xfrm>
            <a:off x="7130623" y="6631867"/>
            <a:ext cx="4566507" cy="407360"/>
          </a:xfrm>
          <a:prstGeom prst="rect">
            <a:avLst/>
          </a:prstGeom>
          <a:noFill/>
          <a:ln>
            <a:noFill/>
          </a:ln>
        </p:spPr>
        <p:txBody>
          <a:bodyPr anchorCtr="0" anchor="t" bIns="0" lIns="0" spcFirstLastPara="1" rIns="0" wrap="square" tIns="0">
            <a:spAutoFit/>
          </a:bodyPr>
          <a:lstStyle/>
          <a:p>
            <a:pPr indent="0" lvl="0" marL="0" marR="0" rtl="0" algn="ctr">
              <a:lnSpc>
                <a:spcPct val="140008"/>
              </a:lnSpc>
              <a:spcBef>
                <a:spcPts val="0"/>
              </a:spcBef>
              <a:spcAft>
                <a:spcPts val="0"/>
              </a:spcAft>
              <a:buNone/>
            </a:pPr>
            <a:r>
              <a:rPr b="0" i="0" lang="en-US" sz="2337" u="none" cap="none" strike="noStrike">
                <a:solidFill>
                  <a:srgbClr val="1C3F99"/>
                </a:solidFill>
                <a:latin typeface="Poppins"/>
                <a:ea typeface="Poppins"/>
                <a:cs typeface="Poppins"/>
                <a:sym typeface="Poppins"/>
              </a:rPr>
              <a:t>Presented By: Joko Santoso</a:t>
            </a:r>
            <a:endParaRPr/>
          </a:p>
        </p:txBody>
      </p:sp>
      <p:grpSp>
        <p:nvGrpSpPr>
          <p:cNvPr id="111" name="Google Shape;111;p13"/>
          <p:cNvGrpSpPr/>
          <p:nvPr/>
        </p:nvGrpSpPr>
        <p:grpSpPr>
          <a:xfrm>
            <a:off x="849868" y="7838200"/>
            <a:ext cx="8294121" cy="396145"/>
            <a:chOff x="0" y="0"/>
            <a:chExt cx="11058827" cy="528193"/>
          </a:xfrm>
        </p:grpSpPr>
        <p:sp>
          <p:nvSpPr>
            <p:cNvPr id="112" name="Google Shape;112;p13"/>
            <p:cNvSpPr/>
            <p:nvPr/>
          </p:nvSpPr>
          <p:spPr>
            <a:xfrm>
              <a:off x="0" y="25400"/>
              <a:ext cx="3385110" cy="502793"/>
            </a:xfrm>
            <a:custGeom>
              <a:rect b="b" l="l" r="r" t="t"/>
              <a:pathLst>
                <a:path extrusionOk="0" h="502793" w="3385110">
                  <a:moveTo>
                    <a:pt x="0" y="111125"/>
                  </a:moveTo>
                  <a:cubicBezTo>
                    <a:pt x="0" y="49784"/>
                    <a:pt x="51499" y="0"/>
                    <a:pt x="114952" y="0"/>
                  </a:cubicBezTo>
                  <a:lnTo>
                    <a:pt x="3270158" y="0"/>
                  </a:lnTo>
                  <a:cubicBezTo>
                    <a:pt x="3333612" y="0"/>
                    <a:pt x="3385110" y="49784"/>
                    <a:pt x="3385110" y="111125"/>
                  </a:cubicBezTo>
                  <a:lnTo>
                    <a:pt x="3385110" y="391668"/>
                  </a:lnTo>
                  <a:cubicBezTo>
                    <a:pt x="3385110" y="453009"/>
                    <a:pt x="3333612" y="502793"/>
                    <a:pt x="3270158" y="502793"/>
                  </a:cubicBezTo>
                  <a:lnTo>
                    <a:pt x="114952" y="502793"/>
                  </a:lnTo>
                  <a:cubicBezTo>
                    <a:pt x="51499" y="502793"/>
                    <a:pt x="0" y="453136"/>
                    <a:pt x="0" y="391668"/>
                  </a:cubicBezTo>
                  <a:close/>
                </a:path>
              </a:pathLst>
            </a:custGeom>
            <a:solidFill>
              <a:srgbClr val="B2D6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3"/>
            <p:cNvSpPr txBox="1"/>
            <p:nvPr/>
          </p:nvSpPr>
          <p:spPr>
            <a:xfrm>
              <a:off x="169942" y="121450"/>
              <a:ext cx="3141029" cy="255448"/>
            </a:xfrm>
            <a:prstGeom prst="rect">
              <a:avLst/>
            </a:prstGeom>
            <a:noFill/>
            <a:ln>
              <a:noFill/>
            </a:ln>
          </p:spPr>
          <p:txBody>
            <a:bodyPr anchorCtr="0" anchor="t" bIns="0" lIns="0" spcFirstLastPara="1" rIns="0" wrap="square" tIns="0">
              <a:spAutoFit/>
            </a:bodyPr>
            <a:lstStyle/>
            <a:p>
              <a:pPr indent="0" lvl="0" marL="0" marR="0" rtl="0" algn="l">
                <a:lnSpc>
                  <a:spcPct val="115185"/>
                </a:lnSpc>
                <a:spcBef>
                  <a:spcPts val="0"/>
                </a:spcBef>
                <a:spcAft>
                  <a:spcPts val="0"/>
                </a:spcAft>
                <a:buNone/>
              </a:pPr>
              <a:r>
                <a:rPr b="1" i="0" lang="en-US" sz="1350" u="none" cap="none" strike="noStrike">
                  <a:solidFill>
                    <a:srgbClr val="1A2D7A"/>
                  </a:solidFill>
                  <a:latin typeface="Inter"/>
                  <a:ea typeface="Inter"/>
                  <a:cs typeface="Inter"/>
                  <a:sym typeface="Inter"/>
                </a:rPr>
                <a:t>SUPPLY CHAIN</a:t>
              </a:r>
              <a:endParaRPr/>
            </a:p>
          </p:txBody>
        </p:sp>
        <p:sp>
          <p:nvSpPr>
            <p:cNvPr id="114" name="Google Shape;114;p13"/>
            <p:cNvSpPr/>
            <p:nvPr/>
          </p:nvSpPr>
          <p:spPr>
            <a:xfrm>
              <a:off x="3621175" y="0"/>
              <a:ext cx="3207083" cy="528193"/>
            </a:xfrm>
            <a:custGeom>
              <a:rect b="b" l="l" r="r" t="t"/>
              <a:pathLst>
                <a:path extrusionOk="0" h="528193" w="3207083">
                  <a:moveTo>
                    <a:pt x="0" y="116713"/>
                  </a:moveTo>
                  <a:cubicBezTo>
                    <a:pt x="0" y="52324"/>
                    <a:pt x="56870" y="0"/>
                    <a:pt x="126853" y="0"/>
                  </a:cubicBezTo>
                  <a:lnTo>
                    <a:pt x="3080229" y="0"/>
                  </a:lnTo>
                  <a:cubicBezTo>
                    <a:pt x="3150351" y="0"/>
                    <a:pt x="3207083" y="52324"/>
                    <a:pt x="3207083" y="116713"/>
                  </a:cubicBezTo>
                  <a:lnTo>
                    <a:pt x="3207083" y="411480"/>
                  </a:lnTo>
                  <a:cubicBezTo>
                    <a:pt x="3207083" y="475996"/>
                    <a:pt x="3150213" y="528193"/>
                    <a:pt x="3080229" y="528193"/>
                  </a:cubicBezTo>
                  <a:lnTo>
                    <a:pt x="126853" y="528193"/>
                  </a:lnTo>
                  <a:cubicBezTo>
                    <a:pt x="56870" y="528193"/>
                    <a:pt x="0" y="475996"/>
                    <a:pt x="0" y="411480"/>
                  </a:cubicBezTo>
                  <a:close/>
                </a:path>
              </a:pathLst>
            </a:custGeom>
            <a:blipFill rotWithShape="1">
              <a:blip r:embed="rId8">
                <a:alphaModFix amt="0"/>
              </a:blip>
              <a:stretch>
                <a:fillRect b="-58856" l="0" r="7992" t="-58847"/>
              </a:stretch>
            </a:blipFill>
            <a:ln cap="sq" cmpd="sng" w="19050">
              <a:solidFill>
                <a:srgbClr val="4950BC"/>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13"/>
            <p:cNvSpPr txBox="1"/>
            <p:nvPr/>
          </p:nvSpPr>
          <p:spPr>
            <a:xfrm>
              <a:off x="3763041" y="121450"/>
              <a:ext cx="2896600" cy="242341"/>
            </a:xfrm>
            <a:prstGeom prst="rect">
              <a:avLst/>
            </a:prstGeom>
            <a:noFill/>
            <a:ln>
              <a:noFill/>
            </a:ln>
          </p:spPr>
          <p:txBody>
            <a:bodyPr anchorCtr="0" anchor="t" bIns="0" lIns="0" spcFirstLastPara="1" rIns="0" wrap="square" tIns="0">
              <a:spAutoFit/>
            </a:bodyPr>
            <a:lstStyle/>
            <a:p>
              <a:pPr indent="0" lvl="0" marL="0" marR="0" rtl="0" algn="l">
                <a:lnSpc>
                  <a:spcPct val="115242"/>
                </a:lnSpc>
                <a:spcBef>
                  <a:spcPts val="0"/>
                </a:spcBef>
                <a:spcAft>
                  <a:spcPts val="0"/>
                </a:spcAft>
                <a:buNone/>
              </a:pPr>
              <a:r>
                <a:rPr b="0" i="0" lang="en-US" sz="1299" u="none" cap="none" strike="noStrike">
                  <a:solidFill>
                    <a:srgbClr val="4950BC"/>
                  </a:solidFill>
                  <a:latin typeface="Inter"/>
                  <a:ea typeface="Inter"/>
                  <a:cs typeface="Inter"/>
                  <a:sym typeface="Inter"/>
                </a:rPr>
                <a:t>DEMAND FORECASTING</a:t>
              </a:r>
              <a:endParaRPr/>
            </a:p>
          </p:txBody>
        </p:sp>
        <p:sp>
          <p:nvSpPr>
            <p:cNvPr id="116" name="Google Shape;116;p13"/>
            <p:cNvSpPr/>
            <p:nvPr/>
          </p:nvSpPr>
          <p:spPr>
            <a:xfrm>
              <a:off x="7075936" y="0"/>
              <a:ext cx="3982891" cy="528193"/>
            </a:xfrm>
            <a:custGeom>
              <a:rect b="b" l="l" r="r" t="t"/>
              <a:pathLst>
                <a:path extrusionOk="0" h="528193" w="3982891">
                  <a:moveTo>
                    <a:pt x="0" y="116713"/>
                  </a:moveTo>
                  <a:cubicBezTo>
                    <a:pt x="0" y="52324"/>
                    <a:pt x="64916" y="0"/>
                    <a:pt x="144801" y="0"/>
                  </a:cubicBezTo>
                  <a:lnTo>
                    <a:pt x="3838090" y="0"/>
                  </a:lnTo>
                  <a:cubicBezTo>
                    <a:pt x="3918133" y="0"/>
                    <a:pt x="3982891" y="52324"/>
                    <a:pt x="3982891" y="116713"/>
                  </a:cubicBezTo>
                  <a:lnTo>
                    <a:pt x="3982891" y="411480"/>
                  </a:lnTo>
                  <a:cubicBezTo>
                    <a:pt x="3982891" y="475996"/>
                    <a:pt x="3917975" y="528193"/>
                    <a:pt x="3838090" y="528193"/>
                  </a:cubicBezTo>
                  <a:lnTo>
                    <a:pt x="144801" y="528193"/>
                  </a:lnTo>
                  <a:cubicBezTo>
                    <a:pt x="64916" y="528193"/>
                    <a:pt x="0" y="475996"/>
                    <a:pt x="0" y="411480"/>
                  </a:cubicBezTo>
                  <a:close/>
                </a:path>
              </a:pathLst>
            </a:custGeom>
            <a:blipFill rotWithShape="1">
              <a:blip r:embed="rId8">
                <a:alphaModFix amt="0"/>
              </a:blip>
              <a:stretch>
                <a:fillRect b="-68432" l="0" r="19397" t="-68423"/>
              </a:stretch>
            </a:blipFill>
            <a:ln cap="sq" cmpd="sng" w="19050">
              <a:solidFill>
                <a:srgbClr val="4950BC"/>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3"/>
            <p:cNvSpPr txBox="1"/>
            <p:nvPr/>
          </p:nvSpPr>
          <p:spPr>
            <a:xfrm>
              <a:off x="7173046" y="113592"/>
              <a:ext cx="3788700" cy="307800"/>
            </a:xfrm>
            <a:prstGeom prst="rect">
              <a:avLst/>
            </a:prstGeom>
            <a:noFill/>
            <a:ln>
              <a:noFill/>
            </a:ln>
          </p:spPr>
          <p:txBody>
            <a:bodyPr anchorCtr="0" anchor="t" bIns="0" lIns="0" spcFirstLastPara="1" rIns="0" wrap="square" tIns="0">
              <a:spAutoFit/>
            </a:bodyPr>
            <a:lstStyle/>
            <a:p>
              <a:pPr indent="0" lvl="0" marL="0" marR="0" rtl="0" algn="l">
                <a:lnSpc>
                  <a:spcPct val="115133"/>
                </a:lnSpc>
                <a:spcBef>
                  <a:spcPts val="0"/>
                </a:spcBef>
                <a:spcAft>
                  <a:spcPts val="0"/>
                </a:spcAft>
                <a:buNone/>
              </a:pPr>
              <a:r>
                <a:rPr b="0" i="0" lang="en-US" sz="1500" u="none" cap="none" strike="noStrike">
                  <a:solidFill>
                    <a:srgbClr val="3257B8"/>
                  </a:solidFill>
                  <a:latin typeface="Inter"/>
                  <a:ea typeface="Inter"/>
                  <a:cs typeface="Inter"/>
                  <a:sym typeface="Inter"/>
                </a:rPr>
                <a:t>BUSINESS INTELLIGENCE</a:t>
              </a:r>
              <a:endParaRPr/>
            </a:p>
          </p:txBody>
        </p:sp>
      </p:grpSp>
      <p:sp>
        <p:nvSpPr>
          <p:cNvPr id="118" name="Google Shape;118;p13"/>
          <p:cNvSpPr txBox="1"/>
          <p:nvPr/>
        </p:nvSpPr>
        <p:spPr>
          <a:xfrm>
            <a:off x="11557083" y="8581242"/>
            <a:ext cx="4849714" cy="346075"/>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0" i="0" lang="en-US" spc="112" sz="2000" u="none" cap="none" strike="noStrike">
                <a:solidFill>
                  <a:srgbClr val="15213F"/>
                </a:solidFill>
                <a:latin typeface="Poppins"/>
                <a:ea typeface="Poppins"/>
                <a:cs typeface="Poppins"/>
                <a:sym typeface="Poppins"/>
              </a:rPr>
              <a:t>Contact : santosoj160@gmail.com</a:t>
            </a:r>
            <a:endParaRPr/>
          </a:p>
        </p:txBody>
      </p:sp>
      <p:grpSp>
        <p:nvGrpSpPr>
          <p:cNvPr id="119" name="Google Shape;119;p13"/>
          <p:cNvGrpSpPr/>
          <p:nvPr/>
        </p:nvGrpSpPr>
        <p:grpSpPr>
          <a:xfrm>
            <a:off x="14261532" y="8156623"/>
            <a:ext cx="1781070" cy="377095"/>
            <a:chOff x="0" y="0"/>
            <a:chExt cx="2374760" cy="502793"/>
          </a:xfrm>
        </p:grpSpPr>
        <p:sp>
          <p:nvSpPr>
            <p:cNvPr id="120" name="Google Shape;120;p13"/>
            <p:cNvSpPr/>
            <p:nvPr/>
          </p:nvSpPr>
          <p:spPr>
            <a:xfrm>
              <a:off x="0" y="0"/>
              <a:ext cx="2374760" cy="502793"/>
            </a:xfrm>
            <a:custGeom>
              <a:rect b="b" l="l" r="r" t="t"/>
              <a:pathLst>
                <a:path extrusionOk="0" h="502793" w="2374760">
                  <a:moveTo>
                    <a:pt x="0" y="111125"/>
                  </a:moveTo>
                  <a:cubicBezTo>
                    <a:pt x="0" y="49784"/>
                    <a:pt x="36128" y="0"/>
                    <a:pt x="80642" y="0"/>
                  </a:cubicBezTo>
                  <a:lnTo>
                    <a:pt x="2294117" y="0"/>
                  </a:lnTo>
                  <a:cubicBezTo>
                    <a:pt x="2338631" y="0"/>
                    <a:pt x="2374760" y="49784"/>
                    <a:pt x="2374760" y="111125"/>
                  </a:cubicBezTo>
                  <a:lnTo>
                    <a:pt x="2374760" y="391668"/>
                  </a:lnTo>
                  <a:cubicBezTo>
                    <a:pt x="2374760" y="453009"/>
                    <a:pt x="2338631" y="502793"/>
                    <a:pt x="2294117" y="502793"/>
                  </a:cubicBezTo>
                  <a:lnTo>
                    <a:pt x="80642" y="502793"/>
                  </a:lnTo>
                  <a:cubicBezTo>
                    <a:pt x="36128" y="502793"/>
                    <a:pt x="0" y="453136"/>
                    <a:pt x="0" y="391668"/>
                  </a:cubicBezTo>
                  <a:close/>
                </a:path>
              </a:pathLst>
            </a:custGeom>
            <a:solidFill>
              <a:srgbClr val="DADBF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13"/>
            <p:cNvSpPr txBox="1"/>
            <p:nvPr/>
          </p:nvSpPr>
          <p:spPr>
            <a:xfrm>
              <a:off x="139722" y="128469"/>
              <a:ext cx="2235000" cy="277200"/>
            </a:xfrm>
            <a:prstGeom prst="rect">
              <a:avLst/>
            </a:prstGeom>
            <a:noFill/>
            <a:ln>
              <a:noFill/>
            </a:ln>
          </p:spPr>
          <p:txBody>
            <a:bodyPr anchorCtr="0" anchor="t" bIns="0" lIns="0" spcFirstLastPara="1" rIns="0" wrap="square" tIns="0">
              <a:spAutoFit/>
            </a:bodyPr>
            <a:lstStyle/>
            <a:p>
              <a:pPr indent="0" lvl="0" marL="0" marR="0" rtl="0" algn="l">
                <a:lnSpc>
                  <a:spcPct val="115185"/>
                </a:lnSpc>
                <a:spcBef>
                  <a:spcPts val="0"/>
                </a:spcBef>
                <a:spcAft>
                  <a:spcPts val="0"/>
                </a:spcAft>
                <a:buNone/>
              </a:pPr>
              <a:r>
                <a:rPr b="0" i="0" lang="en-US" sz="1350" u="none" cap="none" strike="noStrike">
                  <a:solidFill>
                    <a:srgbClr val="272525"/>
                  </a:solidFill>
                  <a:latin typeface="Inter"/>
                  <a:ea typeface="Inter"/>
                  <a:cs typeface="Inter"/>
                  <a:sym typeface="Inter"/>
                </a:rPr>
                <a:t>Data &amp; BI Analyst</a:t>
              </a:r>
              <a:endParaRPr/>
            </a:p>
          </p:txBody>
        </p:sp>
      </p:grpSp>
      <p:sp>
        <p:nvSpPr>
          <p:cNvPr id="122" name="Google Shape;122;p13"/>
          <p:cNvSpPr txBox="1"/>
          <p:nvPr/>
        </p:nvSpPr>
        <p:spPr>
          <a:xfrm>
            <a:off x="4130255" y="4973167"/>
            <a:ext cx="10027490" cy="1020526"/>
          </a:xfrm>
          <a:prstGeom prst="rect">
            <a:avLst/>
          </a:prstGeom>
          <a:noFill/>
          <a:ln>
            <a:noFill/>
          </a:ln>
        </p:spPr>
        <p:txBody>
          <a:bodyPr anchorCtr="0" anchor="t" bIns="0" lIns="0" spcFirstLastPara="1" rIns="0" wrap="square" tIns="0">
            <a:spAutoFit/>
          </a:bodyPr>
          <a:lstStyle/>
          <a:p>
            <a:pPr indent="0" lvl="0" marL="0" marR="0" rtl="0" algn="ctr">
              <a:lnSpc>
                <a:spcPct val="140010"/>
              </a:lnSpc>
              <a:spcBef>
                <a:spcPts val="0"/>
              </a:spcBef>
              <a:spcAft>
                <a:spcPts val="0"/>
              </a:spcAft>
              <a:buNone/>
            </a:pPr>
            <a:r>
              <a:rPr b="0" i="0" lang="en-US" sz="1932" u="none" cap="none" strike="noStrike">
                <a:solidFill>
                  <a:srgbClr val="44618A"/>
                </a:solidFill>
                <a:latin typeface="Poppins"/>
                <a:ea typeface="Poppins"/>
                <a:cs typeface="Poppins"/>
                <a:sym typeface="Poppins"/>
              </a:rPr>
              <a:t>Optimasi Rantai Pasok Lintas Negara, Elastisitas Promosi, dan Peramalan Permintaan Harian untuk Memitigasi Stockout serta Memaksimalkan Profitabilitas Bersih</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7EEF9"/>
        </a:solidFill>
      </p:bgPr>
    </p:bg>
    <p:spTree>
      <p:nvGrpSpPr>
        <p:cNvPr id="126" name="Shape 126"/>
        <p:cNvGrpSpPr/>
        <p:nvPr/>
      </p:nvGrpSpPr>
      <p:grpSpPr>
        <a:xfrm>
          <a:off x="0" y="0"/>
          <a:ext cx="0" cy="0"/>
          <a:chOff x="0" y="0"/>
          <a:chExt cx="0" cy="0"/>
        </a:xfrm>
      </p:grpSpPr>
      <p:cxnSp>
        <p:nvCxnSpPr>
          <p:cNvPr id="127" name="Google Shape;127;p14"/>
          <p:cNvCxnSpPr/>
          <p:nvPr/>
        </p:nvCxnSpPr>
        <p:spPr>
          <a:xfrm rot="10770000">
            <a:off x="7162343" y="535943"/>
            <a:ext cx="2184464" cy="0"/>
          </a:xfrm>
          <a:prstGeom prst="straightConnector1">
            <a:avLst/>
          </a:prstGeom>
          <a:noFill/>
          <a:ln cap="rnd" cmpd="sng" w="19050">
            <a:solidFill>
              <a:srgbClr val="081B64"/>
            </a:solidFill>
            <a:prstDash val="solid"/>
            <a:round/>
            <a:headEnd len="sm" w="sm" type="none"/>
            <a:tailEnd len="sm" w="sm" type="none"/>
          </a:ln>
        </p:spPr>
      </p:cxnSp>
      <p:cxnSp>
        <p:nvCxnSpPr>
          <p:cNvPr id="128" name="Google Shape;128;p14"/>
          <p:cNvCxnSpPr/>
          <p:nvPr/>
        </p:nvCxnSpPr>
        <p:spPr>
          <a:xfrm rot="10770000">
            <a:off x="8078133" y="2522515"/>
            <a:ext cx="2184463" cy="0"/>
          </a:xfrm>
          <a:prstGeom prst="straightConnector1">
            <a:avLst/>
          </a:prstGeom>
          <a:noFill/>
          <a:ln cap="rnd" cmpd="sng" w="19050">
            <a:solidFill>
              <a:srgbClr val="081B64"/>
            </a:solidFill>
            <a:prstDash val="solid"/>
            <a:round/>
            <a:headEnd len="sm" w="sm" type="none"/>
            <a:tailEnd len="sm" w="sm" type="none"/>
          </a:ln>
        </p:spPr>
      </p:cxnSp>
      <p:sp>
        <p:nvSpPr>
          <p:cNvPr id="129" name="Google Shape;129;p14"/>
          <p:cNvSpPr/>
          <p:nvPr/>
        </p:nvSpPr>
        <p:spPr>
          <a:xfrm>
            <a:off x="5407752" y="4687205"/>
            <a:ext cx="527495" cy="486347"/>
          </a:xfrm>
          <a:custGeom>
            <a:rect b="b" l="l" r="r" t="t"/>
            <a:pathLst>
              <a:path extrusionOk="0" h="648462" w="703326">
                <a:moveTo>
                  <a:pt x="0" y="0"/>
                </a:moveTo>
                <a:lnTo>
                  <a:pt x="703326" y="0"/>
                </a:lnTo>
                <a:lnTo>
                  <a:pt x="703326" y="648462"/>
                </a:lnTo>
                <a:lnTo>
                  <a:pt x="0" y="648462"/>
                </a:lnTo>
                <a:lnTo>
                  <a:pt x="0" y="0"/>
                </a:lnTo>
                <a:close/>
              </a:path>
            </a:pathLst>
          </a:custGeom>
          <a:blipFill rotWithShape="1">
            <a:blip r:embed="rId3">
              <a:alphaModFix/>
            </a:blip>
            <a:stretch>
              <a:fillRect b="5" l="-96596" r="-96590" t="0"/>
            </a:stretch>
          </a:blipFill>
          <a:ln>
            <a:noFill/>
          </a:ln>
        </p:spPr>
      </p:sp>
      <p:sp>
        <p:nvSpPr>
          <p:cNvPr id="130" name="Google Shape;130;p14"/>
          <p:cNvSpPr/>
          <p:nvPr/>
        </p:nvSpPr>
        <p:spPr>
          <a:xfrm>
            <a:off x="7568991" y="2822658"/>
            <a:ext cx="495395" cy="635604"/>
          </a:xfrm>
          <a:custGeom>
            <a:rect b="b" l="l" r="r" t="t"/>
            <a:pathLst>
              <a:path extrusionOk="0" h="847471" w="660527">
                <a:moveTo>
                  <a:pt x="0" y="0"/>
                </a:moveTo>
                <a:lnTo>
                  <a:pt x="660527" y="0"/>
                </a:lnTo>
                <a:lnTo>
                  <a:pt x="660527" y="847471"/>
                </a:lnTo>
                <a:lnTo>
                  <a:pt x="0" y="847471"/>
                </a:lnTo>
                <a:lnTo>
                  <a:pt x="0" y="0"/>
                </a:lnTo>
                <a:close/>
              </a:path>
            </a:pathLst>
          </a:custGeom>
          <a:blipFill rotWithShape="1">
            <a:blip r:embed="rId4">
              <a:alphaModFix/>
            </a:blip>
            <a:stretch>
              <a:fillRect b="1" l="-14148" r="-14153" t="0"/>
            </a:stretch>
          </a:blipFill>
          <a:ln>
            <a:noFill/>
          </a:ln>
        </p:spPr>
      </p:sp>
      <p:sp>
        <p:nvSpPr>
          <p:cNvPr id="131" name="Google Shape;131;p14"/>
          <p:cNvSpPr/>
          <p:nvPr/>
        </p:nvSpPr>
        <p:spPr>
          <a:xfrm>
            <a:off x="5352412" y="4187914"/>
            <a:ext cx="469773" cy="399098"/>
          </a:xfrm>
          <a:custGeom>
            <a:rect b="b" l="l" r="r" t="t"/>
            <a:pathLst>
              <a:path extrusionOk="0" h="532130" w="626364">
                <a:moveTo>
                  <a:pt x="0" y="0"/>
                </a:moveTo>
                <a:lnTo>
                  <a:pt x="626364" y="0"/>
                </a:lnTo>
                <a:lnTo>
                  <a:pt x="626364" y="532130"/>
                </a:lnTo>
                <a:lnTo>
                  <a:pt x="0" y="532130"/>
                </a:lnTo>
                <a:lnTo>
                  <a:pt x="0" y="0"/>
                </a:lnTo>
                <a:close/>
              </a:path>
            </a:pathLst>
          </a:custGeom>
          <a:blipFill rotWithShape="1">
            <a:blip r:embed="rId5">
              <a:alphaModFix/>
            </a:blip>
            <a:stretch>
              <a:fillRect b="-4" l="-204878" r="-204884" t="0"/>
            </a:stretch>
          </a:blipFill>
          <a:ln>
            <a:noFill/>
          </a:ln>
        </p:spPr>
      </p:sp>
      <p:cxnSp>
        <p:nvCxnSpPr>
          <p:cNvPr id="132" name="Google Shape;132;p14"/>
          <p:cNvCxnSpPr/>
          <p:nvPr/>
        </p:nvCxnSpPr>
        <p:spPr>
          <a:xfrm rot="10770000">
            <a:off x="8057988" y="5773226"/>
            <a:ext cx="2184463" cy="0"/>
          </a:xfrm>
          <a:prstGeom prst="straightConnector1">
            <a:avLst/>
          </a:prstGeom>
          <a:noFill/>
          <a:ln cap="rnd" cmpd="sng" w="19050">
            <a:solidFill>
              <a:srgbClr val="081B64"/>
            </a:solidFill>
            <a:prstDash val="solid"/>
            <a:round/>
            <a:headEnd len="sm" w="sm" type="none"/>
            <a:tailEnd len="sm" w="sm" type="none"/>
          </a:ln>
        </p:spPr>
      </p:cxnSp>
      <p:cxnSp>
        <p:nvCxnSpPr>
          <p:cNvPr id="133" name="Google Shape;133;p14"/>
          <p:cNvCxnSpPr/>
          <p:nvPr/>
        </p:nvCxnSpPr>
        <p:spPr>
          <a:xfrm flipH="1">
            <a:off x="14189367" y="545462"/>
            <a:ext cx="2184380" cy="19063"/>
          </a:xfrm>
          <a:prstGeom prst="straightConnector1">
            <a:avLst/>
          </a:prstGeom>
          <a:noFill/>
          <a:ln cap="rnd" cmpd="sng" w="19050">
            <a:solidFill>
              <a:srgbClr val="081B64"/>
            </a:solidFill>
            <a:prstDash val="solid"/>
            <a:round/>
            <a:headEnd len="sm" w="sm" type="none"/>
            <a:tailEnd len="sm" w="sm" type="none"/>
          </a:ln>
        </p:spPr>
      </p:cxnSp>
      <p:sp>
        <p:nvSpPr>
          <p:cNvPr id="134" name="Google Shape;134;p14"/>
          <p:cNvSpPr txBox="1"/>
          <p:nvPr/>
        </p:nvSpPr>
        <p:spPr>
          <a:xfrm>
            <a:off x="529676" y="295275"/>
            <a:ext cx="2989336" cy="733425"/>
          </a:xfrm>
          <a:prstGeom prst="rect">
            <a:avLst/>
          </a:prstGeom>
          <a:noFill/>
          <a:ln>
            <a:noFill/>
          </a:ln>
        </p:spPr>
        <p:txBody>
          <a:bodyPr anchorCtr="0" anchor="t" bIns="0" lIns="0" spcFirstLastPara="1" rIns="0" wrap="square" tIns="0">
            <a:spAutoFit/>
          </a:bodyPr>
          <a:lstStyle/>
          <a:p>
            <a:pPr indent="0" lvl="0" marL="0" marR="0" rtl="0" algn="r">
              <a:lnSpc>
                <a:spcPct val="120013"/>
              </a:lnSpc>
              <a:spcBef>
                <a:spcPts val="0"/>
              </a:spcBef>
              <a:spcAft>
                <a:spcPts val="0"/>
              </a:spcAft>
              <a:buNone/>
            </a:pPr>
            <a:r>
              <a:rPr b="1" i="0" lang="en-US" sz="4397" u="none" cap="none" strike="noStrike">
                <a:solidFill>
                  <a:srgbClr val="081B64"/>
                </a:solidFill>
                <a:latin typeface="Helvetica Neue"/>
                <a:ea typeface="Helvetica Neue"/>
                <a:cs typeface="Helvetica Neue"/>
                <a:sym typeface="Helvetica Neue"/>
              </a:rPr>
              <a:t>ABOUT ME</a:t>
            </a:r>
            <a:endParaRPr/>
          </a:p>
        </p:txBody>
      </p:sp>
      <p:sp>
        <p:nvSpPr>
          <p:cNvPr id="135" name="Google Shape;135;p14"/>
          <p:cNvSpPr txBox="1"/>
          <p:nvPr/>
        </p:nvSpPr>
        <p:spPr>
          <a:xfrm>
            <a:off x="529676" y="5000435"/>
            <a:ext cx="1916113" cy="334618"/>
          </a:xfrm>
          <a:prstGeom prst="rect">
            <a:avLst/>
          </a:prstGeom>
          <a:noFill/>
          <a:ln>
            <a:noFill/>
          </a:ln>
        </p:spPr>
        <p:txBody>
          <a:bodyPr anchorCtr="0" anchor="t" bIns="0" lIns="0" spcFirstLastPara="1" rIns="0" wrap="square" tIns="0">
            <a:spAutoFit/>
          </a:bodyPr>
          <a:lstStyle/>
          <a:p>
            <a:pPr indent="0" lvl="0" marL="0" marR="0" rtl="0" algn="l">
              <a:lnSpc>
                <a:spcPct val="113053"/>
              </a:lnSpc>
              <a:spcBef>
                <a:spcPts val="0"/>
              </a:spcBef>
              <a:spcAft>
                <a:spcPts val="0"/>
              </a:spcAft>
              <a:buNone/>
            </a:pPr>
            <a:r>
              <a:rPr b="1" i="0" lang="en-US" sz="2283" u="none" cap="none" strike="noStrike">
                <a:solidFill>
                  <a:srgbClr val="081B64"/>
                </a:solidFill>
                <a:latin typeface="Archivo Narrow"/>
                <a:ea typeface="Archivo Narrow"/>
                <a:cs typeface="Archivo Narrow"/>
                <a:sym typeface="Archivo Narrow"/>
              </a:rPr>
              <a:t>JOKO SANTOSO</a:t>
            </a:r>
            <a:endParaRPr/>
          </a:p>
        </p:txBody>
      </p:sp>
      <p:sp>
        <p:nvSpPr>
          <p:cNvPr id="136" name="Google Shape;136;p14"/>
          <p:cNvSpPr/>
          <p:nvPr/>
        </p:nvSpPr>
        <p:spPr>
          <a:xfrm rot="-2602740">
            <a:off x="-2498910" y="4710367"/>
            <a:ext cx="8229600" cy="8229600"/>
          </a:xfrm>
          <a:custGeom>
            <a:rect b="b" l="l" r="r" t="t"/>
            <a:pathLst>
              <a:path extrusionOk="0" h="10972800" w="10972800">
                <a:moveTo>
                  <a:pt x="0" y="0"/>
                </a:moveTo>
                <a:lnTo>
                  <a:pt x="10972800" y="0"/>
                </a:lnTo>
                <a:lnTo>
                  <a:pt x="10972800" y="10972800"/>
                </a:lnTo>
                <a:lnTo>
                  <a:pt x="0" y="10972800"/>
                </a:lnTo>
                <a:lnTo>
                  <a:pt x="0" y="0"/>
                </a:lnTo>
                <a:close/>
              </a:path>
            </a:pathLst>
          </a:custGeom>
          <a:blipFill rotWithShape="1">
            <a:blip r:embed="rId6">
              <a:alphaModFix amt="36000"/>
            </a:blip>
            <a:stretch>
              <a:fillRect b="0" l="0" r="0" t="0"/>
            </a:stretch>
          </a:blipFill>
          <a:ln>
            <a:noFill/>
          </a:ln>
        </p:spPr>
      </p:sp>
      <p:sp>
        <p:nvSpPr>
          <p:cNvPr id="137" name="Google Shape;137;p14"/>
          <p:cNvSpPr txBox="1"/>
          <p:nvPr/>
        </p:nvSpPr>
        <p:spPr>
          <a:xfrm>
            <a:off x="5378310" y="6685083"/>
            <a:ext cx="3598688" cy="311782"/>
          </a:xfrm>
          <a:prstGeom prst="rect">
            <a:avLst/>
          </a:prstGeom>
          <a:noFill/>
          <a:ln>
            <a:noFill/>
          </a:ln>
        </p:spPr>
        <p:txBody>
          <a:bodyPr anchorCtr="0" anchor="t" bIns="0" lIns="0" spcFirstLastPara="1" rIns="0" wrap="square" tIns="0">
            <a:spAutoFit/>
          </a:bodyPr>
          <a:lstStyle/>
          <a:p>
            <a:pPr indent="0" lvl="0" marL="0" marR="0" rtl="0" algn="just">
              <a:lnSpc>
                <a:spcPct val="140025"/>
              </a:lnSpc>
              <a:spcBef>
                <a:spcPts val="0"/>
              </a:spcBef>
              <a:spcAft>
                <a:spcPts val="0"/>
              </a:spcAft>
              <a:buNone/>
            </a:pPr>
            <a:r>
              <a:rPr b="1" i="0" lang="en-US" sz="1599" u="none" cap="none" strike="noStrike">
                <a:solidFill>
                  <a:srgbClr val="081B64"/>
                </a:solidFill>
                <a:latin typeface="Helvetica Neue"/>
                <a:ea typeface="Helvetica Neue"/>
                <a:cs typeface="Helvetica Neue"/>
                <a:sym typeface="Helvetica Neue"/>
              </a:rPr>
              <a:t>Soft Skills  : </a:t>
            </a:r>
            <a:endParaRPr/>
          </a:p>
        </p:txBody>
      </p:sp>
      <p:grpSp>
        <p:nvGrpSpPr>
          <p:cNvPr id="138" name="Google Shape;138;p14"/>
          <p:cNvGrpSpPr/>
          <p:nvPr/>
        </p:nvGrpSpPr>
        <p:grpSpPr>
          <a:xfrm>
            <a:off x="11502800" y="5946648"/>
            <a:ext cx="8165933" cy="6344023"/>
            <a:chOff x="0" y="0"/>
            <a:chExt cx="10887911" cy="8458698"/>
          </a:xfrm>
        </p:grpSpPr>
        <p:sp>
          <p:nvSpPr>
            <p:cNvPr id="139" name="Google Shape;139;p14"/>
            <p:cNvSpPr/>
            <p:nvPr/>
          </p:nvSpPr>
          <p:spPr>
            <a:xfrm>
              <a:off x="168244" y="1236767"/>
              <a:ext cx="10719667" cy="7221931"/>
            </a:xfrm>
            <a:custGeom>
              <a:rect b="b" l="l" r="r" t="t"/>
              <a:pathLst>
                <a:path extrusionOk="0" h="7221931" w="10719667">
                  <a:moveTo>
                    <a:pt x="0" y="0"/>
                  </a:moveTo>
                  <a:lnTo>
                    <a:pt x="10719667" y="0"/>
                  </a:lnTo>
                  <a:lnTo>
                    <a:pt x="10719667" y="7221932"/>
                  </a:lnTo>
                  <a:lnTo>
                    <a:pt x="0" y="7221932"/>
                  </a:lnTo>
                  <a:lnTo>
                    <a:pt x="0" y="0"/>
                  </a:lnTo>
                  <a:close/>
                </a:path>
              </a:pathLst>
            </a:custGeom>
            <a:blipFill rotWithShape="1">
              <a:blip r:embed="rId7">
                <a:alphaModFix amt="40000"/>
              </a:blip>
              <a:stretch>
                <a:fillRect b="0" l="0" r="-57671" t="-41357"/>
              </a:stretch>
            </a:blipFill>
            <a:ln>
              <a:noFill/>
            </a:ln>
          </p:spPr>
        </p:sp>
        <p:sp>
          <p:nvSpPr>
            <p:cNvPr id="140" name="Google Shape;140;p14"/>
            <p:cNvSpPr/>
            <p:nvPr/>
          </p:nvSpPr>
          <p:spPr>
            <a:xfrm>
              <a:off x="0" y="0"/>
              <a:ext cx="6509685" cy="6654882"/>
            </a:xfrm>
            <a:custGeom>
              <a:rect b="b" l="l" r="r" t="t"/>
              <a:pathLst>
                <a:path extrusionOk="0" h="6654882" w="6509685">
                  <a:moveTo>
                    <a:pt x="0" y="0"/>
                  </a:moveTo>
                  <a:lnTo>
                    <a:pt x="6509685" y="0"/>
                  </a:lnTo>
                  <a:lnTo>
                    <a:pt x="6509685" y="6654882"/>
                  </a:lnTo>
                  <a:lnTo>
                    <a:pt x="0" y="6654882"/>
                  </a:lnTo>
                  <a:lnTo>
                    <a:pt x="0" y="0"/>
                  </a:lnTo>
                  <a:close/>
                </a:path>
              </a:pathLst>
            </a:custGeom>
            <a:blipFill rotWithShape="1">
              <a:blip r:embed="rId8">
                <a:alphaModFix amt="70000"/>
              </a:blip>
              <a:stretch>
                <a:fillRect b="0" l="0" r="0" t="0"/>
              </a:stretch>
            </a:blipFill>
            <a:ln>
              <a:noFill/>
            </a:ln>
          </p:spPr>
        </p:sp>
      </p:grpSp>
      <p:sp>
        <p:nvSpPr>
          <p:cNvPr id="141" name="Google Shape;141;p14"/>
          <p:cNvSpPr txBox="1"/>
          <p:nvPr/>
        </p:nvSpPr>
        <p:spPr>
          <a:xfrm>
            <a:off x="6649241" y="6704133"/>
            <a:ext cx="5005549" cy="816610"/>
          </a:xfrm>
          <a:prstGeom prst="rect">
            <a:avLst/>
          </a:prstGeom>
          <a:noFill/>
          <a:ln>
            <a:noFill/>
          </a:ln>
        </p:spPr>
        <p:txBody>
          <a:bodyPr anchorCtr="0" anchor="t" bIns="0" lIns="0" spcFirstLastPara="1" rIns="0" wrap="square" tIns="0">
            <a:spAutoFit/>
          </a:bodyPr>
          <a:lstStyle/>
          <a:p>
            <a:pPr indent="0" lvl="0" marL="0" marR="0" rtl="0" algn="just">
              <a:lnSpc>
                <a:spcPct val="140025"/>
              </a:lnSpc>
              <a:spcBef>
                <a:spcPts val="0"/>
              </a:spcBef>
              <a:spcAft>
                <a:spcPts val="0"/>
              </a:spcAft>
              <a:buNone/>
            </a:pPr>
            <a:r>
              <a:rPr b="0" i="0" lang="en-US" sz="1599" u="none" cap="none" strike="noStrike">
                <a:solidFill>
                  <a:srgbClr val="737373"/>
                </a:solidFill>
                <a:latin typeface="Helvetica Neue"/>
                <a:ea typeface="Helvetica Neue"/>
                <a:cs typeface="Helvetica Neue"/>
                <a:sym typeface="Helvetica Neue"/>
              </a:rPr>
              <a:t>Analytical Thinking | Problem Solving |  Continuous Improvement | Professional Teamwork | Excellent Communication</a:t>
            </a:r>
            <a:endParaRPr/>
          </a:p>
        </p:txBody>
      </p:sp>
      <p:sp>
        <p:nvSpPr>
          <p:cNvPr id="142" name="Google Shape;142;p14"/>
          <p:cNvSpPr txBox="1"/>
          <p:nvPr/>
        </p:nvSpPr>
        <p:spPr>
          <a:xfrm>
            <a:off x="5255504" y="8235125"/>
            <a:ext cx="6389761" cy="1645285"/>
          </a:xfrm>
          <a:prstGeom prst="rect">
            <a:avLst/>
          </a:prstGeom>
          <a:noFill/>
          <a:ln>
            <a:noFill/>
          </a:ln>
        </p:spPr>
        <p:txBody>
          <a:bodyPr anchorCtr="0" anchor="t" bIns="0" lIns="0" spcFirstLastPara="1" rIns="0" wrap="square" tIns="0">
            <a:spAutoFit/>
          </a:bodyPr>
          <a:lstStyle/>
          <a:p>
            <a:pPr indent="-121920" lvl="2" marL="365759" marR="0" rtl="0" algn="just">
              <a:lnSpc>
                <a:spcPct val="140025"/>
              </a:lnSpc>
              <a:spcBef>
                <a:spcPts val="0"/>
              </a:spcBef>
              <a:spcAft>
                <a:spcPts val="0"/>
              </a:spcAft>
              <a:buClr>
                <a:srgbClr val="737373"/>
              </a:buClr>
              <a:buSzPts val="1599"/>
              <a:buFont typeface="Arial"/>
              <a:buChar char="⚬"/>
            </a:pPr>
            <a:r>
              <a:rPr b="0" i="0" lang="en-US" sz="1599" u="none" cap="none" strike="noStrike">
                <a:solidFill>
                  <a:srgbClr val="737373"/>
                </a:solidFill>
                <a:latin typeface="Helvetica Neue"/>
                <a:ea typeface="Helvetica Neue"/>
                <a:cs typeface="Helvetica Neue"/>
                <a:sym typeface="Helvetica Neue"/>
              </a:rPr>
              <a:t>Product Analytics &amp; Funnel Analysis (Python, EDA, Cohort Analysis)</a:t>
            </a:r>
            <a:endParaRPr/>
          </a:p>
          <a:p>
            <a:pPr indent="-121920" lvl="2" marL="365759" marR="0" rtl="0" algn="just">
              <a:lnSpc>
                <a:spcPct val="140025"/>
              </a:lnSpc>
              <a:spcBef>
                <a:spcPts val="0"/>
              </a:spcBef>
              <a:spcAft>
                <a:spcPts val="0"/>
              </a:spcAft>
              <a:buClr>
                <a:srgbClr val="737373"/>
              </a:buClr>
              <a:buSzPts val="1599"/>
              <a:buFont typeface="Arial"/>
              <a:buChar char="⚬"/>
            </a:pPr>
            <a:r>
              <a:rPr b="0" i="0" lang="en-US" sz="1599" u="none" cap="none" strike="noStrike">
                <a:solidFill>
                  <a:srgbClr val="737373"/>
                </a:solidFill>
                <a:latin typeface="Helvetica Neue"/>
                <a:ea typeface="Helvetica Neue"/>
                <a:cs typeface="Helvetica Neue"/>
                <a:sym typeface="Helvetica Neue"/>
              </a:rPr>
              <a:t>HR Analytics &amp; Attrition Drivers (Tableau, Data Modeling)</a:t>
            </a:r>
            <a:endParaRPr/>
          </a:p>
          <a:p>
            <a:pPr indent="-121920" lvl="2" marL="365759" marR="0" rtl="0" algn="just">
              <a:lnSpc>
                <a:spcPct val="140025"/>
              </a:lnSpc>
              <a:spcBef>
                <a:spcPts val="0"/>
              </a:spcBef>
              <a:spcAft>
                <a:spcPts val="0"/>
              </a:spcAft>
              <a:buClr>
                <a:srgbClr val="737373"/>
              </a:buClr>
              <a:buSzPts val="1599"/>
              <a:buFont typeface="Arial"/>
              <a:buChar char="⚬"/>
            </a:pPr>
            <a:r>
              <a:rPr b="0" i="0" lang="en-US" sz="1599" u="none" cap="none" strike="noStrike">
                <a:solidFill>
                  <a:srgbClr val="737373"/>
                </a:solidFill>
                <a:latin typeface="Helvetica Neue"/>
                <a:ea typeface="Helvetica Neue"/>
                <a:cs typeface="Helvetica Neue"/>
                <a:sym typeface="Helvetica Neue"/>
              </a:rPr>
              <a:t>Root Cause Analysis &amp; Continuous Improvement (5S, Kaizen)</a:t>
            </a:r>
            <a:endParaRPr/>
          </a:p>
          <a:p>
            <a:pPr indent="-121920" lvl="2" marL="365759" marR="0" rtl="0" algn="just">
              <a:lnSpc>
                <a:spcPct val="140025"/>
              </a:lnSpc>
              <a:spcBef>
                <a:spcPts val="0"/>
              </a:spcBef>
              <a:spcAft>
                <a:spcPts val="0"/>
              </a:spcAft>
              <a:buClr>
                <a:srgbClr val="737373"/>
              </a:buClr>
              <a:buSzPts val="1599"/>
              <a:buFont typeface="Arial"/>
              <a:buChar char="⚬"/>
            </a:pPr>
            <a:r>
              <a:rPr b="0" i="0" lang="en-US" sz="1599" u="none" cap="none" strike="noStrike">
                <a:solidFill>
                  <a:srgbClr val="737373"/>
                </a:solidFill>
                <a:latin typeface="Helvetica Neue"/>
                <a:ea typeface="Helvetica Neue"/>
                <a:cs typeface="Helvetica Neue"/>
                <a:sym typeface="Helvetica Neue"/>
              </a:rPr>
              <a:t>Data Integration &amp; Visualization</a:t>
            </a:r>
            <a:endParaRPr/>
          </a:p>
          <a:p>
            <a:pPr indent="-121920" lvl="2" marL="365759" marR="0" rtl="0" algn="just">
              <a:lnSpc>
                <a:spcPct val="140025"/>
              </a:lnSpc>
              <a:spcBef>
                <a:spcPts val="0"/>
              </a:spcBef>
              <a:spcAft>
                <a:spcPts val="0"/>
              </a:spcAft>
              <a:buClr>
                <a:srgbClr val="737373"/>
              </a:buClr>
              <a:buSzPts val="1599"/>
              <a:buFont typeface="Arial"/>
              <a:buChar char="⚬"/>
            </a:pPr>
            <a:r>
              <a:rPr b="0" i="0" lang="en-US" sz="1599" u="none" cap="none" strike="noStrike">
                <a:solidFill>
                  <a:srgbClr val="737373"/>
                </a:solidFill>
                <a:latin typeface="Helvetica Neue"/>
                <a:ea typeface="Helvetica Neue"/>
                <a:cs typeface="Helvetica Neue"/>
                <a:sym typeface="Helvetica Neue"/>
              </a:rPr>
              <a:t>Data Preprocessing, Cleaning, &amp; ETL Pipelines</a:t>
            </a:r>
            <a:endParaRPr/>
          </a:p>
        </p:txBody>
      </p:sp>
      <p:cxnSp>
        <p:nvCxnSpPr>
          <p:cNvPr id="143" name="Google Shape;143;p14"/>
          <p:cNvCxnSpPr/>
          <p:nvPr/>
        </p:nvCxnSpPr>
        <p:spPr>
          <a:xfrm>
            <a:off x="12139205" y="969808"/>
            <a:ext cx="8513" cy="711336"/>
          </a:xfrm>
          <a:prstGeom prst="straightConnector1">
            <a:avLst/>
          </a:prstGeom>
          <a:noFill/>
          <a:ln cap="rnd" cmpd="sng" w="19050">
            <a:solidFill>
              <a:srgbClr val="081B64"/>
            </a:solidFill>
            <a:prstDash val="solid"/>
            <a:round/>
            <a:headEnd len="sm" w="sm" type="none"/>
            <a:tailEnd len="sm" w="sm" type="none"/>
          </a:ln>
        </p:spPr>
      </p:cxnSp>
      <p:sp>
        <p:nvSpPr>
          <p:cNvPr id="144" name="Google Shape;144;p14"/>
          <p:cNvSpPr/>
          <p:nvPr/>
        </p:nvSpPr>
        <p:spPr>
          <a:xfrm>
            <a:off x="12064775" y="900655"/>
            <a:ext cx="167897" cy="167897"/>
          </a:xfrm>
          <a:custGeom>
            <a:rect b="b" l="l" r="r" t="t"/>
            <a:pathLst>
              <a:path extrusionOk="0" h="167897" w="167897">
                <a:moveTo>
                  <a:pt x="0" y="0"/>
                </a:moveTo>
                <a:lnTo>
                  <a:pt x="167897" y="0"/>
                </a:lnTo>
                <a:lnTo>
                  <a:pt x="167897" y="167898"/>
                </a:lnTo>
                <a:lnTo>
                  <a:pt x="0" y="167898"/>
                </a:lnTo>
                <a:lnTo>
                  <a:pt x="0" y="0"/>
                </a:lnTo>
                <a:close/>
              </a:path>
            </a:pathLst>
          </a:custGeom>
          <a:blipFill rotWithShape="1">
            <a:blip r:embed="rId9">
              <a:alphaModFix/>
            </a:blip>
            <a:stretch>
              <a:fillRect b="0" l="0" r="0" t="0"/>
            </a:stretch>
          </a:blipFill>
          <a:ln>
            <a:noFill/>
          </a:ln>
        </p:spPr>
      </p:sp>
      <p:sp>
        <p:nvSpPr>
          <p:cNvPr id="145" name="Google Shape;145;p14"/>
          <p:cNvSpPr/>
          <p:nvPr/>
        </p:nvSpPr>
        <p:spPr>
          <a:xfrm>
            <a:off x="12064775" y="1681143"/>
            <a:ext cx="167897" cy="167897"/>
          </a:xfrm>
          <a:custGeom>
            <a:rect b="b" l="l" r="r" t="t"/>
            <a:pathLst>
              <a:path extrusionOk="0" h="167897" w="167897">
                <a:moveTo>
                  <a:pt x="0" y="0"/>
                </a:moveTo>
                <a:lnTo>
                  <a:pt x="167897" y="0"/>
                </a:lnTo>
                <a:lnTo>
                  <a:pt x="167897" y="167898"/>
                </a:lnTo>
                <a:lnTo>
                  <a:pt x="0" y="167898"/>
                </a:lnTo>
                <a:lnTo>
                  <a:pt x="0" y="0"/>
                </a:lnTo>
                <a:close/>
              </a:path>
            </a:pathLst>
          </a:custGeom>
          <a:blipFill rotWithShape="1">
            <a:blip r:embed="rId9">
              <a:alphaModFix/>
            </a:blip>
            <a:stretch>
              <a:fillRect b="0" l="0" r="0" t="0"/>
            </a:stretch>
          </a:blipFill>
          <a:ln>
            <a:noFill/>
          </a:ln>
        </p:spPr>
      </p:sp>
      <p:sp>
        <p:nvSpPr>
          <p:cNvPr id="146" name="Google Shape;146;p14"/>
          <p:cNvSpPr/>
          <p:nvPr/>
        </p:nvSpPr>
        <p:spPr>
          <a:xfrm flipH="1" rot="-4228920">
            <a:off x="-2183359" y="-965940"/>
            <a:ext cx="4207974" cy="3618862"/>
          </a:xfrm>
          <a:custGeom>
            <a:rect b="b" l="l" r="r" t="t"/>
            <a:pathLst>
              <a:path extrusionOk="0" h="3618862" w="4207974">
                <a:moveTo>
                  <a:pt x="4207974" y="0"/>
                </a:moveTo>
                <a:lnTo>
                  <a:pt x="0" y="0"/>
                </a:lnTo>
                <a:lnTo>
                  <a:pt x="0" y="3618862"/>
                </a:lnTo>
                <a:lnTo>
                  <a:pt x="4207974" y="3618862"/>
                </a:lnTo>
                <a:lnTo>
                  <a:pt x="4207974" y="0"/>
                </a:lnTo>
                <a:close/>
              </a:path>
            </a:pathLst>
          </a:custGeom>
          <a:blipFill rotWithShape="1">
            <a:blip r:embed="rId10">
              <a:alphaModFix amt="31000"/>
            </a:blip>
            <a:stretch>
              <a:fillRect b="-378" l="0" r="0" t="-378"/>
            </a:stretch>
          </a:blipFill>
          <a:ln>
            <a:noFill/>
          </a:ln>
        </p:spPr>
      </p:sp>
      <p:sp>
        <p:nvSpPr>
          <p:cNvPr id="147" name="Google Shape;147;p14"/>
          <p:cNvSpPr/>
          <p:nvPr/>
        </p:nvSpPr>
        <p:spPr>
          <a:xfrm>
            <a:off x="9478863" y="2905268"/>
            <a:ext cx="487204" cy="487204"/>
          </a:xfrm>
          <a:custGeom>
            <a:rect b="b" l="l" r="r" t="t"/>
            <a:pathLst>
              <a:path extrusionOk="0" h="649605" w="649605">
                <a:moveTo>
                  <a:pt x="0" y="0"/>
                </a:moveTo>
                <a:lnTo>
                  <a:pt x="649605" y="0"/>
                </a:lnTo>
                <a:lnTo>
                  <a:pt x="649605" y="649605"/>
                </a:lnTo>
                <a:lnTo>
                  <a:pt x="0" y="649605"/>
                </a:lnTo>
                <a:lnTo>
                  <a:pt x="0" y="0"/>
                </a:lnTo>
                <a:close/>
              </a:path>
            </a:pathLst>
          </a:custGeom>
          <a:blipFill rotWithShape="1">
            <a:blip r:embed="rId11">
              <a:alphaModFix/>
            </a:blip>
            <a:stretch>
              <a:fillRect b="-9" l="0" r="-9" t="0"/>
            </a:stretch>
          </a:blipFill>
          <a:ln>
            <a:noFill/>
          </a:ln>
        </p:spPr>
      </p:sp>
      <p:sp>
        <p:nvSpPr>
          <p:cNvPr id="148" name="Google Shape;148;p14"/>
          <p:cNvSpPr/>
          <p:nvPr/>
        </p:nvSpPr>
        <p:spPr>
          <a:xfrm>
            <a:off x="529676" y="1351648"/>
            <a:ext cx="3313286" cy="3313286"/>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rotWithShape="1">
            <a:blip r:embed="rId12">
              <a:alphaModFix/>
            </a:blip>
            <a:stretch>
              <a:fillRect b="-14435" l="0" r="0" t="-14435"/>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9" name="Google Shape;149;p14"/>
          <p:cNvGrpSpPr/>
          <p:nvPr/>
        </p:nvGrpSpPr>
        <p:grpSpPr>
          <a:xfrm>
            <a:off x="7604581" y="4687205"/>
            <a:ext cx="1712368" cy="468249"/>
            <a:chOff x="0" y="0"/>
            <a:chExt cx="2283158" cy="624332"/>
          </a:xfrm>
        </p:grpSpPr>
        <p:sp>
          <p:nvSpPr>
            <p:cNvPr id="150" name="Google Shape;150;p14"/>
            <p:cNvSpPr/>
            <p:nvPr/>
          </p:nvSpPr>
          <p:spPr>
            <a:xfrm>
              <a:off x="0" y="0"/>
              <a:ext cx="624332" cy="624332"/>
            </a:xfrm>
            <a:custGeom>
              <a:rect b="b" l="l" r="r" t="t"/>
              <a:pathLst>
                <a:path extrusionOk="0" h="624332" w="624332">
                  <a:moveTo>
                    <a:pt x="0" y="0"/>
                  </a:moveTo>
                  <a:lnTo>
                    <a:pt x="624332" y="0"/>
                  </a:lnTo>
                  <a:lnTo>
                    <a:pt x="624332" y="624332"/>
                  </a:lnTo>
                  <a:lnTo>
                    <a:pt x="0" y="624332"/>
                  </a:lnTo>
                  <a:lnTo>
                    <a:pt x="0" y="0"/>
                  </a:lnTo>
                  <a:close/>
                </a:path>
              </a:pathLst>
            </a:custGeom>
            <a:blipFill rotWithShape="1">
              <a:blip r:embed="rId13">
                <a:alphaModFix/>
              </a:blip>
              <a:stretch>
                <a:fillRect b="0" l="-16667" r="-16667" t="0"/>
              </a:stretch>
            </a:blipFill>
            <a:ln>
              <a:noFill/>
            </a:ln>
          </p:spPr>
        </p:sp>
        <p:sp>
          <p:nvSpPr>
            <p:cNvPr id="151" name="Google Shape;151;p14"/>
            <p:cNvSpPr txBox="1"/>
            <p:nvPr/>
          </p:nvSpPr>
          <p:spPr>
            <a:xfrm>
              <a:off x="884583" y="121666"/>
              <a:ext cx="1398575" cy="34290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b="0" i="0" lang="en-US" sz="1500" u="none" cap="none" strike="noStrike">
                  <a:solidFill>
                    <a:srgbClr val="737373"/>
                  </a:solidFill>
                  <a:latin typeface="Helvetica Neue"/>
                  <a:ea typeface="Helvetica Neue"/>
                  <a:cs typeface="Helvetica Neue"/>
                  <a:sym typeface="Helvetica Neue"/>
                </a:rPr>
                <a:t>INVENTOR</a:t>
              </a:r>
              <a:endParaRPr/>
            </a:p>
          </p:txBody>
        </p:sp>
      </p:grpSp>
      <p:sp>
        <p:nvSpPr>
          <p:cNvPr id="152" name="Google Shape;152;p14"/>
          <p:cNvSpPr/>
          <p:nvPr/>
        </p:nvSpPr>
        <p:spPr>
          <a:xfrm>
            <a:off x="5352412" y="2851452"/>
            <a:ext cx="594932" cy="594932"/>
          </a:xfrm>
          <a:custGeom>
            <a:rect b="b" l="l" r="r" t="t"/>
            <a:pathLst>
              <a:path extrusionOk="0" h="793242" w="793242">
                <a:moveTo>
                  <a:pt x="0" y="0"/>
                </a:moveTo>
                <a:lnTo>
                  <a:pt x="793242" y="0"/>
                </a:lnTo>
                <a:lnTo>
                  <a:pt x="793242" y="793242"/>
                </a:lnTo>
                <a:lnTo>
                  <a:pt x="0" y="793242"/>
                </a:lnTo>
                <a:lnTo>
                  <a:pt x="0" y="0"/>
                </a:lnTo>
                <a:close/>
              </a:path>
            </a:pathLst>
          </a:custGeom>
          <a:blipFill rotWithShape="1">
            <a:blip r:embed="rId14">
              <a:alphaModFix/>
            </a:blip>
            <a:stretch>
              <a:fillRect b="8" l="0" r="8" t="0"/>
            </a:stretch>
          </a:blipFill>
          <a:ln>
            <a:noFill/>
          </a:ln>
        </p:spPr>
      </p:sp>
      <p:grpSp>
        <p:nvGrpSpPr>
          <p:cNvPr id="153" name="Google Shape;153;p14"/>
          <p:cNvGrpSpPr/>
          <p:nvPr/>
        </p:nvGrpSpPr>
        <p:grpSpPr>
          <a:xfrm>
            <a:off x="7568991" y="3431112"/>
            <a:ext cx="1764987" cy="551177"/>
            <a:chOff x="0" y="0"/>
            <a:chExt cx="2353316" cy="734902"/>
          </a:xfrm>
        </p:grpSpPr>
        <p:sp>
          <p:nvSpPr>
            <p:cNvPr id="154" name="Google Shape;154;p14"/>
            <p:cNvSpPr/>
            <p:nvPr/>
          </p:nvSpPr>
          <p:spPr>
            <a:xfrm>
              <a:off x="0" y="0"/>
              <a:ext cx="734902" cy="734902"/>
            </a:xfrm>
            <a:custGeom>
              <a:rect b="b" l="l" r="r" t="t"/>
              <a:pathLst>
                <a:path extrusionOk="0" h="883539" w="883539">
                  <a:moveTo>
                    <a:pt x="0" y="0"/>
                  </a:moveTo>
                  <a:lnTo>
                    <a:pt x="883539" y="0"/>
                  </a:lnTo>
                  <a:lnTo>
                    <a:pt x="883539" y="883539"/>
                  </a:lnTo>
                  <a:lnTo>
                    <a:pt x="0" y="883539"/>
                  </a:lnTo>
                  <a:lnTo>
                    <a:pt x="0" y="0"/>
                  </a:lnTo>
                  <a:close/>
                </a:path>
              </a:pathLst>
            </a:custGeom>
            <a:blipFill rotWithShape="1">
              <a:blip r:embed="rId15">
                <a:alphaModFix/>
              </a:blip>
              <a:stretch>
                <a:fillRect b="0" l="-38889" r="-38889" t="0"/>
              </a:stretch>
            </a:blipFill>
            <a:ln>
              <a:noFill/>
            </a:ln>
          </p:spPr>
        </p:sp>
        <p:sp>
          <p:nvSpPr>
            <p:cNvPr id="155" name="Google Shape;155;p14"/>
            <p:cNvSpPr txBox="1"/>
            <p:nvPr/>
          </p:nvSpPr>
          <p:spPr>
            <a:xfrm>
              <a:off x="948766" y="114300"/>
              <a:ext cx="1404550" cy="34290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b="0" i="0" lang="en-US" sz="1500" u="none" cap="none" strike="noStrike">
                  <a:solidFill>
                    <a:srgbClr val="737373"/>
                  </a:solidFill>
                  <a:latin typeface="Helvetica Neue"/>
                  <a:ea typeface="Helvetica Neue"/>
                  <a:cs typeface="Helvetica Neue"/>
                  <a:sym typeface="Helvetica Neue"/>
                </a:rPr>
                <a:t>TABLEAU</a:t>
              </a:r>
              <a:endParaRPr/>
            </a:p>
          </p:txBody>
        </p:sp>
      </p:grpSp>
      <p:grpSp>
        <p:nvGrpSpPr>
          <p:cNvPr id="156" name="Google Shape;156;p14"/>
          <p:cNvGrpSpPr/>
          <p:nvPr/>
        </p:nvGrpSpPr>
        <p:grpSpPr>
          <a:xfrm>
            <a:off x="7580416" y="4064013"/>
            <a:ext cx="2263216" cy="523018"/>
            <a:chOff x="0" y="0"/>
            <a:chExt cx="3017622" cy="697357"/>
          </a:xfrm>
        </p:grpSpPr>
        <p:sp>
          <p:nvSpPr>
            <p:cNvPr id="157" name="Google Shape;157;p14"/>
            <p:cNvSpPr/>
            <p:nvPr/>
          </p:nvSpPr>
          <p:spPr>
            <a:xfrm>
              <a:off x="0" y="0"/>
              <a:ext cx="697357" cy="697357"/>
            </a:xfrm>
            <a:custGeom>
              <a:rect b="b" l="l" r="r" t="t"/>
              <a:pathLst>
                <a:path extrusionOk="0" h="697357" w="697357">
                  <a:moveTo>
                    <a:pt x="0" y="0"/>
                  </a:moveTo>
                  <a:lnTo>
                    <a:pt x="697357" y="0"/>
                  </a:lnTo>
                  <a:lnTo>
                    <a:pt x="697357" y="697357"/>
                  </a:lnTo>
                  <a:lnTo>
                    <a:pt x="0" y="697357"/>
                  </a:lnTo>
                  <a:lnTo>
                    <a:pt x="0" y="0"/>
                  </a:lnTo>
                  <a:close/>
                </a:path>
              </a:pathLst>
            </a:custGeom>
            <a:blipFill rotWithShape="1">
              <a:blip r:embed="rId16">
                <a:alphaModFix/>
              </a:blip>
              <a:stretch>
                <a:fillRect b="0" l="0" r="0" t="0"/>
              </a:stretch>
            </a:blipFill>
            <a:ln>
              <a:noFill/>
            </a:ln>
          </p:spPr>
        </p:sp>
        <p:sp>
          <p:nvSpPr>
            <p:cNvPr id="158" name="Google Shape;158;p14"/>
            <p:cNvSpPr txBox="1"/>
            <p:nvPr/>
          </p:nvSpPr>
          <p:spPr>
            <a:xfrm>
              <a:off x="951497" y="117271"/>
              <a:ext cx="2066125" cy="39370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b="0" i="0" lang="en-US" sz="1500" u="none" cap="none" strike="noStrike">
                  <a:solidFill>
                    <a:srgbClr val="737373"/>
                  </a:solidFill>
                  <a:latin typeface="Helvetica Neue"/>
                  <a:ea typeface="Helvetica Neue"/>
                  <a:cs typeface="Helvetica Neue"/>
                  <a:sym typeface="Helvetica Neue"/>
                </a:rPr>
                <a:t>SQL DATABASE</a:t>
              </a:r>
              <a:endParaRPr/>
            </a:p>
          </p:txBody>
        </p:sp>
      </p:grpSp>
      <p:sp>
        <p:nvSpPr>
          <p:cNvPr id="159" name="Google Shape;159;p14"/>
          <p:cNvSpPr/>
          <p:nvPr/>
        </p:nvSpPr>
        <p:spPr>
          <a:xfrm>
            <a:off x="5391617" y="3553501"/>
            <a:ext cx="470059" cy="443864"/>
          </a:xfrm>
          <a:custGeom>
            <a:rect b="b" l="l" r="r" t="t"/>
            <a:pathLst>
              <a:path extrusionOk="0" h="591820" w="626745">
                <a:moveTo>
                  <a:pt x="0" y="0"/>
                </a:moveTo>
                <a:lnTo>
                  <a:pt x="626745" y="0"/>
                </a:lnTo>
                <a:lnTo>
                  <a:pt x="626745" y="591820"/>
                </a:lnTo>
                <a:lnTo>
                  <a:pt x="0" y="591820"/>
                </a:lnTo>
                <a:lnTo>
                  <a:pt x="0" y="0"/>
                </a:lnTo>
                <a:close/>
              </a:path>
            </a:pathLst>
          </a:custGeom>
          <a:blipFill rotWithShape="1">
            <a:blip r:embed="rId17">
              <a:alphaModFix/>
            </a:blip>
            <a:stretch>
              <a:fillRect b="-17" l="0" r="4" t="-23"/>
            </a:stretch>
          </a:blipFill>
          <a:ln>
            <a:noFill/>
          </a:ln>
        </p:spPr>
      </p:sp>
      <p:sp>
        <p:nvSpPr>
          <p:cNvPr id="160" name="Google Shape;160;p14"/>
          <p:cNvSpPr/>
          <p:nvPr/>
        </p:nvSpPr>
        <p:spPr>
          <a:xfrm>
            <a:off x="9843633" y="4693348"/>
            <a:ext cx="468249" cy="468249"/>
          </a:xfrm>
          <a:custGeom>
            <a:rect b="b" l="l" r="r" t="t"/>
            <a:pathLst>
              <a:path extrusionOk="0" h="624332" w="624332">
                <a:moveTo>
                  <a:pt x="0" y="0"/>
                </a:moveTo>
                <a:lnTo>
                  <a:pt x="624332" y="0"/>
                </a:lnTo>
                <a:lnTo>
                  <a:pt x="624332" y="624332"/>
                </a:lnTo>
                <a:lnTo>
                  <a:pt x="0" y="624332"/>
                </a:lnTo>
                <a:lnTo>
                  <a:pt x="0" y="0"/>
                </a:lnTo>
                <a:close/>
              </a:path>
            </a:pathLst>
          </a:custGeom>
          <a:blipFill rotWithShape="1">
            <a:blip r:embed="rId18">
              <a:alphaModFix/>
            </a:blip>
            <a:stretch>
              <a:fillRect b="-1194" l="0" r="0" t="-1194"/>
            </a:stretch>
          </a:blipFill>
          <a:ln>
            <a:noFill/>
          </a:ln>
        </p:spPr>
      </p:sp>
      <p:sp>
        <p:nvSpPr>
          <p:cNvPr id="161" name="Google Shape;161;p14"/>
          <p:cNvSpPr txBox="1"/>
          <p:nvPr/>
        </p:nvSpPr>
        <p:spPr>
          <a:xfrm>
            <a:off x="6122279" y="2982081"/>
            <a:ext cx="1249785" cy="26670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b="0" i="0" lang="en-US" sz="1500" u="none" cap="none" strike="noStrike">
                <a:solidFill>
                  <a:srgbClr val="737373"/>
                </a:solidFill>
                <a:latin typeface="Helvetica Neue"/>
                <a:ea typeface="Helvetica Neue"/>
                <a:cs typeface="Helvetica Neue"/>
                <a:sym typeface="Helvetica Neue"/>
              </a:rPr>
              <a:t>PYTHON</a:t>
            </a:r>
            <a:endParaRPr/>
          </a:p>
        </p:txBody>
      </p:sp>
      <p:sp>
        <p:nvSpPr>
          <p:cNvPr id="162" name="Google Shape;162;p14"/>
          <p:cNvSpPr txBox="1"/>
          <p:nvPr/>
        </p:nvSpPr>
        <p:spPr>
          <a:xfrm>
            <a:off x="529676" y="5754183"/>
            <a:ext cx="3913356" cy="4323690"/>
          </a:xfrm>
          <a:prstGeom prst="rect">
            <a:avLst/>
          </a:prstGeom>
          <a:noFill/>
          <a:ln>
            <a:noFill/>
          </a:ln>
        </p:spPr>
        <p:txBody>
          <a:bodyPr anchorCtr="0" anchor="t" bIns="0" lIns="0" spcFirstLastPara="1" rIns="0" wrap="square" tIns="0">
            <a:spAutoFit/>
          </a:bodyPr>
          <a:lstStyle/>
          <a:p>
            <a:pPr indent="0" lvl="0" marL="0" marR="0" rtl="0" algn="just">
              <a:lnSpc>
                <a:spcPct val="139968"/>
              </a:lnSpc>
              <a:spcBef>
                <a:spcPts val="0"/>
              </a:spcBef>
              <a:spcAft>
                <a:spcPts val="0"/>
              </a:spcAft>
              <a:buNone/>
            </a:pPr>
            <a:r>
              <a:rPr b="0" i="0" lang="en-US" sz="1899" u="none" cap="none" strike="noStrike">
                <a:solidFill>
                  <a:srgbClr val="081B64"/>
                </a:solidFill>
                <a:latin typeface="Helvetica Neue"/>
                <a:ea typeface="Helvetica Neue"/>
                <a:cs typeface="Helvetica Neue"/>
                <a:sym typeface="Helvetica Neue"/>
              </a:rPr>
              <a:t>Aspiring Business Intelligence &amp; Data Analyst with 4+ years of experience in Japanese manufacturing environments, leveraging data-driven problem solving to improve production performance and operational reliability. Experienced in building dashboards, performing exploratory data analysis, and generating actionable business insights using Python, SQL, Power BI, Tableau, and Excel.</a:t>
            </a:r>
            <a:endParaRPr/>
          </a:p>
        </p:txBody>
      </p:sp>
      <p:sp>
        <p:nvSpPr>
          <p:cNvPr id="163" name="Google Shape;163;p14"/>
          <p:cNvSpPr txBox="1"/>
          <p:nvPr/>
        </p:nvSpPr>
        <p:spPr>
          <a:xfrm>
            <a:off x="529675" y="5306150"/>
            <a:ext cx="3313200" cy="246000"/>
          </a:xfrm>
          <a:prstGeom prst="rect">
            <a:avLst/>
          </a:prstGeom>
          <a:noFill/>
          <a:ln>
            <a:noFill/>
          </a:ln>
        </p:spPr>
        <p:txBody>
          <a:bodyPr anchorCtr="0" anchor="t" bIns="0" lIns="0" spcFirstLastPara="1" rIns="0" wrap="square" tIns="0">
            <a:spAutoFit/>
          </a:bodyPr>
          <a:lstStyle/>
          <a:p>
            <a:pPr indent="0" lvl="0" marL="0" marR="0" rtl="0" algn="just">
              <a:lnSpc>
                <a:spcPct val="140025"/>
              </a:lnSpc>
              <a:spcBef>
                <a:spcPts val="0"/>
              </a:spcBef>
              <a:spcAft>
                <a:spcPts val="0"/>
              </a:spcAft>
              <a:buNone/>
            </a:pPr>
            <a:r>
              <a:rPr b="0" i="0" lang="en-US" sz="1599" u="none" cap="none" strike="noStrike">
                <a:solidFill>
                  <a:srgbClr val="081B64"/>
                </a:solidFill>
                <a:latin typeface="Helvetica Neue"/>
                <a:ea typeface="Helvetica Neue"/>
                <a:cs typeface="Helvetica Neue"/>
                <a:sym typeface="Helvetica Neue"/>
              </a:rPr>
              <a:t>Aspiring Data &amp; BI Analyst</a:t>
            </a:r>
            <a:endParaRPr/>
          </a:p>
        </p:txBody>
      </p:sp>
      <p:sp>
        <p:nvSpPr>
          <p:cNvPr id="164" name="Google Shape;164;p14"/>
          <p:cNvSpPr txBox="1"/>
          <p:nvPr/>
        </p:nvSpPr>
        <p:spPr>
          <a:xfrm>
            <a:off x="5352396" y="7892225"/>
            <a:ext cx="5670900" cy="307500"/>
          </a:xfrm>
          <a:prstGeom prst="rect">
            <a:avLst/>
          </a:prstGeom>
          <a:noFill/>
          <a:ln>
            <a:noFill/>
          </a:ln>
        </p:spPr>
        <p:txBody>
          <a:bodyPr anchorCtr="0" anchor="t" bIns="0" lIns="0" spcFirstLastPara="1" rIns="0" wrap="square" tIns="0">
            <a:spAutoFit/>
          </a:bodyPr>
          <a:lstStyle/>
          <a:p>
            <a:pPr indent="0" lvl="0" marL="0" marR="0" rtl="0" algn="l">
              <a:lnSpc>
                <a:spcPct val="120030"/>
              </a:lnSpc>
              <a:spcBef>
                <a:spcPts val="0"/>
              </a:spcBef>
              <a:spcAft>
                <a:spcPts val="0"/>
              </a:spcAft>
              <a:buNone/>
            </a:pPr>
            <a:r>
              <a:rPr b="1" i="0" lang="en-US" sz="1997" u="none" cap="none" strike="noStrike">
                <a:solidFill>
                  <a:srgbClr val="081B64"/>
                </a:solidFill>
                <a:latin typeface="Helvetica Neue"/>
                <a:ea typeface="Helvetica Neue"/>
                <a:cs typeface="Helvetica Neue"/>
                <a:sym typeface="Helvetica Neue"/>
              </a:rPr>
              <a:t>KEY COMPETENCIES &amp; PROJECTS</a:t>
            </a:r>
            <a:endParaRPr/>
          </a:p>
        </p:txBody>
      </p:sp>
      <p:sp>
        <p:nvSpPr>
          <p:cNvPr id="165" name="Google Shape;165;p14"/>
          <p:cNvSpPr txBox="1"/>
          <p:nvPr/>
        </p:nvSpPr>
        <p:spPr>
          <a:xfrm>
            <a:off x="4899955" y="402593"/>
            <a:ext cx="1990820" cy="304800"/>
          </a:xfrm>
          <a:prstGeom prst="rect">
            <a:avLst/>
          </a:prstGeom>
          <a:noFill/>
          <a:ln>
            <a:noFill/>
          </a:ln>
        </p:spPr>
        <p:txBody>
          <a:bodyPr anchorCtr="0" anchor="t" bIns="0" lIns="0" spcFirstLastPara="1" rIns="0" wrap="square" tIns="0">
            <a:spAutoFit/>
          </a:bodyPr>
          <a:lstStyle/>
          <a:p>
            <a:pPr indent="0" lvl="0" marL="0" marR="0" rtl="0" algn="r">
              <a:lnSpc>
                <a:spcPct val="120030"/>
              </a:lnSpc>
              <a:spcBef>
                <a:spcPts val="0"/>
              </a:spcBef>
              <a:spcAft>
                <a:spcPts val="0"/>
              </a:spcAft>
              <a:buNone/>
            </a:pPr>
            <a:r>
              <a:rPr b="1" i="0" lang="en-US" sz="1997" u="none" cap="none" strike="noStrike">
                <a:solidFill>
                  <a:srgbClr val="081B64"/>
                </a:solidFill>
                <a:latin typeface="Helvetica Neue"/>
                <a:ea typeface="Helvetica Neue"/>
                <a:cs typeface="Helvetica Neue"/>
                <a:sym typeface="Helvetica Neue"/>
              </a:rPr>
              <a:t>EDUCATION</a:t>
            </a:r>
            <a:endParaRPr/>
          </a:p>
        </p:txBody>
      </p:sp>
      <p:sp>
        <p:nvSpPr>
          <p:cNvPr id="166" name="Google Shape;166;p14"/>
          <p:cNvSpPr txBox="1"/>
          <p:nvPr/>
        </p:nvSpPr>
        <p:spPr>
          <a:xfrm>
            <a:off x="5390495" y="764550"/>
            <a:ext cx="1533300" cy="246000"/>
          </a:xfrm>
          <a:prstGeom prst="rect">
            <a:avLst/>
          </a:prstGeom>
          <a:noFill/>
          <a:ln>
            <a:noFill/>
          </a:ln>
        </p:spPr>
        <p:txBody>
          <a:bodyPr anchorCtr="0" anchor="t" bIns="0" lIns="0" spcFirstLastPara="1" rIns="0" wrap="square" tIns="0">
            <a:spAutoFit/>
          </a:bodyPr>
          <a:lstStyle/>
          <a:p>
            <a:pPr indent="0" lvl="0" marL="0" marR="0" rtl="0" algn="just">
              <a:lnSpc>
                <a:spcPct val="140025"/>
              </a:lnSpc>
              <a:spcBef>
                <a:spcPts val="0"/>
              </a:spcBef>
              <a:spcAft>
                <a:spcPts val="0"/>
              </a:spcAft>
              <a:buNone/>
            </a:pPr>
            <a:r>
              <a:rPr b="0" i="0" lang="en-US" sz="1599" u="none" cap="none" strike="noStrike">
                <a:solidFill>
                  <a:srgbClr val="737373"/>
                </a:solidFill>
                <a:latin typeface="Helvetica Neue"/>
                <a:ea typeface="Helvetica Neue"/>
                <a:cs typeface="Helvetica Neue"/>
                <a:sym typeface="Helvetica Neue"/>
              </a:rPr>
              <a:t>2022 - 2026</a:t>
            </a:r>
            <a:endParaRPr/>
          </a:p>
        </p:txBody>
      </p:sp>
      <p:sp>
        <p:nvSpPr>
          <p:cNvPr id="167" name="Google Shape;167;p14"/>
          <p:cNvSpPr txBox="1"/>
          <p:nvPr/>
        </p:nvSpPr>
        <p:spPr>
          <a:xfrm>
            <a:off x="6981406" y="764543"/>
            <a:ext cx="4820772" cy="289560"/>
          </a:xfrm>
          <a:prstGeom prst="rect">
            <a:avLst/>
          </a:prstGeom>
          <a:noFill/>
          <a:ln>
            <a:noFill/>
          </a:ln>
        </p:spPr>
        <p:txBody>
          <a:bodyPr anchorCtr="0" anchor="t" bIns="0" lIns="0" spcFirstLastPara="1" rIns="0" wrap="square" tIns="0">
            <a:spAutoFit/>
          </a:bodyPr>
          <a:lstStyle/>
          <a:p>
            <a:pPr indent="0" lvl="0" marL="0" marR="0" rtl="0" algn="just">
              <a:lnSpc>
                <a:spcPct val="140025"/>
              </a:lnSpc>
              <a:spcBef>
                <a:spcPts val="0"/>
              </a:spcBef>
              <a:spcAft>
                <a:spcPts val="0"/>
              </a:spcAft>
              <a:buNone/>
            </a:pPr>
            <a:r>
              <a:rPr b="1" i="0" lang="en-US" sz="1599" u="none" cap="none" strike="noStrike">
                <a:solidFill>
                  <a:srgbClr val="081B64"/>
                </a:solidFill>
                <a:latin typeface="Helvetica Neue"/>
                <a:ea typeface="Helvetica Neue"/>
                <a:cs typeface="Helvetica Neue"/>
                <a:sym typeface="Helvetica Neue"/>
              </a:rPr>
              <a:t>Bachelor of Japanese Language and Literature</a:t>
            </a:r>
            <a:endParaRPr/>
          </a:p>
        </p:txBody>
      </p:sp>
      <p:sp>
        <p:nvSpPr>
          <p:cNvPr id="168" name="Google Shape;168;p14"/>
          <p:cNvSpPr txBox="1"/>
          <p:nvPr/>
        </p:nvSpPr>
        <p:spPr>
          <a:xfrm>
            <a:off x="6981396" y="1092150"/>
            <a:ext cx="3816600" cy="246000"/>
          </a:xfrm>
          <a:prstGeom prst="rect">
            <a:avLst/>
          </a:prstGeom>
          <a:noFill/>
          <a:ln>
            <a:noFill/>
          </a:ln>
        </p:spPr>
        <p:txBody>
          <a:bodyPr anchorCtr="0" anchor="t" bIns="0" lIns="0" spcFirstLastPara="1" rIns="0" wrap="square" tIns="0">
            <a:spAutoFit/>
          </a:bodyPr>
          <a:lstStyle/>
          <a:p>
            <a:pPr indent="0" lvl="0" marL="0" marR="0" rtl="0" algn="just">
              <a:lnSpc>
                <a:spcPct val="140025"/>
              </a:lnSpc>
              <a:spcBef>
                <a:spcPts val="0"/>
              </a:spcBef>
              <a:spcAft>
                <a:spcPts val="0"/>
              </a:spcAft>
              <a:buNone/>
            </a:pPr>
            <a:r>
              <a:rPr b="0" i="0" lang="en-US" sz="1599" u="none" cap="none" strike="noStrike">
                <a:solidFill>
                  <a:srgbClr val="737373"/>
                </a:solidFill>
                <a:latin typeface="Helvetica Neue"/>
                <a:ea typeface="Helvetica Neue"/>
                <a:cs typeface="Helvetica Neue"/>
                <a:sym typeface="Helvetica Neue"/>
              </a:rPr>
              <a:t>Universitas Ngudi Waluyo</a:t>
            </a:r>
            <a:endParaRPr/>
          </a:p>
        </p:txBody>
      </p:sp>
      <p:sp>
        <p:nvSpPr>
          <p:cNvPr id="169" name="Google Shape;169;p14"/>
          <p:cNvSpPr txBox="1"/>
          <p:nvPr/>
        </p:nvSpPr>
        <p:spPr>
          <a:xfrm>
            <a:off x="5372576" y="1460200"/>
            <a:ext cx="1608900" cy="246000"/>
          </a:xfrm>
          <a:prstGeom prst="rect">
            <a:avLst/>
          </a:prstGeom>
          <a:noFill/>
          <a:ln>
            <a:noFill/>
          </a:ln>
        </p:spPr>
        <p:txBody>
          <a:bodyPr anchorCtr="0" anchor="t" bIns="0" lIns="0" spcFirstLastPara="1" rIns="0" wrap="square" tIns="0">
            <a:spAutoFit/>
          </a:bodyPr>
          <a:lstStyle/>
          <a:p>
            <a:pPr indent="0" lvl="0" marL="0" marR="0" rtl="0" algn="just">
              <a:lnSpc>
                <a:spcPct val="140025"/>
              </a:lnSpc>
              <a:spcBef>
                <a:spcPts val="0"/>
              </a:spcBef>
              <a:spcAft>
                <a:spcPts val="0"/>
              </a:spcAft>
              <a:buNone/>
            </a:pPr>
            <a:r>
              <a:rPr b="0" i="0" lang="en-US" sz="1599" u="none" cap="none" strike="noStrike">
                <a:solidFill>
                  <a:srgbClr val="737373"/>
                </a:solidFill>
                <a:latin typeface="Helvetica Neue"/>
                <a:ea typeface="Helvetica Neue"/>
                <a:cs typeface="Helvetica Neue"/>
                <a:sym typeface="Helvetica Neue"/>
              </a:rPr>
              <a:t>2026 - Present</a:t>
            </a:r>
            <a:endParaRPr/>
          </a:p>
        </p:txBody>
      </p:sp>
      <p:sp>
        <p:nvSpPr>
          <p:cNvPr id="170" name="Google Shape;170;p14"/>
          <p:cNvSpPr txBox="1"/>
          <p:nvPr/>
        </p:nvSpPr>
        <p:spPr>
          <a:xfrm>
            <a:off x="6981406" y="1442037"/>
            <a:ext cx="3816600" cy="311700"/>
          </a:xfrm>
          <a:prstGeom prst="rect">
            <a:avLst/>
          </a:prstGeom>
          <a:noFill/>
          <a:ln>
            <a:noFill/>
          </a:ln>
        </p:spPr>
        <p:txBody>
          <a:bodyPr anchorCtr="0" anchor="t" bIns="0" lIns="0" spcFirstLastPara="1" rIns="0" wrap="square" tIns="0">
            <a:spAutoFit/>
          </a:bodyPr>
          <a:lstStyle/>
          <a:p>
            <a:pPr indent="0" lvl="0" marL="0" marR="0" rtl="0" algn="just">
              <a:lnSpc>
                <a:spcPct val="140025"/>
              </a:lnSpc>
              <a:spcBef>
                <a:spcPts val="0"/>
              </a:spcBef>
              <a:spcAft>
                <a:spcPts val="0"/>
              </a:spcAft>
              <a:buNone/>
            </a:pPr>
            <a:r>
              <a:rPr b="1" i="0" lang="en-US" sz="1599" u="none" cap="none" strike="noStrike">
                <a:solidFill>
                  <a:srgbClr val="081B64"/>
                </a:solidFill>
                <a:latin typeface="Helvetica Neue"/>
                <a:ea typeface="Helvetica Neue"/>
                <a:cs typeface="Helvetica Neue"/>
                <a:sym typeface="Helvetica Neue"/>
              </a:rPr>
              <a:t>Data Analytics &amp; Business Intelligence</a:t>
            </a:r>
            <a:endParaRPr/>
          </a:p>
        </p:txBody>
      </p:sp>
      <p:sp>
        <p:nvSpPr>
          <p:cNvPr id="171" name="Google Shape;171;p14"/>
          <p:cNvSpPr txBox="1"/>
          <p:nvPr/>
        </p:nvSpPr>
        <p:spPr>
          <a:xfrm>
            <a:off x="6981406" y="1754638"/>
            <a:ext cx="3816544" cy="292732"/>
          </a:xfrm>
          <a:prstGeom prst="rect">
            <a:avLst/>
          </a:prstGeom>
          <a:noFill/>
          <a:ln>
            <a:noFill/>
          </a:ln>
        </p:spPr>
        <p:txBody>
          <a:bodyPr anchorCtr="0" anchor="t" bIns="0" lIns="0" spcFirstLastPara="1" rIns="0" wrap="square" tIns="0">
            <a:spAutoFit/>
          </a:bodyPr>
          <a:lstStyle/>
          <a:p>
            <a:pPr indent="0" lvl="0" marL="0" marR="0" rtl="0" algn="just">
              <a:lnSpc>
                <a:spcPct val="140025"/>
              </a:lnSpc>
              <a:spcBef>
                <a:spcPts val="0"/>
              </a:spcBef>
              <a:spcAft>
                <a:spcPts val="0"/>
              </a:spcAft>
              <a:buNone/>
            </a:pPr>
            <a:r>
              <a:rPr b="0" i="0" lang="en-US" sz="1599" u="none" cap="none" strike="noStrike">
                <a:solidFill>
                  <a:srgbClr val="737373"/>
                </a:solidFill>
                <a:latin typeface="Helvetica Neue"/>
                <a:ea typeface="Helvetica Neue"/>
                <a:cs typeface="Helvetica Neue"/>
                <a:sym typeface="Helvetica Neue"/>
              </a:rPr>
              <a:t>Bootcamp — Dibimbing.id</a:t>
            </a:r>
            <a:endParaRPr/>
          </a:p>
        </p:txBody>
      </p:sp>
      <p:sp>
        <p:nvSpPr>
          <p:cNvPr id="172" name="Google Shape;172;p14"/>
          <p:cNvSpPr txBox="1"/>
          <p:nvPr/>
        </p:nvSpPr>
        <p:spPr>
          <a:xfrm>
            <a:off x="5391617" y="2379640"/>
            <a:ext cx="2426532" cy="304800"/>
          </a:xfrm>
          <a:prstGeom prst="rect">
            <a:avLst/>
          </a:prstGeom>
          <a:noFill/>
          <a:ln>
            <a:noFill/>
          </a:ln>
        </p:spPr>
        <p:txBody>
          <a:bodyPr anchorCtr="0" anchor="t" bIns="0" lIns="0" spcFirstLastPara="1" rIns="0" wrap="square" tIns="0">
            <a:spAutoFit/>
          </a:bodyPr>
          <a:lstStyle/>
          <a:p>
            <a:pPr indent="0" lvl="0" marL="0" marR="0" rtl="0" algn="r">
              <a:lnSpc>
                <a:spcPct val="120030"/>
              </a:lnSpc>
              <a:spcBef>
                <a:spcPts val="0"/>
              </a:spcBef>
              <a:spcAft>
                <a:spcPts val="0"/>
              </a:spcAft>
              <a:buNone/>
            </a:pPr>
            <a:r>
              <a:rPr b="1" i="0" lang="en-US" sz="1997" u="none" cap="none" strike="noStrike">
                <a:solidFill>
                  <a:srgbClr val="081B64"/>
                </a:solidFill>
                <a:latin typeface="Helvetica Neue"/>
                <a:ea typeface="Helvetica Neue"/>
                <a:cs typeface="Helvetica Neue"/>
                <a:sym typeface="Helvetica Neue"/>
              </a:rPr>
              <a:t>SOFTWARE SKILLS</a:t>
            </a:r>
            <a:endParaRPr/>
          </a:p>
        </p:txBody>
      </p:sp>
      <p:sp>
        <p:nvSpPr>
          <p:cNvPr id="173" name="Google Shape;173;p14"/>
          <p:cNvSpPr txBox="1"/>
          <p:nvPr/>
        </p:nvSpPr>
        <p:spPr>
          <a:xfrm>
            <a:off x="6122279" y="4756023"/>
            <a:ext cx="1059285" cy="30480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b="0" i="0" lang="en-US" sz="1500" u="none" cap="none" strike="noStrike">
                <a:solidFill>
                  <a:srgbClr val="737373"/>
                </a:solidFill>
                <a:latin typeface="Helvetica Neue"/>
                <a:ea typeface="Helvetica Neue"/>
                <a:cs typeface="Helvetica Neue"/>
                <a:sym typeface="Helvetica Neue"/>
              </a:rPr>
              <a:t>AUTOCAD</a:t>
            </a:r>
            <a:endParaRPr/>
          </a:p>
        </p:txBody>
      </p:sp>
      <p:sp>
        <p:nvSpPr>
          <p:cNvPr id="174" name="Google Shape;174;p14"/>
          <p:cNvSpPr txBox="1"/>
          <p:nvPr/>
        </p:nvSpPr>
        <p:spPr>
          <a:xfrm>
            <a:off x="8290547" y="2943981"/>
            <a:ext cx="1186491" cy="30480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b="0" i="0" lang="en-US" sz="1500" u="none" cap="none" strike="noStrike">
                <a:solidFill>
                  <a:srgbClr val="737373"/>
                </a:solidFill>
                <a:latin typeface="Helvetica Neue"/>
                <a:ea typeface="Helvetica Neue"/>
                <a:cs typeface="Helvetica Neue"/>
                <a:sym typeface="Helvetica Neue"/>
              </a:rPr>
              <a:t>POWER BI</a:t>
            </a:r>
            <a:endParaRPr/>
          </a:p>
        </p:txBody>
      </p:sp>
      <p:sp>
        <p:nvSpPr>
          <p:cNvPr id="175" name="Google Shape;175;p14"/>
          <p:cNvSpPr txBox="1"/>
          <p:nvPr/>
        </p:nvSpPr>
        <p:spPr>
          <a:xfrm>
            <a:off x="5905443" y="4219804"/>
            <a:ext cx="1533154" cy="30480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b="0" i="0" lang="en-US" sz="1500" u="none" cap="none" strike="noStrike">
                <a:solidFill>
                  <a:srgbClr val="737373"/>
                </a:solidFill>
                <a:latin typeface="Helvetica Neue"/>
                <a:ea typeface="Helvetica Neue"/>
                <a:cs typeface="Helvetica Neue"/>
                <a:sym typeface="Helvetica Neue"/>
              </a:rPr>
              <a:t>MICROSOFT 365</a:t>
            </a:r>
            <a:endParaRPr/>
          </a:p>
        </p:txBody>
      </p:sp>
      <p:sp>
        <p:nvSpPr>
          <p:cNvPr id="176" name="Google Shape;176;p14"/>
          <p:cNvSpPr txBox="1"/>
          <p:nvPr/>
        </p:nvSpPr>
        <p:spPr>
          <a:xfrm>
            <a:off x="6125261" y="3575396"/>
            <a:ext cx="1211213" cy="26670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b="0" i="0" lang="en-US" sz="1500" u="none" cap="none" strike="noStrike">
                <a:solidFill>
                  <a:srgbClr val="737373"/>
                </a:solidFill>
                <a:latin typeface="Helvetica Neue"/>
                <a:ea typeface="Helvetica Neue"/>
                <a:cs typeface="Helvetica Neue"/>
                <a:sym typeface="Helvetica Neue"/>
              </a:rPr>
              <a:t>EXCEL</a:t>
            </a:r>
            <a:endParaRPr/>
          </a:p>
        </p:txBody>
      </p:sp>
      <p:sp>
        <p:nvSpPr>
          <p:cNvPr id="177" name="Google Shape;177;p14"/>
          <p:cNvSpPr txBox="1"/>
          <p:nvPr/>
        </p:nvSpPr>
        <p:spPr>
          <a:xfrm>
            <a:off x="5071682" y="5630351"/>
            <a:ext cx="2726322" cy="304800"/>
          </a:xfrm>
          <a:prstGeom prst="rect">
            <a:avLst/>
          </a:prstGeom>
          <a:noFill/>
          <a:ln>
            <a:noFill/>
          </a:ln>
        </p:spPr>
        <p:txBody>
          <a:bodyPr anchorCtr="0" anchor="t" bIns="0" lIns="0" spcFirstLastPara="1" rIns="0" wrap="square" tIns="0">
            <a:spAutoFit/>
          </a:bodyPr>
          <a:lstStyle/>
          <a:p>
            <a:pPr indent="0" lvl="0" marL="0" marR="0" rtl="0" algn="r">
              <a:lnSpc>
                <a:spcPct val="120030"/>
              </a:lnSpc>
              <a:spcBef>
                <a:spcPts val="0"/>
              </a:spcBef>
              <a:spcAft>
                <a:spcPts val="0"/>
              </a:spcAft>
              <a:buNone/>
            </a:pPr>
            <a:r>
              <a:rPr b="1" i="0" lang="en-US" sz="1997" u="none" cap="none" strike="noStrike">
                <a:solidFill>
                  <a:srgbClr val="081B64"/>
                </a:solidFill>
                <a:latin typeface="Helvetica Neue"/>
                <a:ea typeface="Helvetica Neue"/>
                <a:cs typeface="Helvetica Neue"/>
                <a:sym typeface="Helvetica Neue"/>
              </a:rPr>
              <a:t>TECHNICAL SKILLS</a:t>
            </a:r>
            <a:endParaRPr/>
          </a:p>
        </p:txBody>
      </p:sp>
      <p:sp>
        <p:nvSpPr>
          <p:cNvPr id="178" name="Google Shape;178;p14"/>
          <p:cNvSpPr txBox="1"/>
          <p:nvPr/>
        </p:nvSpPr>
        <p:spPr>
          <a:xfrm>
            <a:off x="5371462" y="5992301"/>
            <a:ext cx="3598688" cy="311782"/>
          </a:xfrm>
          <a:prstGeom prst="rect">
            <a:avLst/>
          </a:prstGeom>
          <a:noFill/>
          <a:ln>
            <a:noFill/>
          </a:ln>
        </p:spPr>
        <p:txBody>
          <a:bodyPr anchorCtr="0" anchor="t" bIns="0" lIns="0" spcFirstLastPara="1" rIns="0" wrap="square" tIns="0">
            <a:spAutoFit/>
          </a:bodyPr>
          <a:lstStyle/>
          <a:p>
            <a:pPr indent="0" lvl="0" marL="0" marR="0" rtl="0" algn="just">
              <a:lnSpc>
                <a:spcPct val="140025"/>
              </a:lnSpc>
              <a:spcBef>
                <a:spcPts val="0"/>
              </a:spcBef>
              <a:spcAft>
                <a:spcPts val="0"/>
              </a:spcAft>
              <a:buNone/>
            </a:pPr>
            <a:r>
              <a:rPr b="1" i="0" lang="en-US" sz="1599" u="none" cap="none" strike="noStrike">
                <a:solidFill>
                  <a:srgbClr val="081B64"/>
                </a:solidFill>
                <a:latin typeface="Helvetica Neue"/>
                <a:ea typeface="Helvetica Neue"/>
                <a:cs typeface="Helvetica Neue"/>
                <a:sym typeface="Helvetica Neue"/>
              </a:rPr>
              <a:t>Hard Skills : </a:t>
            </a:r>
            <a:endParaRPr/>
          </a:p>
        </p:txBody>
      </p:sp>
      <p:sp>
        <p:nvSpPr>
          <p:cNvPr id="179" name="Google Shape;179;p14"/>
          <p:cNvSpPr txBox="1"/>
          <p:nvPr/>
        </p:nvSpPr>
        <p:spPr>
          <a:xfrm>
            <a:off x="6642392" y="6011351"/>
            <a:ext cx="5012398" cy="540385"/>
          </a:xfrm>
          <a:prstGeom prst="rect">
            <a:avLst/>
          </a:prstGeom>
          <a:noFill/>
          <a:ln>
            <a:noFill/>
          </a:ln>
        </p:spPr>
        <p:txBody>
          <a:bodyPr anchorCtr="0" anchor="t" bIns="0" lIns="0" spcFirstLastPara="1" rIns="0" wrap="square" tIns="0">
            <a:spAutoFit/>
          </a:bodyPr>
          <a:lstStyle/>
          <a:p>
            <a:pPr indent="0" lvl="0" marL="0" marR="0" rtl="0" algn="just">
              <a:lnSpc>
                <a:spcPct val="140025"/>
              </a:lnSpc>
              <a:spcBef>
                <a:spcPts val="0"/>
              </a:spcBef>
              <a:spcAft>
                <a:spcPts val="0"/>
              </a:spcAft>
              <a:buNone/>
            </a:pPr>
            <a:r>
              <a:rPr b="0" i="0" lang="en-US" sz="1599" u="none" cap="none" strike="noStrike">
                <a:solidFill>
                  <a:srgbClr val="737373"/>
                </a:solidFill>
                <a:latin typeface="Helvetica Neue"/>
                <a:ea typeface="Helvetica Neue"/>
                <a:cs typeface="Helvetica Neue"/>
                <a:sym typeface="Helvetica Neue"/>
              </a:rPr>
              <a:t>Data &amp; BI | Database &amp; Querying  |  Data Processing &amp; Programming   |  Data Analysis    |   Engineering</a:t>
            </a:r>
            <a:endParaRPr/>
          </a:p>
        </p:txBody>
      </p:sp>
      <p:sp>
        <p:nvSpPr>
          <p:cNvPr id="180" name="Google Shape;180;p14"/>
          <p:cNvSpPr txBox="1"/>
          <p:nvPr/>
        </p:nvSpPr>
        <p:spPr>
          <a:xfrm>
            <a:off x="11502800" y="402593"/>
            <a:ext cx="2426532" cy="304800"/>
          </a:xfrm>
          <a:prstGeom prst="rect">
            <a:avLst/>
          </a:prstGeom>
          <a:noFill/>
          <a:ln>
            <a:noFill/>
          </a:ln>
        </p:spPr>
        <p:txBody>
          <a:bodyPr anchorCtr="0" anchor="t" bIns="0" lIns="0" spcFirstLastPara="1" rIns="0" wrap="square" tIns="0">
            <a:spAutoFit/>
          </a:bodyPr>
          <a:lstStyle/>
          <a:p>
            <a:pPr indent="0" lvl="0" marL="0" marR="0" rtl="0" algn="r">
              <a:lnSpc>
                <a:spcPct val="120030"/>
              </a:lnSpc>
              <a:spcBef>
                <a:spcPts val="0"/>
              </a:spcBef>
              <a:spcAft>
                <a:spcPts val="0"/>
              </a:spcAft>
              <a:buNone/>
            </a:pPr>
            <a:r>
              <a:rPr b="1" i="0" lang="en-US" sz="1997" u="none" cap="none" strike="noStrike">
                <a:solidFill>
                  <a:srgbClr val="081B64"/>
                </a:solidFill>
                <a:latin typeface="Helvetica Neue"/>
                <a:ea typeface="Helvetica Neue"/>
                <a:cs typeface="Helvetica Neue"/>
                <a:sym typeface="Helvetica Neue"/>
              </a:rPr>
              <a:t>EXPERIENCES</a:t>
            </a:r>
            <a:endParaRPr/>
          </a:p>
        </p:txBody>
      </p:sp>
      <p:sp>
        <p:nvSpPr>
          <p:cNvPr id="181" name="Google Shape;181;p14"/>
          <p:cNvSpPr txBox="1"/>
          <p:nvPr/>
        </p:nvSpPr>
        <p:spPr>
          <a:xfrm>
            <a:off x="12447280" y="1515342"/>
            <a:ext cx="3598688" cy="29972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b="1" i="0" lang="en-US" sz="1700" u="none" cap="none" strike="noStrike">
                <a:solidFill>
                  <a:srgbClr val="081B64"/>
                </a:solidFill>
                <a:latin typeface="Helvetica Neue"/>
                <a:ea typeface="Helvetica Neue"/>
                <a:cs typeface="Helvetica Neue"/>
                <a:sym typeface="Helvetica Neue"/>
              </a:rPr>
              <a:t>Mechanical Engineering</a:t>
            </a:r>
            <a:endParaRPr/>
          </a:p>
        </p:txBody>
      </p:sp>
      <p:sp>
        <p:nvSpPr>
          <p:cNvPr id="182" name="Google Shape;182;p14"/>
          <p:cNvSpPr txBox="1"/>
          <p:nvPr/>
        </p:nvSpPr>
        <p:spPr>
          <a:xfrm>
            <a:off x="12480607" y="1948405"/>
            <a:ext cx="3598688" cy="28067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b="0" i="0" lang="en-US" sz="1700" u="none" cap="none" strike="noStrike">
                <a:solidFill>
                  <a:srgbClr val="737373"/>
                </a:solidFill>
                <a:latin typeface="Helvetica Neue"/>
                <a:ea typeface="Helvetica Neue"/>
                <a:cs typeface="Helvetica Neue"/>
                <a:sym typeface="Helvetica Neue"/>
              </a:rPr>
              <a:t>PT Techpack Asia (Albea Group)</a:t>
            </a:r>
            <a:endParaRPr/>
          </a:p>
        </p:txBody>
      </p:sp>
      <p:sp>
        <p:nvSpPr>
          <p:cNvPr id="183" name="Google Shape;183;p14"/>
          <p:cNvSpPr txBox="1"/>
          <p:nvPr/>
        </p:nvSpPr>
        <p:spPr>
          <a:xfrm>
            <a:off x="15857620" y="1539491"/>
            <a:ext cx="2022806" cy="264160"/>
          </a:xfrm>
          <a:prstGeom prst="rect">
            <a:avLst/>
          </a:prstGeom>
          <a:noFill/>
          <a:ln>
            <a:noFill/>
          </a:ln>
        </p:spPr>
        <p:txBody>
          <a:bodyPr anchorCtr="0" anchor="t" bIns="0" lIns="0" spcFirstLastPara="1" rIns="0" wrap="square" tIns="0">
            <a:spAutoFit/>
          </a:bodyPr>
          <a:lstStyle/>
          <a:p>
            <a:pPr indent="0" lvl="0" marL="0" marR="0" rtl="0" algn="just">
              <a:lnSpc>
                <a:spcPct val="140025"/>
              </a:lnSpc>
              <a:spcBef>
                <a:spcPts val="0"/>
              </a:spcBef>
              <a:spcAft>
                <a:spcPts val="0"/>
              </a:spcAft>
              <a:buNone/>
            </a:pPr>
            <a:r>
              <a:rPr b="0" i="0" lang="en-US" sz="1599" u="none" cap="none" strike="noStrike">
                <a:solidFill>
                  <a:srgbClr val="737373"/>
                </a:solidFill>
                <a:latin typeface="Helvetica Neue"/>
                <a:ea typeface="Helvetica Neue"/>
                <a:cs typeface="Helvetica Neue"/>
                <a:sym typeface="Helvetica Neue"/>
              </a:rPr>
              <a:t>Jan 2020 – May 2022</a:t>
            </a:r>
            <a:endParaRPr/>
          </a:p>
        </p:txBody>
      </p:sp>
      <p:sp>
        <p:nvSpPr>
          <p:cNvPr id="184" name="Google Shape;184;p14"/>
          <p:cNvSpPr txBox="1"/>
          <p:nvPr/>
        </p:nvSpPr>
        <p:spPr>
          <a:xfrm>
            <a:off x="12447003" y="755018"/>
            <a:ext cx="3598688" cy="29972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b="1" i="0" lang="en-US" sz="1700" u="none" cap="none" strike="noStrike">
                <a:solidFill>
                  <a:srgbClr val="081B64"/>
                </a:solidFill>
                <a:latin typeface="Helvetica Neue"/>
                <a:ea typeface="Helvetica Neue"/>
                <a:cs typeface="Helvetica Neue"/>
                <a:sym typeface="Helvetica Neue"/>
              </a:rPr>
              <a:t>Automotive Paint Technician </a:t>
            </a:r>
            <a:endParaRPr/>
          </a:p>
        </p:txBody>
      </p:sp>
      <p:sp>
        <p:nvSpPr>
          <p:cNvPr id="185" name="Google Shape;185;p14"/>
          <p:cNvSpPr txBox="1"/>
          <p:nvPr/>
        </p:nvSpPr>
        <p:spPr>
          <a:xfrm>
            <a:off x="12447003" y="1092156"/>
            <a:ext cx="3598688" cy="28067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b="0" i="0" lang="en-US" sz="1700" u="none" cap="none" strike="noStrike">
                <a:solidFill>
                  <a:srgbClr val="737373"/>
                </a:solidFill>
                <a:latin typeface="Helvetica Neue"/>
                <a:ea typeface="Helvetica Neue"/>
                <a:cs typeface="Helvetica Neue"/>
                <a:sym typeface="Helvetica Neue"/>
              </a:rPr>
              <a:t>Giken Co., Ltd.</a:t>
            </a:r>
            <a:endParaRPr/>
          </a:p>
        </p:txBody>
      </p:sp>
      <p:sp>
        <p:nvSpPr>
          <p:cNvPr id="186" name="Google Shape;186;p14"/>
          <p:cNvSpPr txBox="1"/>
          <p:nvPr/>
        </p:nvSpPr>
        <p:spPr>
          <a:xfrm>
            <a:off x="15857620" y="805186"/>
            <a:ext cx="1835725" cy="264160"/>
          </a:xfrm>
          <a:prstGeom prst="rect">
            <a:avLst/>
          </a:prstGeom>
          <a:noFill/>
          <a:ln>
            <a:noFill/>
          </a:ln>
        </p:spPr>
        <p:txBody>
          <a:bodyPr anchorCtr="0" anchor="t" bIns="0" lIns="0" spcFirstLastPara="1" rIns="0" wrap="square" tIns="0">
            <a:spAutoFit/>
          </a:bodyPr>
          <a:lstStyle/>
          <a:p>
            <a:pPr indent="0" lvl="0" marL="0" marR="0" rtl="0" algn="l">
              <a:lnSpc>
                <a:spcPct val="140025"/>
              </a:lnSpc>
              <a:spcBef>
                <a:spcPts val="0"/>
              </a:spcBef>
              <a:spcAft>
                <a:spcPts val="0"/>
              </a:spcAft>
              <a:buNone/>
            </a:pPr>
            <a:r>
              <a:rPr b="0" i="0" lang="en-US" sz="1599" u="none" cap="none" strike="noStrike">
                <a:solidFill>
                  <a:srgbClr val="737373"/>
                </a:solidFill>
                <a:latin typeface="Helvetica Neue"/>
                <a:ea typeface="Helvetica Neue"/>
                <a:cs typeface="Helvetica Neue"/>
                <a:sym typeface="Helvetica Neue"/>
              </a:rPr>
              <a:t>Jun 2022 – Present</a:t>
            </a:r>
            <a:endParaRPr/>
          </a:p>
        </p:txBody>
      </p:sp>
      <p:sp>
        <p:nvSpPr>
          <p:cNvPr id="187" name="Google Shape;187;p14"/>
          <p:cNvSpPr txBox="1"/>
          <p:nvPr/>
        </p:nvSpPr>
        <p:spPr>
          <a:xfrm>
            <a:off x="10077929" y="2995860"/>
            <a:ext cx="1967386" cy="26670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b="0" i="0" lang="en-US" sz="1500" u="none" cap="none" strike="noStrike">
                <a:solidFill>
                  <a:srgbClr val="737373"/>
                </a:solidFill>
                <a:latin typeface="Helvetica Neue"/>
                <a:ea typeface="Helvetica Neue"/>
                <a:cs typeface="Helvetica Neue"/>
                <a:sym typeface="Helvetica Neue"/>
              </a:rPr>
              <a:t>GOOGLE ANALYTICS</a:t>
            </a:r>
            <a:endParaRPr/>
          </a:p>
        </p:txBody>
      </p:sp>
      <p:sp>
        <p:nvSpPr>
          <p:cNvPr id="188" name="Google Shape;188;p14"/>
          <p:cNvSpPr txBox="1"/>
          <p:nvPr/>
        </p:nvSpPr>
        <p:spPr>
          <a:xfrm>
            <a:off x="10507070" y="4775073"/>
            <a:ext cx="1048931" cy="26670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b="0" i="0" lang="en-US" sz="1500" u="none" cap="none" strike="noStrike">
                <a:solidFill>
                  <a:srgbClr val="737373"/>
                </a:solidFill>
                <a:latin typeface="Helvetica Neue"/>
                <a:ea typeface="Helvetica Neue"/>
                <a:cs typeface="Helvetica Neue"/>
                <a:sym typeface="Helvetica Neue"/>
              </a:rPr>
              <a:t>SketchUp</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196" name="Shape 196"/>
        <p:cNvGrpSpPr/>
        <p:nvPr/>
      </p:nvGrpSpPr>
      <p:grpSpPr>
        <a:xfrm>
          <a:off x="0" y="0"/>
          <a:ext cx="0" cy="0"/>
          <a:chOff x="0" y="0"/>
          <a:chExt cx="0" cy="0"/>
        </a:xfrm>
      </p:grpSpPr>
      <p:sp>
        <p:nvSpPr>
          <p:cNvPr id="197" name="Google Shape;197;p15"/>
          <p:cNvSpPr txBox="1"/>
          <p:nvPr/>
        </p:nvSpPr>
        <p:spPr>
          <a:xfrm>
            <a:off x="762581" y="753075"/>
            <a:ext cx="17539268" cy="226838"/>
          </a:xfrm>
          <a:prstGeom prst="rect">
            <a:avLst/>
          </a:prstGeom>
          <a:noFill/>
          <a:ln>
            <a:noFill/>
          </a:ln>
        </p:spPr>
        <p:txBody>
          <a:bodyPr anchorCtr="0" anchor="t" bIns="0" lIns="0" spcFirstLastPara="1" rIns="0" wrap="square" tIns="0">
            <a:spAutoFit/>
          </a:bodyPr>
          <a:lstStyle/>
          <a:p>
            <a:pPr indent="0" lvl="0" marL="0" marR="0" rtl="0" algn="l">
              <a:lnSpc>
                <a:spcPct val="119985"/>
              </a:lnSpc>
              <a:spcBef>
                <a:spcPts val="0"/>
              </a:spcBef>
              <a:spcAft>
                <a:spcPts val="0"/>
              </a:spcAft>
              <a:buNone/>
            </a:pPr>
            <a:r>
              <a:rPr b="0" i="0" lang="en-US" spc="199" sz="1426" u="none" cap="none" strike="noStrike">
                <a:solidFill>
                  <a:srgbClr val="1B2638"/>
                </a:solidFill>
                <a:latin typeface="Inter"/>
                <a:ea typeface="Inter"/>
                <a:cs typeface="Inter"/>
                <a:sym typeface="Inter"/>
              </a:rPr>
              <a:t>01 FONDASI DATA</a:t>
            </a:r>
            <a:endParaRPr/>
          </a:p>
        </p:txBody>
      </p:sp>
      <p:sp>
        <p:nvSpPr>
          <p:cNvPr id="198" name="Google Shape;198;p15"/>
          <p:cNvSpPr txBox="1"/>
          <p:nvPr/>
        </p:nvSpPr>
        <p:spPr>
          <a:xfrm>
            <a:off x="762581" y="1075230"/>
            <a:ext cx="16776687" cy="533819"/>
          </a:xfrm>
          <a:prstGeom prst="rect">
            <a:avLst/>
          </a:prstGeom>
          <a:noFill/>
          <a:ln>
            <a:noFill/>
          </a:ln>
        </p:spPr>
        <p:txBody>
          <a:bodyPr anchorCtr="0" anchor="t" bIns="0" lIns="0" spcFirstLastPara="1" rIns="0" wrap="square" tIns="0">
            <a:spAutoFit/>
          </a:bodyPr>
          <a:lstStyle/>
          <a:p>
            <a:pPr indent="0" lvl="0" marL="0" marR="0" rtl="0" algn="l">
              <a:lnSpc>
                <a:spcPct val="111620"/>
              </a:lnSpc>
              <a:spcBef>
                <a:spcPts val="0"/>
              </a:spcBef>
              <a:spcAft>
                <a:spcPts val="0"/>
              </a:spcAft>
              <a:buNone/>
            </a:pPr>
            <a:r>
              <a:rPr b="0" i="0" lang="en-US" spc="-18" sz="3752" u="none" cap="none" strike="noStrike">
                <a:solidFill>
                  <a:srgbClr val="0F1B2B"/>
                </a:solidFill>
                <a:latin typeface="Arimo"/>
                <a:ea typeface="Arimo"/>
                <a:cs typeface="Arimo"/>
                <a:sym typeface="Arimo"/>
              </a:rPr>
              <a:t>1,1 juta transaksi membentuk fondasi keputusan ritel lintas negara</a:t>
            </a:r>
            <a:endParaRPr/>
          </a:p>
        </p:txBody>
      </p:sp>
      <p:sp>
        <p:nvSpPr>
          <p:cNvPr id="199" name="Google Shape;199;p15"/>
          <p:cNvSpPr/>
          <p:nvPr/>
        </p:nvSpPr>
        <p:spPr>
          <a:xfrm>
            <a:off x="762581" y="1887874"/>
            <a:ext cx="16776573" cy="28575"/>
          </a:xfrm>
          <a:custGeom>
            <a:rect b="b" l="l" r="r" t="t"/>
            <a:pathLst>
              <a:path extrusionOk="0" h="38100" w="22368763">
                <a:moveTo>
                  <a:pt x="0" y="19050"/>
                </a:moveTo>
                <a:cubicBezTo>
                  <a:pt x="0" y="8509"/>
                  <a:pt x="8509" y="0"/>
                  <a:pt x="19050" y="0"/>
                </a:cubicBezTo>
                <a:lnTo>
                  <a:pt x="22349713" y="0"/>
                </a:lnTo>
                <a:cubicBezTo>
                  <a:pt x="22360254" y="0"/>
                  <a:pt x="22368763" y="8509"/>
                  <a:pt x="22368763" y="19050"/>
                </a:cubicBezTo>
                <a:cubicBezTo>
                  <a:pt x="22368763" y="29591"/>
                  <a:pt x="22360254" y="38100"/>
                  <a:pt x="22349713" y="38100"/>
                </a:cubicBezTo>
                <a:lnTo>
                  <a:pt x="19050" y="38100"/>
                </a:lnTo>
                <a:cubicBezTo>
                  <a:pt x="8509" y="38100"/>
                  <a:pt x="0" y="29591"/>
                  <a:pt x="0" y="19050"/>
                </a:cubicBezTo>
                <a:close/>
              </a:path>
            </a:pathLst>
          </a:custGeom>
          <a:solidFill>
            <a:srgbClr val="8C87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15"/>
          <p:cNvSpPr txBox="1"/>
          <p:nvPr/>
        </p:nvSpPr>
        <p:spPr>
          <a:xfrm>
            <a:off x="762581" y="2251500"/>
            <a:ext cx="3851015" cy="632898"/>
          </a:xfrm>
          <a:prstGeom prst="rect">
            <a:avLst/>
          </a:prstGeom>
          <a:noFill/>
          <a:ln>
            <a:noFill/>
          </a:ln>
        </p:spPr>
        <p:txBody>
          <a:bodyPr anchorCtr="0" anchor="t" bIns="0" lIns="0" spcFirstLastPara="1" rIns="0" wrap="square" tIns="0">
            <a:spAutoFit/>
          </a:bodyPr>
          <a:lstStyle/>
          <a:p>
            <a:pPr indent="0" lvl="0" marL="0" marR="0" rtl="0" algn="l">
              <a:lnSpc>
                <a:spcPct val="105604"/>
              </a:lnSpc>
              <a:spcBef>
                <a:spcPts val="0"/>
              </a:spcBef>
              <a:spcAft>
                <a:spcPts val="0"/>
              </a:spcAft>
              <a:buNone/>
            </a:pPr>
            <a:r>
              <a:rPr b="0" i="0" lang="en-US" spc="-51" sz="5103" u="none" cap="none" strike="noStrike">
                <a:solidFill>
                  <a:srgbClr val="0F1B2B"/>
                </a:solidFill>
                <a:latin typeface="Arimo"/>
                <a:ea typeface="Arimo"/>
                <a:cs typeface="Arimo"/>
                <a:sym typeface="Arimo"/>
              </a:rPr>
              <a:t>1.100.050</a:t>
            </a:r>
            <a:endParaRPr/>
          </a:p>
        </p:txBody>
      </p:sp>
      <p:sp>
        <p:nvSpPr>
          <p:cNvPr id="201" name="Google Shape;201;p15"/>
          <p:cNvSpPr txBox="1"/>
          <p:nvPr/>
        </p:nvSpPr>
        <p:spPr>
          <a:xfrm>
            <a:off x="762581" y="2980687"/>
            <a:ext cx="3851015" cy="386953"/>
          </a:xfrm>
          <a:prstGeom prst="rect">
            <a:avLst/>
          </a:prstGeom>
          <a:noFill/>
          <a:ln>
            <a:noFill/>
          </a:ln>
        </p:spPr>
        <p:txBody>
          <a:bodyPr anchorCtr="0" anchor="t" bIns="0" lIns="0" spcFirstLastPara="1" rIns="0" wrap="square" tIns="0">
            <a:spAutoFit/>
          </a:bodyPr>
          <a:lstStyle/>
          <a:p>
            <a:pPr indent="0" lvl="0" marL="0" marR="0" rtl="0" algn="l">
              <a:lnSpc>
                <a:spcPct val="120032"/>
              </a:lnSpc>
              <a:spcBef>
                <a:spcPts val="0"/>
              </a:spcBef>
              <a:spcAft>
                <a:spcPts val="0"/>
              </a:spcAft>
              <a:buNone/>
            </a:pPr>
            <a:r>
              <a:rPr b="0" i="0" lang="en-US" spc="-12" sz="2476" u="none" cap="none" strike="noStrike">
                <a:solidFill>
                  <a:srgbClr val="0F1B2B"/>
                </a:solidFill>
                <a:latin typeface="Inter"/>
                <a:ea typeface="Inter"/>
                <a:cs typeface="Inter"/>
                <a:sym typeface="Inter"/>
              </a:rPr>
              <a:t>Baris transaksi harian</a:t>
            </a:r>
            <a:endParaRPr/>
          </a:p>
        </p:txBody>
      </p:sp>
      <p:sp>
        <p:nvSpPr>
          <p:cNvPr id="202" name="Google Shape;202;p15"/>
          <p:cNvSpPr txBox="1"/>
          <p:nvPr/>
        </p:nvSpPr>
        <p:spPr>
          <a:xfrm>
            <a:off x="762581" y="3491541"/>
            <a:ext cx="3851015" cy="1182443"/>
          </a:xfrm>
          <a:prstGeom prst="rect">
            <a:avLst/>
          </a:prstGeom>
          <a:noFill/>
          <a:ln>
            <a:noFill/>
          </a:ln>
        </p:spPr>
        <p:txBody>
          <a:bodyPr anchorCtr="0" anchor="t" bIns="0" lIns="0" spcFirstLastPara="1" rIns="0" wrap="square" tIns="0">
            <a:spAutoFit/>
          </a:bodyPr>
          <a:lstStyle/>
          <a:p>
            <a:pPr indent="0" lvl="0" marL="0" marR="0" rtl="0" algn="l">
              <a:lnSpc>
                <a:spcPct val="138005"/>
              </a:lnSpc>
              <a:spcBef>
                <a:spcPts val="0"/>
              </a:spcBef>
              <a:spcAft>
                <a:spcPts val="0"/>
              </a:spcAft>
              <a:buNone/>
            </a:pPr>
            <a:r>
              <a:rPr b="0" i="0" lang="en-US" sz="2176" u="none" cap="none" strike="noStrike">
                <a:solidFill>
                  <a:srgbClr val="2B3542"/>
                </a:solidFill>
                <a:latin typeface="Inter"/>
                <a:ea typeface="Inter"/>
                <a:cs typeface="Inter"/>
                <a:sym typeface="Inter"/>
              </a:rPr>
              <a:t>33 variabel kolom mencakup penjualan, inventaris, dan promo.</a:t>
            </a:r>
            <a:endParaRPr/>
          </a:p>
        </p:txBody>
      </p:sp>
      <p:sp>
        <p:nvSpPr>
          <p:cNvPr id="203" name="Google Shape;203;p15"/>
          <p:cNvSpPr txBox="1"/>
          <p:nvPr/>
        </p:nvSpPr>
        <p:spPr>
          <a:xfrm>
            <a:off x="762581" y="5832415"/>
            <a:ext cx="3851015" cy="539458"/>
          </a:xfrm>
          <a:prstGeom prst="rect">
            <a:avLst/>
          </a:prstGeom>
          <a:noFill/>
          <a:ln>
            <a:noFill/>
          </a:ln>
        </p:spPr>
        <p:txBody>
          <a:bodyPr anchorCtr="0" anchor="t" bIns="0" lIns="0" spcFirstLastPara="1" rIns="0" wrap="square" tIns="0">
            <a:spAutoFit/>
          </a:bodyPr>
          <a:lstStyle/>
          <a:p>
            <a:pPr indent="0" lvl="0" marL="0" marR="0" rtl="0" algn="l">
              <a:lnSpc>
                <a:spcPct val="129568"/>
              </a:lnSpc>
              <a:spcBef>
                <a:spcPts val="0"/>
              </a:spcBef>
              <a:spcAft>
                <a:spcPts val="0"/>
              </a:spcAft>
              <a:buNone/>
            </a:pPr>
            <a:r>
              <a:rPr b="0" i="0" lang="en-US" spc="15" sz="1576" u="none" cap="none" strike="noStrike">
                <a:solidFill>
                  <a:srgbClr val="66625A"/>
                </a:solidFill>
                <a:latin typeface="Inter"/>
                <a:ea typeface="Inter"/>
                <a:cs typeface="Inter"/>
                <a:sym typeface="Inter"/>
              </a:rPr>
              <a:t>Sumber resmi: FMCG Multi-Country Sales Dataset (Kaggle)</a:t>
            </a:r>
            <a:endParaRPr/>
          </a:p>
        </p:txBody>
      </p:sp>
      <p:sp>
        <p:nvSpPr>
          <p:cNvPr id="204" name="Google Shape;204;p15"/>
          <p:cNvSpPr txBox="1"/>
          <p:nvPr/>
        </p:nvSpPr>
        <p:spPr>
          <a:xfrm>
            <a:off x="5299910" y="2251500"/>
            <a:ext cx="3507857" cy="632898"/>
          </a:xfrm>
          <a:prstGeom prst="rect">
            <a:avLst/>
          </a:prstGeom>
          <a:noFill/>
          <a:ln>
            <a:noFill/>
          </a:ln>
        </p:spPr>
        <p:txBody>
          <a:bodyPr anchorCtr="0" anchor="t" bIns="0" lIns="0" spcFirstLastPara="1" rIns="0" wrap="square" tIns="0">
            <a:spAutoFit/>
          </a:bodyPr>
          <a:lstStyle/>
          <a:p>
            <a:pPr indent="0" lvl="0" marL="0" marR="0" rtl="0" algn="l">
              <a:lnSpc>
                <a:spcPct val="105604"/>
              </a:lnSpc>
              <a:spcBef>
                <a:spcPts val="0"/>
              </a:spcBef>
              <a:spcAft>
                <a:spcPts val="0"/>
              </a:spcAft>
              <a:buNone/>
            </a:pPr>
            <a:r>
              <a:rPr b="0" i="0" lang="en-US" spc="-51" sz="5103" u="none" cap="none" strike="noStrike">
                <a:solidFill>
                  <a:srgbClr val="0F1B2B"/>
                </a:solidFill>
                <a:latin typeface="Arimo"/>
                <a:ea typeface="Arimo"/>
                <a:cs typeface="Arimo"/>
                <a:sym typeface="Arimo"/>
              </a:rPr>
              <a:t>3 Tahun</a:t>
            </a:r>
            <a:endParaRPr/>
          </a:p>
        </p:txBody>
      </p:sp>
      <p:sp>
        <p:nvSpPr>
          <p:cNvPr id="205" name="Google Shape;205;p15"/>
          <p:cNvSpPr txBox="1"/>
          <p:nvPr/>
        </p:nvSpPr>
        <p:spPr>
          <a:xfrm>
            <a:off x="5299910" y="2980687"/>
            <a:ext cx="3507857" cy="386953"/>
          </a:xfrm>
          <a:prstGeom prst="rect">
            <a:avLst/>
          </a:prstGeom>
          <a:noFill/>
          <a:ln>
            <a:noFill/>
          </a:ln>
        </p:spPr>
        <p:txBody>
          <a:bodyPr anchorCtr="0" anchor="t" bIns="0" lIns="0" spcFirstLastPara="1" rIns="0" wrap="square" tIns="0">
            <a:spAutoFit/>
          </a:bodyPr>
          <a:lstStyle/>
          <a:p>
            <a:pPr indent="0" lvl="0" marL="0" marR="0" rtl="0" algn="l">
              <a:lnSpc>
                <a:spcPct val="120032"/>
              </a:lnSpc>
              <a:spcBef>
                <a:spcPts val="0"/>
              </a:spcBef>
              <a:spcAft>
                <a:spcPts val="0"/>
              </a:spcAft>
              <a:buNone/>
            </a:pPr>
            <a:r>
              <a:rPr b="0" i="0" lang="en-US" spc="-12" sz="2476" u="none" cap="none" strike="noStrike">
                <a:solidFill>
                  <a:srgbClr val="0F1B2B"/>
                </a:solidFill>
                <a:latin typeface="Inter"/>
                <a:ea typeface="Inter"/>
                <a:cs typeface="Inter"/>
                <a:sym typeface="Inter"/>
              </a:rPr>
              <a:t>Histori transaksi</a:t>
            </a:r>
            <a:endParaRPr/>
          </a:p>
        </p:txBody>
      </p:sp>
      <p:sp>
        <p:nvSpPr>
          <p:cNvPr id="206" name="Google Shape;206;p15"/>
          <p:cNvSpPr txBox="1"/>
          <p:nvPr/>
        </p:nvSpPr>
        <p:spPr>
          <a:xfrm>
            <a:off x="5299910" y="3491541"/>
            <a:ext cx="3507857" cy="1182443"/>
          </a:xfrm>
          <a:prstGeom prst="rect">
            <a:avLst/>
          </a:prstGeom>
          <a:noFill/>
          <a:ln>
            <a:noFill/>
          </a:ln>
        </p:spPr>
        <p:txBody>
          <a:bodyPr anchorCtr="0" anchor="t" bIns="0" lIns="0" spcFirstLastPara="1" rIns="0" wrap="square" tIns="0">
            <a:spAutoFit/>
          </a:bodyPr>
          <a:lstStyle/>
          <a:p>
            <a:pPr indent="0" lvl="0" marL="0" marR="0" rtl="0" algn="l">
              <a:lnSpc>
                <a:spcPct val="138005"/>
              </a:lnSpc>
              <a:spcBef>
                <a:spcPts val="0"/>
              </a:spcBef>
              <a:spcAft>
                <a:spcPts val="0"/>
              </a:spcAft>
              <a:buNone/>
            </a:pPr>
            <a:r>
              <a:rPr b="0" i="0" lang="en-US" sz="2176" u="none" cap="none" strike="noStrike">
                <a:solidFill>
                  <a:srgbClr val="2B3542"/>
                </a:solidFill>
                <a:latin typeface="Inter"/>
                <a:ea typeface="Inter"/>
                <a:cs typeface="Inter"/>
                <a:sym typeface="Inter"/>
              </a:rPr>
              <a:t>7 negara Eropa: Italy, Spain, Germany, France, Netherlands, Poland, Austria.</a:t>
            </a:r>
            <a:endParaRPr/>
          </a:p>
        </p:txBody>
      </p:sp>
      <p:sp>
        <p:nvSpPr>
          <p:cNvPr id="207" name="Google Shape;207;p15"/>
          <p:cNvSpPr txBox="1"/>
          <p:nvPr/>
        </p:nvSpPr>
        <p:spPr>
          <a:xfrm>
            <a:off x="5299910" y="6092619"/>
            <a:ext cx="3851015" cy="279254"/>
          </a:xfrm>
          <a:prstGeom prst="rect">
            <a:avLst/>
          </a:prstGeom>
          <a:noFill/>
          <a:ln>
            <a:noFill/>
          </a:ln>
        </p:spPr>
        <p:txBody>
          <a:bodyPr anchorCtr="0" anchor="t" bIns="0" lIns="0" spcFirstLastPara="1" rIns="0" wrap="square" tIns="0">
            <a:spAutoFit/>
          </a:bodyPr>
          <a:lstStyle/>
          <a:p>
            <a:pPr indent="0" lvl="0" marL="0" marR="0" rtl="0" algn="l">
              <a:lnSpc>
                <a:spcPct val="129568"/>
              </a:lnSpc>
              <a:spcBef>
                <a:spcPts val="0"/>
              </a:spcBef>
              <a:spcAft>
                <a:spcPts val="0"/>
              </a:spcAft>
              <a:buNone/>
            </a:pPr>
            <a:r>
              <a:rPr b="0" i="0" lang="en-US" spc="15" sz="1576" u="none" cap="none" strike="noStrike">
                <a:solidFill>
                  <a:srgbClr val="66625A"/>
                </a:solidFill>
                <a:latin typeface="Inter"/>
                <a:ea typeface="Inter"/>
                <a:cs typeface="Inter"/>
                <a:sym typeface="Inter"/>
              </a:rPr>
              <a:t>Cakupan temporal 2021–2023</a:t>
            </a:r>
            <a:endParaRPr/>
          </a:p>
        </p:txBody>
      </p:sp>
      <p:sp>
        <p:nvSpPr>
          <p:cNvPr id="208" name="Google Shape;208;p15"/>
          <p:cNvSpPr txBox="1"/>
          <p:nvPr/>
        </p:nvSpPr>
        <p:spPr>
          <a:xfrm>
            <a:off x="9494082" y="2251500"/>
            <a:ext cx="2849067" cy="721992"/>
          </a:xfrm>
          <a:prstGeom prst="rect">
            <a:avLst/>
          </a:prstGeom>
          <a:noFill/>
          <a:ln>
            <a:noFill/>
          </a:ln>
        </p:spPr>
        <p:txBody>
          <a:bodyPr anchorCtr="0" anchor="t" bIns="0" lIns="0" spcFirstLastPara="1" rIns="0" wrap="square" tIns="0">
            <a:spAutoFit/>
          </a:bodyPr>
          <a:lstStyle/>
          <a:p>
            <a:pPr indent="0" lvl="0" marL="0" marR="0" rtl="0" algn="l">
              <a:lnSpc>
                <a:spcPct val="105604"/>
              </a:lnSpc>
              <a:spcBef>
                <a:spcPts val="0"/>
              </a:spcBef>
              <a:spcAft>
                <a:spcPts val="0"/>
              </a:spcAft>
              <a:buNone/>
            </a:pPr>
            <a:r>
              <a:rPr b="0" i="0" lang="en-US" spc="-51" sz="5103" u="none" cap="none" strike="noStrike">
                <a:solidFill>
                  <a:srgbClr val="0F1B2B"/>
                </a:solidFill>
                <a:latin typeface="Arimo"/>
                <a:ea typeface="Arimo"/>
                <a:cs typeface="Arimo"/>
                <a:sym typeface="Arimo"/>
              </a:rPr>
              <a:t>$156.0M+</a:t>
            </a:r>
            <a:endParaRPr/>
          </a:p>
        </p:txBody>
      </p:sp>
      <p:sp>
        <p:nvSpPr>
          <p:cNvPr id="209" name="Google Shape;209;p15"/>
          <p:cNvSpPr txBox="1"/>
          <p:nvPr/>
        </p:nvSpPr>
        <p:spPr>
          <a:xfrm>
            <a:off x="9494082" y="2980687"/>
            <a:ext cx="3507857" cy="386953"/>
          </a:xfrm>
          <a:prstGeom prst="rect">
            <a:avLst/>
          </a:prstGeom>
          <a:noFill/>
          <a:ln>
            <a:noFill/>
          </a:ln>
        </p:spPr>
        <p:txBody>
          <a:bodyPr anchorCtr="0" anchor="t" bIns="0" lIns="0" spcFirstLastPara="1" rIns="0" wrap="square" tIns="0">
            <a:spAutoFit/>
          </a:bodyPr>
          <a:lstStyle/>
          <a:p>
            <a:pPr indent="0" lvl="0" marL="0" marR="0" rtl="0" algn="l">
              <a:lnSpc>
                <a:spcPct val="120032"/>
              </a:lnSpc>
              <a:spcBef>
                <a:spcPts val="0"/>
              </a:spcBef>
              <a:spcAft>
                <a:spcPts val="0"/>
              </a:spcAft>
              <a:buNone/>
            </a:pPr>
            <a:r>
              <a:rPr b="0" i="0" lang="en-US" spc="-12" sz="2476" u="none" cap="none" strike="noStrike">
                <a:solidFill>
                  <a:srgbClr val="0F1B2B"/>
                </a:solidFill>
                <a:latin typeface="Inter"/>
                <a:ea typeface="Inter"/>
                <a:cs typeface="Inter"/>
                <a:sym typeface="Inter"/>
              </a:rPr>
              <a:t>Total net sales</a:t>
            </a:r>
            <a:endParaRPr/>
          </a:p>
        </p:txBody>
      </p:sp>
      <p:sp>
        <p:nvSpPr>
          <p:cNvPr id="210" name="Google Shape;210;p15"/>
          <p:cNvSpPr txBox="1"/>
          <p:nvPr/>
        </p:nvSpPr>
        <p:spPr>
          <a:xfrm>
            <a:off x="9494082" y="3491541"/>
            <a:ext cx="3507857" cy="1131341"/>
          </a:xfrm>
          <a:prstGeom prst="rect">
            <a:avLst/>
          </a:prstGeom>
          <a:noFill/>
          <a:ln>
            <a:noFill/>
          </a:ln>
        </p:spPr>
        <p:txBody>
          <a:bodyPr anchorCtr="0" anchor="t" bIns="0" lIns="0" spcFirstLastPara="1" rIns="0" wrap="square" tIns="0">
            <a:spAutoFit/>
          </a:bodyPr>
          <a:lstStyle/>
          <a:p>
            <a:pPr indent="0" lvl="0" marL="0" marR="0" rtl="0" algn="l">
              <a:lnSpc>
                <a:spcPct val="138005"/>
              </a:lnSpc>
              <a:spcBef>
                <a:spcPts val="0"/>
              </a:spcBef>
              <a:spcAft>
                <a:spcPts val="0"/>
              </a:spcAft>
              <a:buNone/>
            </a:pPr>
            <a:r>
              <a:rPr b="0" i="0" lang="en-US" sz="2176" u="none" cap="none" strike="noStrike">
                <a:solidFill>
                  <a:srgbClr val="2B3542"/>
                </a:solidFill>
                <a:latin typeface="Inter"/>
                <a:ea typeface="Inter"/>
                <a:cs typeface="Inter"/>
                <a:sym typeface="Inter"/>
              </a:rPr>
              <a:t>Filter aktif dashboard $156,0 juta net sales dan 21,6 juta unit terjual.</a:t>
            </a:r>
            <a:endParaRPr/>
          </a:p>
        </p:txBody>
      </p:sp>
      <p:sp>
        <p:nvSpPr>
          <p:cNvPr id="211" name="Google Shape;211;p15"/>
          <p:cNvSpPr txBox="1"/>
          <p:nvPr/>
        </p:nvSpPr>
        <p:spPr>
          <a:xfrm>
            <a:off x="9494082" y="6092619"/>
            <a:ext cx="3851015" cy="279254"/>
          </a:xfrm>
          <a:prstGeom prst="rect">
            <a:avLst/>
          </a:prstGeom>
          <a:noFill/>
          <a:ln>
            <a:noFill/>
          </a:ln>
        </p:spPr>
        <p:txBody>
          <a:bodyPr anchorCtr="0" anchor="t" bIns="0" lIns="0" spcFirstLastPara="1" rIns="0" wrap="square" tIns="0">
            <a:spAutoFit/>
          </a:bodyPr>
          <a:lstStyle/>
          <a:p>
            <a:pPr indent="0" lvl="0" marL="0" marR="0" rtl="0" algn="l">
              <a:lnSpc>
                <a:spcPct val="129568"/>
              </a:lnSpc>
              <a:spcBef>
                <a:spcPts val="0"/>
              </a:spcBef>
              <a:spcAft>
                <a:spcPts val="0"/>
              </a:spcAft>
              <a:buNone/>
            </a:pPr>
            <a:r>
              <a:rPr b="0" i="0" lang="en-US" spc="15" sz="1576" u="none" cap="none" strike="noStrike">
                <a:solidFill>
                  <a:srgbClr val="66625A"/>
                </a:solidFill>
                <a:latin typeface="Inter"/>
                <a:ea typeface="Inter"/>
                <a:cs typeface="Inter"/>
                <a:sym typeface="Inter"/>
              </a:rPr>
              <a:t>Analisis subset aktif</a:t>
            </a:r>
            <a:endParaRPr/>
          </a:p>
        </p:txBody>
      </p:sp>
      <p:sp>
        <p:nvSpPr>
          <p:cNvPr id="212" name="Google Shape;212;p15"/>
          <p:cNvSpPr txBox="1"/>
          <p:nvPr/>
        </p:nvSpPr>
        <p:spPr>
          <a:xfrm>
            <a:off x="13688254" y="2251500"/>
            <a:ext cx="3851015" cy="632898"/>
          </a:xfrm>
          <a:prstGeom prst="rect">
            <a:avLst/>
          </a:prstGeom>
          <a:noFill/>
          <a:ln>
            <a:noFill/>
          </a:ln>
        </p:spPr>
        <p:txBody>
          <a:bodyPr anchorCtr="0" anchor="t" bIns="0" lIns="0" spcFirstLastPara="1" rIns="0" wrap="square" tIns="0">
            <a:spAutoFit/>
          </a:bodyPr>
          <a:lstStyle/>
          <a:p>
            <a:pPr indent="0" lvl="0" marL="0" marR="0" rtl="0" algn="l">
              <a:lnSpc>
                <a:spcPct val="105604"/>
              </a:lnSpc>
              <a:spcBef>
                <a:spcPts val="0"/>
              </a:spcBef>
              <a:spcAft>
                <a:spcPts val="0"/>
              </a:spcAft>
              <a:buNone/>
            </a:pPr>
            <a:r>
              <a:rPr b="0" i="0" lang="en-US" spc="-51" sz="5103" u="none" cap="none" strike="noStrike">
                <a:solidFill>
                  <a:srgbClr val="0F1B2B"/>
                </a:solidFill>
                <a:latin typeface="Arimo"/>
                <a:ea typeface="Arimo"/>
                <a:cs typeface="Arimo"/>
                <a:sym typeface="Arimo"/>
              </a:rPr>
              <a:t>54,5%</a:t>
            </a:r>
            <a:endParaRPr/>
          </a:p>
        </p:txBody>
      </p:sp>
      <p:sp>
        <p:nvSpPr>
          <p:cNvPr id="213" name="Google Shape;213;p15"/>
          <p:cNvSpPr txBox="1"/>
          <p:nvPr/>
        </p:nvSpPr>
        <p:spPr>
          <a:xfrm>
            <a:off x="13688254" y="2980687"/>
            <a:ext cx="3851015" cy="386953"/>
          </a:xfrm>
          <a:prstGeom prst="rect">
            <a:avLst/>
          </a:prstGeom>
          <a:noFill/>
          <a:ln>
            <a:noFill/>
          </a:ln>
        </p:spPr>
        <p:txBody>
          <a:bodyPr anchorCtr="0" anchor="t" bIns="0" lIns="0" spcFirstLastPara="1" rIns="0" wrap="square" tIns="0">
            <a:spAutoFit/>
          </a:bodyPr>
          <a:lstStyle/>
          <a:p>
            <a:pPr indent="0" lvl="0" marL="0" marR="0" rtl="0" algn="l">
              <a:lnSpc>
                <a:spcPct val="120032"/>
              </a:lnSpc>
              <a:spcBef>
                <a:spcPts val="0"/>
              </a:spcBef>
              <a:spcAft>
                <a:spcPts val="0"/>
              </a:spcAft>
              <a:buNone/>
            </a:pPr>
            <a:r>
              <a:rPr b="0" i="0" lang="en-US" spc="-12" sz="2476" u="none" cap="none" strike="noStrike">
                <a:solidFill>
                  <a:srgbClr val="0F1B2B"/>
                </a:solidFill>
                <a:latin typeface="Inter"/>
                <a:ea typeface="Inter"/>
                <a:cs typeface="Inter"/>
                <a:sym typeface="Inter"/>
              </a:rPr>
              <a:t>Pangsa Hypermarket</a:t>
            </a:r>
            <a:endParaRPr/>
          </a:p>
        </p:txBody>
      </p:sp>
      <p:sp>
        <p:nvSpPr>
          <p:cNvPr id="214" name="Google Shape;214;p15"/>
          <p:cNvSpPr txBox="1"/>
          <p:nvPr/>
        </p:nvSpPr>
        <p:spPr>
          <a:xfrm>
            <a:off x="13688254" y="3491541"/>
            <a:ext cx="3851015" cy="1182443"/>
          </a:xfrm>
          <a:prstGeom prst="rect">
            <a:avLst/>
          </a:prstGeom>
          <a:noFill/>
          <a:ln>
            <a:noFill/>
          </a:ln>
        </p:spPr>
        <p:txBody>
          <a:bodyPr anchorCtr="0" anchor="t" bIns="0" lIns="0" spcFirstLastPara="1" rIns="0" wrap="square" tIns="0">
            <a:spAutoFit/>
          </a:bodyPr>
          <a:lstStyle/>
          <a:p>
            <a:pPr indent="0" lvl="0" marL="0" marR="0" rtl="0" algn="l">
              <a:lnSpc>
                <a:spcPct val="138005"/>
              </a:lnSpc>
              <a:spcBef>
                <a:spcPts val="0"/>
              </a:spcBef>
              <a:spcAft>
                <a:spcPts val="0"/>
              </a:spcAft>
              <a:buNone/>
            </a:pPr>
            <a:r>
              <a:rPr b="0" i="0" lang="en-US" sz="2176" u="none" cap="none" strike="noStrike">
                <a:solidFill>
                  <a:srgbClr val="2B3542"/>
                </a:solidFill>
                <a:latin typeface="Inter"/>
                <a:ea typeface="Inter"/>
                <a:cs typeface="Inter"/>
                <a:sym typeface="Inter"/>
              </a:rPr>
              <a:t>Kanal utama, disusul E-commerce, Supermarket, dan Convenience.</a:t>
            </a:r>
            <a:endParaRPr/>
          </a:p>
        </p:txBody>
      </p:sp>
      <p:sp>
        <p:nvSpPr>
          <p:cNvPr id="215" name="Google Shape;215;p15"/>
          <p:cNvSpPr txBox="1"/>
          <p:nvPr/>
        </p:nvSpPr>
        <p:spPr>
          <a:xfrm>
            <a:off x="13688254" y="6092619"/>
            <a:ext cx="3851015" cy="279254"/>
          </a:xfrm>
          <a:prstGeom prst="rect">
            <a:avLst/>
          </a:prstGeom>
          <a:noFill/>
          <a:ln>
            <a:noFill/>
          </a:ln>
        </p:spPr>
        <p:txBody>
          <a:bodyPr anchorCtr="0" anchor="t" bIns="0" lIns="0" spcFirstLastPara="1" rIns="0" wrap="square" tIns="0">
            <a:spAutoFit/>
          </a:bodyPr>
          <a:lstStyle/>
          <a:p>
            <a:pPr indent="0" lvl="0" marL="0" marR="0" rtl="0" algn="l">
              <a:lnSpc>
                <a:spcPct val="129568"/>
              </a:lnSpc>
              <a:spcBef>
                <a:spcPts val="0"/>
              </a:spcBef>
              <a:spcAft>
                <a:spcPts val="0"/>
              </a:spcAft>
              <a:buNone/>
            </a:pPr>
            <a:r>
              <a:rPr b="0" i="0" lang="en-US" spc="15" sz="1576" u="none" cap="none" strike="noStrike">
                <a:solidFill>
                  <a:srgbClr val="66625A"/>
                </a:solidFill>
                <a:latin typeface="Inter"/>
                <a:ea typeface="Inter"/>
                <a:cs typeface="Inter"/>
                <a:sym typeface="Inter"/>
              </a:rPr>
              <a:t>Struktur volume kanal</a:t>
            </a:r>
            <a:endParaRPr/>
          </a:p>
        </p:txBody>
      </p:sp>
      <p:sp>
        <p:nvSpPr>
          <p:cNvPr id="216" name="Google Shape;216;p15"/>
          <p:cNvSpPr/>
          <p:nvPr/>
        </p:nvSpPr>
        <p:spPr>
          <a:xfrm>
            <a:off x="762575" y="6553700"/>
            <a:ext cx="16776668" cy="2317237"/>
          </a:xfrm>
          <a:custGeom>
            <a:rect b="b" l="l" r="r" t="t"/>
            <a:pathLst>
              <a:path extrusionOk="0" h="2887523" w="22368890">
                <a:moveTo>
                  <a:pt x="0" y="0"/>
                </a:moveTo>
                <a:lnTo>
                  <a:pt x="22368890" y="0"/>
                </a:lnTo>
                <a:lnTo>
                  <a:pt x="22368890" y="2887523"/>
                </a:lnTo>
                <a:lnTo>
                  <a:pt x="0" y="2887523"/>
                </a:lnTo>
                <a:close/>
              </a:path>
            </a:pathLst>
          </a:custGeom>
          <a:solidFill>
            <a:srgbClr val="EDF2F7"/>
          </a:solidFill>
          <a:ln>
            <a:noFill/>
          </a:ln>
        </p:spPr>
      </p:sp>
      <p:sp>
        <p:nvSpPr>
          <p:cNvPr id="217" name="Google Shape;217;p15"/>
          <p:cNvSpPr/>
          <p:nvPr/>
        </p:nvSpPr>
        <p:spPr>
          <a:xfrm>
            <a:off x="762581" y="6553705"/>
            <a:ext cx="16776668" cy="57150"/>
          </a:xfrm>
          <a:custGeom>
            <a:rect b="b" l="l" r="r" t="t"/>
            <a:pathLst>
              <a:path extrusionOk="0" h="76200" w="22368890">
                <a:moveTo>
                  <a:pt x="0" y="0"/>
                </a:moveTo>
                <a:lnTo>
                  <a:pt x="22368890" y="0"/>
                </a:lnTo>
                <a:lnTo>
                  <a:pt x="22368890" y="76200"/>
                </a:lnTo>
                <a:lnTo>
                  <a:pt x="0" y="76200"/>
                </a:lnTo>
                <a:close/>
              </a:path>
            </a:pathLst>
          </a:custGeom>
          <a:solidFill>
            <a:srgbClr val="0CC0DF"/>
          </a:solidFill>
          <a:ln>
            <a:noFill/>
          </a:ln>
        </p:spPr>
      </p:sp>
      <p:sp>
        <p:nvSpPr>
          <p:cNvPr id="218" name="Google Shape;218;p15"/>
          <p:cNvSpPr txBox="1"/>
          <p:nvPr/>
        </p:nvSpPr>
        <p:spPr>
          <a:xfrm>
            <a:off x="1105738" y="6792020"/>
            <a:ext cx="16433530" cy="226838"/>
          </a:xfrm>
          <a:prstGeom prst="rect">
            <a:avLst/>
          </a:prstGeom>
          <a:noFill/>
          <a:ln>
            <a:noFill/>
          </a:ln>
        </p:spPr>
        <p:txBody>
          <a:bodyPr anchorCtr="0" anchor="t" bIns="0" lIns="0" spcFirstLastPara="1" rIns="0" wrap="square" tIns="0">
            <a:spAutoFit/>
          </a:bodyPr>
          <a:lstStyle/>
          <a:p>
            <a:pPr indent="0" lvl="0" marL="0" marR="0" rtl="0" algn="l">
              <a:lnSpc>
                <a:spcPct val="119985"/>
              </a:lnSpc>
              <a:spcBef>
                <a:spcPts val="0"/>
              </a:spcBef>
              <a:spcAft>
                <a:spcPts val="0"/>
              </a:spcAft>
              <a:buNone/>
            </a:pPr>
            <a:r>
              <a:rPr b="0" i="0" lang="en-US" spc="142" sz="1426" u="none" cap="none" strike="noStrike">
                <a:solidFill>
                  <a:srgbClr val="2B3542"/>
                </a:solidFill>
                <a:latin typeface="Inter"/>
                <a:ea typeface="Inter"/>
                <a:cs typeface="Inter"/>
                <a:sym typeface="Inter"/>
              </a:rPr>
              <a:t>IMPLIKASI ANALISIS</a:t>
            </a:r>
            <a:endParaRPr/>
          </a:p>
        </p:txBody>
      </p:sp>
      <p:sp>
        <p:nvSpPr>
          <p:cNvPr id="219" name="Google Shape;219;p15"/>
          <p:cNvSpPr txBox="1"/>
          <p:nvPr/>
        </p:nvSpPr>
        <p:spPr>
          <a:xfrm>
            <a:off x="1105738" y="7095153"/>
            <a:ext cx="16090373" cy="1234869"/>
          </a:xfrm>
          <a:prstGeom prst="rect">
            <a:avLst/>
          </a:prstGeom>
          <a:noFill/>
          <a:ln>
            <a:noFill/>
          </a:ln>
        </p:spPr>
        <p:txBody>
          <a:bodyPr anchorCtr="0" anchor="t" bIns="0" lIns="0" spcFirstLastPara="1" rIns="0" wrap="square" tIns="0">
            <a:spAutoFit/>
          </a:bodyPr>
          <a:lstStyle/>
          <a:p>
            <a:pPr indent="-197118" lvl="1" marL="394236" marR="0" rtl="0" algn="l">
              <a:lnSpc>
                <a:spcPct val="138005"/>
              </a:lnSpc>
              <a:spcBef>
                <a:spcPts val="0"/>
              </a:spcBef>
              <a:spcAft>
                <a:spcPts val="0"/>
              </a:spcAft>
              <a:buClr>
                <a:srgbClr val="2B3542"/>
              </a:buClr>
              <a:buSzPts val="2176"/>
              <a:buFont typeface="Arial"/>
              <a:buChar char="•"/>
            </a:pPr>
            <a:r>
              <a:rPr b="0" i="0" lang="en-US" sz="2176" u="none" cap="none" strike="noStrike">
                <a:solidFill>
                  <a:srgbClr val="2B3542"/>
                </a:solidFill>
                <a:latin typeface="Inter"/>
                <a:ea typeface="Inter"/>
                <a:cs typeface="Inter"/>
                <a:sym typeface="Inter"/>
              </a:rPr>
              <a:t>Skala 1,1 juta baris memberikan signifikansi statistik tinggi untuk pemodelan elastisitas harga dan profil musiman per negara.</a:t>
            </a:r>
            <a:endParaRPr/>
          </a:p>
          <a:p>
            <a:pPr indent="-197118" lvl="1" marL="394236" marR="0" rtl="0" algn="l">
              <a:lnSpc>
                <a:spcPct val="138005"/>
              </a:lnSpc>
              <a:spcBef>
                <a:spcPts val="0"/>
              </a:spcBef>
              <a:spcAft>
                <a:spcPts val="0"/>
              </a:spcAft>
              <a:buClr>
                <a:srgbClr val="2B3542"/>
              </a:buClr>
              <a:buSzPts val="2176"/>
              <a:buFont typeface="Arial"/>
              <a:buChar char="•"/>
            </a:pPr>
            <a:r>
              <a:rPr b="0" i="0" lang="en-US" sz="2176" u="none" cap="none" strike="noStrike">
                <a:solidFill>
                  <a:srgbClr val="2B3542"/>
                </a:solidFill>
                <a:latin typeface="Inter"/>
                <a:ea typeface="Inter"/>
                <a:cs typeface="Inter"/>
                <a:sym typeface="Inter"/>
              </a:rPr>
              <a:t>Konsentrasi volume pada Hypermarket (54,5%) menjadikan efisiensi pengiriman dan kepatuhan rak sebagai penentu utama margin grup.</a:t>
            </a:r>
            <a:endParaRPr/>
          </a:p>
        </p:txBody>
      </p:sp>
      <p:sp>
        <p:nvSpPr>
          <p:cNvPr id="220" name="Google Shape;220;p15"/>
          <p:cNvSpPr txBox="1"/>
          <p:nvPr/>
        </p:nvSpPr>
        <p:spPr>
          <a:xfrm>
            <a:off x="762576" y="9029550"/>
            <a:ext cx="13750200" cy="219600"/>
          </a:xfrm>
          <a:prstGeom prst="rect">
            <a:avLst/>
          </a:prstGeom>
          <a:noFill/>
          <a:ln>
            <a:noFill/>
          </a:ln>
        </p:spPr>
        <p:txBody>
          <a:bodyPr anchorCtr="0" anchor="t" bIns="0" lIns="0" spcFirstLastPara="1" rIns="0" wrap="square" tIns="0">
            <a:spAutoFit/>
          </a:bodyPr>
          <a:lstStyle/>
          <a:p>
            <a:pPr indent="0" lvl="0" marL="0" marR="0" rtl="0" algn="l">
              <a:lnSpc>
                <a:spcPct val="134361"/>
              </a:lnSpc>
              <a:spcBef>
                <a:spcPts val="0"/>
              </a:spcBef>
              <a:spcAft>
                <a:spcPts val="0"/>
              </a:spcAft>
              <a:buNone/>
            </a:pPr>
            <a:r>
              <a:rPr b="0" i="0" lang="en-US" spc="85" sz="1426" u="none" cap="none" strike="noStrike">
                <a:solidFill>
                  <a:srgbClr val="66625A"/>
                </a:solidFill>
                <a:latin typeface="Inter"/>
                <a:ea typeface="Inter"/>
                <a:cs typeface="Inter"/>
                <a:sym typeface="Inter"/>
              </a:rPr>
              <a:t>SUMBER: FMCG MULTI-COUNTRY SALES DATASET (KAGGLE); PEMBERSIHAN DATA PIPELINE PYTHON; VISUALISASI ANALITIK POWER BI</a:t>
            </a:r>
            <a:endParaRPr/>
          </a:p>
        </p:txBody>
      </p:sp>
      <p:sp>
        <p:nvSpPr>
          <p:cNvPr id="221" name="Google Shape;221;p15"/>
          <p:cNvSpPr/>
          <p:nvPr/>
        </p:nvSpPr>
        <p:spPr>
          <a:xfrm>
            <a:off x="0" y="9723091"/>
            <a:ext cx="18301811" cy="14287"/>
          </a:xfrm>
          <a:custGeom>
            <a:rect b="b" l="l" r="r" t="t"/>
            <a:pathLst>
              <a:path extrusionOk="0" h="19050" w="24402414">
                <a:moveTo>
                  <a:pt x="0" y="0"/>
                </a:moveTo>
                <a:lnTo>
                  <a:pt x="24402414" y="0"/>
                </a:lnTo>
                <a:lnTo>
                  <a:pt x="24402414" y="19050"/>
                </a:lnTo>
                <a:lnTo>
                  <a:pt x="0" y="19050"/>
                </a:lnTo>
                <a:close/>
              </a:path>
            </a:pathLst>
          </a:custGeom>
          <a:solidFill>
            <a:srgbClr val="2B3542">
              <a:alpha val="3922"/>
            </a:srgbClr>
          </a:solidFill>
          <a:ln>
            <a:noFill/>
          </a:ln>
        </p:spPr>
      </p:sp>
      <p:grpSp>
        <p:nvGrpSpPr>
          <p:cNvPr id="222" name="Google Shape;222;p15"/>
          <p:cNvGrpSpPr/>
          <p:nvPr/>
        </p:nvGrpSpPr>
        <p:grpSpPr>
          <a:xfrm>
            <a:off x="293380" y="9612742"/>
            <a:ext cx="7167785" cy="521294"/>
            <a:chOff x="0" y="-28575"/>
            <a:chExt cx="9557046" cy="695058"/>
          </a:xfrm>
        </p:grpSpPr>
        <p:sp>
          <p:nvSpPr>
            <p:cNvPr id="223" name="Google Shape;223;p15"/>
            <p:cNvSpPr/>
            <p:nvPr/>
          </p:nvSpPr>
          <p:spPr>
            <a:xfrm>
              <a:off x="0" y="0"/>
              <a:ext cx="9557046" cy="666483"/>
            </a:xfrm>
            <a:custGeom>
              <a:rect b="b" l="l" r="r" t="t"/>
              <a:pathLst>
                <a:path extrusionOk="0" h="666483" w="9557046">
                  <a:moveTo>
                    <a:pt x="0" y="0"/>
                  </a:moveTo>
                  <a:lnTo>
                    <a:pt x="9557046" y="0"/>
                  </a:lnTo>
                  <a:lnTo>
                    <a:pt x="9557046" y="666483"/>
                  </a:lnTo>
                  <a:lnTo>
                    <a:pt x="0" y="666483"/>
                  </a:lnTo>
                  <a:close/>
                </a:path>
              </a:pathLst>
            </a:custGeom>
            <a:blipFill rotWithShape="1">
              <a:blip r:embed="rId3">
                <a:alphaModFix amt="0"/>
              </a:blip>
              <a:stretch>
                <a:fillRect b="-181075" l="0" r="17296" t="-181075"/>
              </a:stretch>
            </a:blipFill>
            <a:ln>
              <a:noFill/>
            </a:ln>
          </p:spPr>
        </p:sp>
        <p:sp>
          <p:nvSpPr>
            <p:cNvPr id="224" name="Google Shape;224;p15"/>
            <p:cNvSpPr txBox="1"/>
            <p:nvPr/>
          </p:nvSpPr>
          <p:spPr>
            <a:xfrm>
              <a:off x="0" y="-28575"/>
              <a:ext cx="9557042" cy="695052"/>
            </a:xfrm>
            <a:prstGeom prst="rect">
              <a:avLst/>
            </a:prstGeom>
            <a:noFill/>
            <a:ln>
              <a:noFill/>
            </a:ln>
          </p:spPr>
          <p:txBody>
            <a:bodyPr anchorCtr="0" anchor="ctr" bIns="0" lIns="0" spcFirstLastPara="1" rIns="0" wrap="square" tIns="0">
              <a:noAutofit/>
            </a:bodyPr>
            <a:lstStyle/>
            <a:p>
              <a:pPr indent="0" lvl="0" marL="0" marR="0" rtl="0" algn="l">
                <a:lnSpc>
                  <a:spcPct val="138008"/>
                </a:lnSpc>
                <a:spcBef>
                  <a:spcPts val="0"/>
                </a:spcBef>
                <a:spcAft>
                  <a:spcPts val="0"/>
                </a:spcAft>
                <a:buNone/>
              </a:pPr>
              <a:r>
                <a:rPr b="0" i="0" lang="en-US" spc="142" sz="1426" u="none" cap="none" strike="noStrike">
                  <a:solidFill>
                    <a:srgbClr val="2B3542"/>
                  </a:solidFill>
                  <a:latin typeface="Inter"/>
                  <a:ea typeface="Inter"/>
                  <a:cs typeface="Inter"/>
                  <a:sym typeface="Inter"/>
                </a:rPr>
                <a:t>GLOBAL FMCG SUPPLY CHAIN ANALYTICS — EXECUTIVE REPORT</a:t>
              </a:r>
              <a:endParaRPr/>
            </a:p>
          </p:txBody>
        </p:sp>
      </p:grpSp>
      <p:sp>
        <p:nvSpPr>
          <p:cNvPr id="225" name="Google Shape;225;p15"/>
          <p:cNvSpPr/>
          <p:nvPr/>
        </p:nvSpPr>
        <p:spPr>
          <a:xfrm>
            <a:off x="4947218" y="2180996"/>
            <a:ext cx="19050" cy="4177284"/>
          </a:xfrm>
          <a:custGeom>
            <a:rect b="b" l="l" r="r" t="t"/>
            <a:pathLst>
              <a:path extrusionOk="0" h="5569712" w="25400">
                <a:moveTo>
                  <a:pt x="0" y="0"/>
                </a:moveTo>
                <a:lnTo>
                  <a:pt x="25400" y="0"/>
                </a:lnTo>
                <a:lnTo>
                  <a:pt x="25400" y="5569712"/>
                </a:lnTo>
                <a:lnTo>
                  <a:pt x="0" y="5569712"/>
                </a:lnTo>
                <a:close/>
              </a:path>
            </a:pathLst>
          </a:custGeom>
          <a:solidFill>
            <a:srgbClr val="8C877D"/>
          </a:solidFill>
          <a:ln>
            <a:noFill/>
          </a:ln>
        </p:spPr>
      </p:sp>
      <p:sp>
        <p:nvSpPr>
          <p:cNvPr id="226" name="Google Shape;226;p15"/>
          <p:cNvSpPr/>
          <p:nvPr/>
        </p:nvSpPr>
        <p:spPr>
          <a:xfrm>
            <a:off x="9141390" y="2180996"/>
            <a:ext cx="19050" cy="4177284"/>
          </a:xfrm>
          <a:custGeom>
            <a:rect b="b" l="l" r="r" t="t"/>
            <a:pathLst>
              <a:path extrusionOk="0" h="5569712" w="25400">
                <a:moveTo>
                  <a:pt x="0" y="0"/>
                </a:moveTo>
                <a:lnTo>
                  <a:pt x="25400" y="0"/>
                </a:lnTo>
                <a:lnTo>
                  <a:pt x="25400" y="5569712"/>
                </a:lnTo>
                <a:lnTo>
                  <a:pt x="0" y="5569712"/>
                </a:lnTo>
                <a:close/>
              </a:path>
            </a:pathLst>
          </a:custGeom>
          <a:solidFill>
            <a:srgbClr val="8C877D"/>
          </a:solidFill>
          <a:ln>
            <a:noFill/>
          </a:ln>
        </p:spPr>
      </p:sp>
      <p:sp>
        <p:nvSpPr>
          <p:cNvPr id="227" name="Google Shape;227;p15"/>
          <p:cNvSpPr/>
          <p:nvPr/>
        </p:nvSpPr>
        <p:spPr>
          <a:xfrm>
            <a:off x="13335562" y="2180996"/>
            <a:ext cx="19050" cy="4177284"/>
          </a:xfrm>
          <a:custGeom>
            <a:rect b="b" l="l" r="r" t="t"/>
            <a:pathLst>
              <a:path extrusionOk="0" h="5569712" w="25400">
                <a:moveTo>
                  <a:pt x="0" y="0"/>
                </a:moveTo>
                <a:lnTo>
                  <a:pt x="25400" y="0"/>
                </a:lnTo>
                <a:lnTo>
                  <a:pt x="25400" y="5569712"/>
                </a:lnTo>
                <a:lnTo>
                  <a:pt x="0" y="5569712"/>
                </a:lnTo>
                <a:close/>
              </a:path>
            </a:pathLst>
          </a:custGeom>
          <a:solidFill>
            <a:srgbClr val="8C877D"/>
          </a:solidFill>
          <a:ln>
            <a:noFill/>
          </a:ln>
        </p:spPr>
      </p:sp>
      <p:grpSp>
        <p:nvGrpSpPr>
          <p:cNvPr id="228" name="Google Shape;228;p15"/>
          <p:cNvGrpSpPr/>
          <p:nvPr/>
        </p:nvGrpSpPr>
        <p:grpSpPr>
          <a:xfrm>
            <a:off x="15480401" y="64663"/>
            <a:ext cx="4516946" cy="1127273"/>
            <a:chOff x="0" y="-241102"/>
            <a:chExt cx="6022595" cy="1503032"/>
          </a:xfrm>
        </p:grpSpPr>
        <p:grpSp>
          <p:nvGrpSpPr>
            <p:cNvPr id="229" name="Google Shape;229;p15"/>
            <p:cNvGrpSpPr/>
            <p:nvPr/>
          </p:nvGrpSpPr>
          <p:grpSpPr>
            <a:xfrm>
              <a:off x="0" y="-241102"/>
              <a:ext cx="6022595" cy="1503032"/>
              <a:chOff x="0" y="-47625"/>
              <a:chExt cx="1189648" cy="296895"/>
            </a:xfrm>
          </p:grpSpPr>
          <p:sp>
            <p:nvSpPr>
              <p:cNvPr id="230" name="Google Shape;230;p15"/>
              <p:cNvSpPr/>
              <p:nvPr/>
            </p:nvSpPr>
            <p:spPr>
              <a:xfrm>
                <a:off x="0" y="0"/>
                <a:ext cx="1189648" cy="249270"/>
              </a:xfrm>
              <a:custGeom>
                <a:rect b="b" l="l" r="r" t="t"/>
                <a:pathLst>
                  <a:path extrusionOk="0" h="249270" w="1189648">
                    <a:moveTo>
                      <a:pt x="87413" y="0"/>
                    </a:moveTo>
                    <a:lnTo>
                      <a:pt x="1102236" y="0"/>
                    </a:lnTo>
                    <a:cubicBezTo>
                      <a:pt x="1125419" y="0"/>
                      <a:pt x="1147653" y="9210"/>
                      <a:pt x="1164046" y="25603"/>
                    </a:cubicBezTo>
                    <a:cubicBezTo>
                      <a:pt x="1180439" y="41996"/>
                      <a:pt x="1189648" y="64229"/>
                      <a:pt x="1189648" y="87413"/>
                    </a:cubicBezTo>
                    <a:lnTo>
                      <a:pt x="1189648" y="161858"/>
                    </a:lnTo>
                    <a:cubicBezTo>
                      <a:pt x="1189648" y="185041"/>
                      <a:pt x="1180439" y="207275"/>
                      <a:pt x="1164046" y="223668"/>
                    </a:cubicBezTo>
                    <a:cubicBezTo>
                      <a:pt x="1147653" y="240061"/>
                      <a:pt x="1125419" y="249270"/>
                      <a:pt x="1102236" y="249270"/>
                    </a:cubicBezTo>
                    <a:lnTo>
                      <a:pt x="87413" y="249270"/>
                    </a:lnTo>
                    <a:cubicBezTo>
                      <a:pt x="64229" y="249270"/>
                      <a:pt x="41996" y="240061"/>
                      <a:pt x="25603" y="223668"/>
                    </a:cubicBezTo>
                    <a:cubicBezTo>
                      <a:pt x="9210" y="207275"/>
                      <a:pt x="0" y="185041"/>
                      <a:pt x="0" y="161858"/>
                    </a:cubicBezTo>
                    <a:lnTo>
                      <a:pt x="0" y="87413"/>
                    </a:lnTo>
                    <a:cubicBezTo>
                      <a:pt x="0" y="64229"/>
                      <a:pt x="9210" y="41996"/>
                      <a:pt x="25603" y="25603"/>
                    </a:cubicBezTo>
                    <a:cubicBezTo>
                      <a:pt x="41996" y="9210"/>
                      <a:pt x="64229" y="0"/>
                      <a:pt x="87413" y="0"/>
                    </a:cubicBezTo>
                    <a:close/>
                  </a:path>
                </a:pathLst>
              </a:custGeom>
              <a:solidFill>
                <a:srgbClr val="FE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15"/>
              <p:cNvSpPr txBox="1"/>
              <p:nvPr/>
            </p:nvSpPr>
            <p:spPr>
              <a:xfrm>
                <a:off x="0" y="-47625"/>
                <a:ext cx="1189648" cy="296895"/>
              </a:xfrm>
              <a:prstGeom prst="rect">
                <a:avLst/>
              </a:prstGeom>
              <a:noFill/>
              <a:ln>
                <a:noFill/>
              </a:ln>
            </p:spPr>
            <p:txBody>
              <a:bodyPr anchorCtr="0" anchor="ctr" bIns="50800" lIns="50800" spcFirstLastPara="1" rIns="50800" wrap="square" tIns="50800">
                <a:noAutofit/>
              </a:bodyPr>
              <a:lstStyle/>
              <a:p>
                <a:pPr indent="0" lvl="0" marL="0" marR="0" rtl="0" algn="ctr">
                  <a:lnSpc>
                    <a:spcPct val="155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32" name="Google Shape;232;p15"/>
            <p:cNvSpPr/>
            <p:nvPr/>
          </p:nvSpPr>
          <p:spPr>
            <a:xfrm>
              <a:off x="483631" y="226255"/>
              <a:ext cx="2676306" cy="809419"/>
            </a:xfrm>
            <a:custGeom>
              <a:rect b="b" l="l" r="r" t="t"/>
              <a:pathLst>
                <a:path extrusionOk="0" h="809419" w="2676306">
                  <a:moveTo>
                    <a:pt x="0" y="0"/>
                  </a:moveTo>
                  <a:lnTo>
                    <a:pt x="2676305" y="0"/>
                  </a:lnTo>
                  <a:lnTo>
                    <a:pt x="2676305" y="809420"/>
                  </a:lnTo>
                  <a:lnTo>
                    <a:pt x="0" y="809420"/>
                  </a:lnTo>
                  <a:lnTo>
                    <a:pt x="0" y="0"/>
                  </a:lnTo>
                  <a:close/>
                </a:path>
              </a:pathLst>
            </a:custGeom>
            <a:blipFill rotWithShape="1">
              <a:blip r:embed="rId4">
                <a:alphaModFix/>
              </a:blip>
              <a:stretch>
                <a:fillRect b="0" l="0" r="0" t="0"/>
              </a:stretch>
            </a:blipFill>
            <a:ln>
              <a:noFill/>
            </a:ln>
          </p:spPr>
        </p:sp>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240" name="Shape 240"/>
        <p:cNvGrpSpPr/>
        <p:nvPr/>
      </p:nvGrpSpPr>
      <p:grpSpPr>
        <a:xfrm>
          <a:off x="0" y="0"/>
          <a:ext cx="0" cy="0"/>
          <a:chOff x="0" y="0"/>
          <a:chExt cx="0" cy="0"/>
        </a:xfrm>
      </p:grpSpPr>
      <p:sp>
        <p:nvSpPr>
          <p:cNvPr id="241" name="Google Shape;241;p16"/>
          <p:cNvSpPr txBox="1"/>
          <p:nvPr/>
        </p:nvSpPr>
        <p:spPr>
          <a:xfrm>
            <a:off x="762573" y="753075"/>
            <a:ext cx="2964000" cy="219600"/>
          </a:xfrm>
          <a:prstGeom prst="rect">
            <a:avLst/>
          </a:prstGeom>
          <a:noFill/>
          <a:ln>
            <a:noFill/>
          </a:ln>
        </p:spPr>
        <p:txBody>
          <a:bodyPr anchorCtr="0" anchor="t" bIns="0" lIns="0" spcFirstLastPara="1" rIns="0" wrap="square" tIns="0">
            <a:spAutoFit/>
          </a:bodyPr>
          <a:lstStyle/>
          <a:p>
            <a:pPr indent="0" lvl="0" marL="0" marR="0" rtl="0" algn="l">
              <a:lnSpc>
                <a:spcPct val="119985"/>
              </a:lnSpc>
              <a:spcBef>
                <a:spcPts val="0"/>
              </a:spcBef>
              <a:spcAft>
                <a:spcPts val="0"/>
              </a:spcAft>
              <a:buNone/>
            </a:pPr>
            <a:r>
              <a:rPr b="0" i="0" lang="en-US" spc="199" sz="1426" u="none" cap="none" strike="noStrike">
                <a:solidFill>
                  <a:srgbClr val="1B2638"/>
                </a:solidFill>
                <a:latin typeface="Inter"/>
                <a:ea typeface="Inter"/>
                <a:cs typeface="Inter"/>
                <a:sym typeface="Inter"/>
              </a:rPr>
              <a:t>02 Bussines Problem</a:t>
            </a:r>
            <a:endParaRPr/>
          </a:p>
        </p:txBody>
      </p:sp>
      <p:sp>
        <p:nvSpPr>
          <p:cNvPr id="242" name="Google Shape;242;p16"/>
          <p:cNvSpPr txBox="1"/>
          <p:nvPr/>
        </p:nvSpPr>
        <p:spPr>
          <a:xfrm>
            <a:off x="762581" y="1075230"/>
            <a:ext cx="16776687" cy="533819"/>
          </a:xfrm>
          <a:prstGeom prst="rect">
            <a:avLst/>
          </a:prstGeom>
          <a:noFill/>
          <a:ln>
            <a:noFill/>
          </a:ln>
        </p:spPr>
        <p:txBody>
          <a:bodyPr anchorCtr="0" anchor="t" bIns="0" lIns="0" spcFirstLastPara="1" rIns="0" wrap="square" tIns="0">
            <a:spAutoFit/>
          </a:bodyPr>
          <a:lstStyle/>
          <a:p>
            <a:pPr indent="0" lvl="0" marL="0" marR="0" rtl="0" algn="l">
              <a:lnSpc>
                <a:spcPct val="111620"/>
              </a:lnSpc>
              <a:spcBef>
                <a:spcPts val="0"/>
              </a:spcBef>
              <a:spcAft>
                <a:spcPts val="0"/>
              </a:spcAft>
              <a:buNone/>
            </a:pPr>
            <a:r>
              <a:rPr b="0" i="0" lang="en-US" spc="-18" sz="3752" u="none" cap="none" strike="noStrike">
                <a:solidFill>
                  <a:srgbClr val="0F1B2B"/>
                </a:solidFill>
                <a:latin typeface="Arimo"/>
                <a:ea typeface="Arimo"/>
                <a:cs typeface="Arimo"/>
                <a:sym typeface="Arimo"/>
              </a:rPr>
              <a:t>Empat dilema rantai pasok mengikat stok, margin, dan service level</a:t>
            </a:r>
            <a:endParaRPr/>
          </a:p>
        </p:txBody>
      </p:sp>
      <p:sp>
        <p:nvSpPr>
          <p:cNvPr id="243" name="Google Shape;243;p16"/>
          <p:cNvSpPr/>
          <p:nvPr/>
        </p:nvSpPr>
        <p:spPr>
          <a:xfrm>
            <a:off x="762581" y="1887874"/>
            <a:ext cx="16776573" cy="28575"/>
          </a:xfrm>
          <a:custGeom>
            <a:rect b="b" l="l" r="r" t="t"/>
            <a:pathLst>
              <a:path extrusionOk="0" h="38100" w="22368763">
                <a:moveTo>
                  <a:pt x="0" y="19050"/>
                </a:moveTo>
                <a:cubicBezTo>
                  <a:pt x="0" y="8509"/>
                  <a:pt x="8509" y="0"/>
                  <a:pt x="19050" y="0"/>
                </a:cubicBezTo>
                <a:lnTo>
                  <a:pt x="22349713" y="0"/>
                </a:lnTo>
                <a:cubicBezTo>
                  <a:pt x="22360254" y="0"/>
                  <a:pt x="22368763" y="8509"/>
                  <a:pt x="22368763" y="19050"/>
                </a:cubicBezTo>
                <a:cubicBezTo>
                  <a:pt x="22368763" y="29591"/>
                  <a:pt x="22360254" y="38100"/>
                  <a:pt x="22349713" y="38100"/>
                </a:cubicBezTo>
                <a:lnTo>
                  <a:pt x="19050" y="38100"/>
                </a:lnTo>
                <a:cubicBezTo>
                  <a:pt x="8509" y="38100"/>
                  <a:pt x="0" y="29591"/>
                  <a:pt x="0" y="19050"/>
                </a:cubicBezTo>
                <a:close/>
              </a:path>
            </a:pathLst>
          </a:custGeom>
          <a:solidFill>
            <a:srgbClr val="CEC6B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16"/>
          <p:cNvSpPr/>
          <p:nvPr/>
        </p:nvSpPr>
        <p:spPr>
          <a:xfrm>
            <a:off x="762581" y="2180996"/>
            <a:ext cx="3851053" cy="57150"/>
          </a:xfrm>
          <a:custGeom>
            <a:rect b="b" l="l" r="r" t="t"/>
            <a:pathLst>
              <a:path extrusionOk="0" h="76200" w="5134737">
                <a:moveTo>
                  <a:pt x="0" y="0"/>
                </a:moveTo>
                <a:lnTo>
                  <a:pt x="5134737" y="0"/>
                </a:lnTo>
                <a:lnTo>
                  <a:pt x="5134737" y="76200"/>
                </a:lnTo>
                <a:lnTo>
                  <a:pt x="0" y="76200"/>
                </a:lnTo>
                <a:close/>
              </a:path>
            </a:pathLst>
          </a:custGeom>
          <a:solidFill>
            <a:srgbClr val="0CC0DF"/>
          </a:solidFill>
          <a:ln>
            <a:noFill/>
          </a:ln>
        </p:spPr>
      </p:sp>
      <p:sp>
        <p:nvSpPr>
          <p:cNvPr id="245" name="Google Shape;245;p16"/>
          <p:cNvSpPr txBox="1"/>
          <p:nvPr/>
        </p:nvSpPr>
        <p:spPr>
          <a:xfrm>
            <a:off x="1105738" y="2571836"/>
            <a:ext cx="3164691" cy="764372"/>
          </a:xfrm>
          <a:prstGeom prst="rect">
            <a:avLst/>
          </a:prstGeom>
          <a:noFill/>
          <a:ln>
            <a:noFill/>
          </a:ln>
        </p:spPr>
        <p:txBody>
          <a:bodyPr anchorCtr="0" anchor="t" bIns="0" lIns="0" spcFirstLastPara="1" rIns="0" wrap="square" tIns="0">
            <a:spAutoFit/>
          </a:bodyPr>
          <a:lstStyle/>
          <a:p>
            <a:pPr indent="0" lvl="0" marL="0" marR="0" rtl="0" algn="l">
              <a:lnSpc>
                <a:spcPct val="120032"/>
              </a:lnSpc>
              <a:spcBef>
                <a:spcPts val="0"/>
              </a:spcBef>
              <a:spcAft>
                <a:spcPts val="0"/>
              </a:spcAft>
              <a:buNone/>
            </a:pPr>
            <a:r>
              <a:rPr b="0" i="0" lang="en-US" spc="-12" sz="2476" u="none" cap="none" strike="noStrike">
                <a:solidFill>
                  <a:srgbClr val="0F1B2B"/>
                </a:solidFill>
                <a:latin typeface="Inter"/>
                <a:ea typeface="Inter"/>
                <a:cs typeface="Inter"/>
                <a:sym typeface="Inter"/>
              </a:rPr>
              <a:t>Risiko stockout &amp; lost sales</a:t>
            </a:r>
            <a:endParaRPr/>
          </a:p>
        </p:txBody>
      </p:sp>
      <p:sp>
        <p:nvSpPr>
          <p:cNvPr id="246" name="Google Shape;246;p16"/>
          <p:cNvSpPr txBox="1"/>
          <p:nvPr/>
        </p:nvSpPr>
        <p:spPr>
          <a:xfrm>
            <a:off x="1105738" y="3535394"/>
            <a:ext cx="3164691" cy="632898"/>
          </a:xfrm>
          <a:prstGeom prst="rect">
            <a:avLst/>
          </a:prstGeom>
          <a:noFill/>
          <a:ln>
            <a:noFill/>
          </a:ln>
        </p:spPr>
        <p:txBody>
          <a:bodyPr anchorCtr="0" anchor="t" bIns="0" lIns="0" spcFirstLastPara="1" rIns="0" wrap="square" tIns="0">
            <a:spAutoFit/>
          </a:bodyPr>
          <a:lstStyle/>
          <a:p>
            <a:pPr indent="0" lvl="0" marL="0" marR="0" rtl="0" algn="l">
              <a:lnSpc>
                <a:spcPct val="105604"/>
              </a:lnSpc>
              <a:spcBef>
                <a:spcPts val="0"/>
              </a:spcBef>
              <a:spcAft>
                <a:spcPts val="0"/>
              </a:spcAft>
              <a:buNone/>
            </a:pPr>
            <a:r>
              <a:rPr b="0" i="0" lang="en-US" spc="-51" sz="5103" u="none" cap="none" strike="noStrike">
                <a:solidFill>
                  <a:srgbClr val="0F1B2B"/>
                </a:solidFill>
                <a:latin typeface="Arimo"/>
                <a:ea typeface="Arimo"/>
                <a:cs typeface="Arimo"/>
                <a:sym typeface="Arimo"/>
              </a:rPr>
              <a:t>$4,9M</a:t>
            </a:r>
            <a:endParaRPr/>
          </a:p>
        </p:txBody>
      </p:sp>
      <p:sp>
        <p:nvSpPr>
          <p:cNvPr id="247" name="Google Shape;247;p16"/>
          <p:cNvSpPr txBox="1"/>
          <p:nvPr/>
        </p:nvSpPr>
        <p:spPr>
          <a:xfrm>
            <a:off x="1105738" y="4331284"/>
            <a:ext cx="3164691" cy="2326777"/>
          </a:xfrm>
          <a:prstGeom prst="rect">
            <a:avLst/>
          </a:prstGeom>
          <a:noFill/>
          <a:ln>
            <a:noFill/>
          </a:ln>
        </p:spPr>
        <p:txBody>
          <a:bodyPr anchorCtr="0" anchor="t" bIns="0" lIns="0" spcFirstLastPara="1" rIns="0" wrap="square" tIns="0">
            <a:spAutoFit/>
          </a:bodyPr>
          <a:lstStyle/>
          <a:p>
            <a:pPr indent="0" lvl="0" marL="0" marR="0" rtl="0" algn="l">
              <a:lnSpc>
                <a:spcPct val="138005"/>
              </a:lnSpc>
              <a:spcBef>
                <a:spcPts val="0"/>
              </a:spcBef>
              <a:spcAft>
                <a:spcPts val="0"/>
              </a:spcAft>
              <a:buNone/>
            </a:pPr>
            <a:r>
              <a:rPr b="0" i="0" lang="en-US" sz="2176" u="none" cap="none" strike="noStrike">
                <a:solidFill>
                  <a:srgbClr val="2B3542"/>
                </a:solidFill>
                <a:latin typeface="Inter"/>
                <a:ea typeface="Inter"/>
                <a:cs typeface="Inter"/>
                <a:sym typeface="Inter"/>
              </a:rPr>
              <a:t>SKU high-demand sering kehabisan stok, memicu potensi kehilangan pendapatan $4,9M dan perpindahan konsumen ke kompetitor.</a:t>
            </a:r>
            <a:endParaRPr/>
          </a:p>
        </p:txBody>
      </p:sp>
      <p:sp>
        <p:nvSpPr>
          <p:cNvPr id="248" name="Google Shape;248;p16"/>
          <p:cNvSpPr txBox="1"/>
          <p:nvPr/>
        </p:nvSpPr>
        <p:spPr>
          <a:xfrm>
            <a:off x="1104325" y="7465688"/>
            <a:ext cx="3507900" cy="242700"/>
          </a:xfrm>
          <a:prstGeom prst="rect">
            <a:avLst/>
          </a:prstGeom>
          <a:noFill/>
          <a:ln>
            <a:noFill/>
          </a:ln>
        </p:spPr>
        <p:txBody>
          <a:bodyPr anchorCtr="0" anchor="t" bIns="0" lIns="0" spcFirstLastPara="1" rIns="0" wrap="square" tIns="0">
            <a:spAutoFit/>
          </a:bodyPr>
          <a:lstStyle/>
          <a:p>
            <a:pPr indent="0" lvl="0" marL="0" marR="0" rtl="0" algn="l">
              <a:lnSpc>
                <a:spcPct val="129568"/>
              </a:lnSpc>
              <a:spcBef>
                <a:spcPts val="0"/>
              </a:spcBef>
              <a:spcAft>
                <a:spcPts val="0"/>
              </a:spcAft>
              <a:buNone/>
            </a:pPr>
            <a:r>
              <a:rPr b="0" i="0" lang="en-US" spc="15" sz="1576" u="none" cap="none" strike="noStrike">
                <a:solidFill>
                  <a:srgbClr val="66625A"/>
                </a:solidFill>
                <a:latin typeface="Inter"/>
                <a:ea typeface="Inter"/>
                <a:cs typeface="Inter"/>
                <a:sym typeface="Inter"/>
              </a:rPr>
              <a:t>Dampak: Erosi loyalitas ritel</a:t>
            </a:r>
            <a:endParaRPr/>
          </a:p>
        </p:txBody>
      </p:sp>
      <p:sp>
        <p:nvSpPr>
          <p:cNvPr id="249" name="Google Shape;249;p16"/>
          <p:cNvSpPr/>
          <p:nvPr/>
        </p:nvSpPr>
        <p:spPr>
          <a:xfrm>
            <a:off x="5071139" y="2180996"/>
            <a:ext cx="3851053" cy="57150"/>
          </a:xfrm>
          <a:custGeom>
            <a:rect b="b" l="l" r="r" t="t"/>
            <a:pathLst>
              <a:path extrusionOk="0" h="76200" w="5134737">
                <a:moveTo>
                  <a:pt x="0" y="0"/>
                </a:moveTo>
                <a:lnTo>
                  <a:pt x="5134737" y="0"/>
                </a:lnTo>
                <a:lnTo>
                  <a:pt x="5134737" y="76200"/>
                </a:lnTo>
                <a:lnTo>
                  <a:pt x="0" y="76200"/>
                </a:lnTo>
                <a:close/>
              </a:path>
            </a:pathLst>
          </a:custGeom>
          <a:solidFill>
            <a:srgbClr val="14253D"/>
          </a:solidFill>
          <a:ln>
            <a:noFill/>
          </a:ln>
        </p:spPr>
      </p:sp>
      <p:sp>
        <p:nvSpPr>
          <p:cNvPr id="250" name="Google Shape;250;p16"/>
          <p:cNvSpPr txBox="1"/>
          <p:nvPr/>
        </p:nvSpPr>
        <p:spPr>
          <a:xfrm>
            <a:off x="5414296" y="2571836"/>
            <a:ext cx="3164691" cy="764372"/>
          </a:xfrm>
          <a:prstGeom prst="rect">
            <a:avLst/>
          </a:prstGeom>
          <a:noFill/>
          <a:ln>
            <a:noFill/>
          </a:ln>
        </p:spPr>
        <p:txBody>
          <a:bodyPr anchorCtr="0" anchor="t" bIns="0" lIns="0" spcFirstLastPara="1" rIns="0" wrap="square" tIns="0">
            <a:spAutoFit/>
          </a:bodyPr>
          <a:lstStyle/>
          <a:p>
            <a:pPr indent="0" lvl="0" marL="0" marR="0" rtl="0" algn="l">
              <a:lnSpc>
                <a:spcPct val="120032"/>
              </a:lnSpc>
              <a:spcBef>
                <a:spcPts val="0"/>
              </a:spcBef>
              <a:spcAft>
                <a:spcPts val="0"/>
              </a:spcAft>
              <a:buNone/>
            </a:pPr>
            <a:r>
              <a:rPr b="0" i="0" lang="en-US" spc="-12" sz="2476" u="none" cap="none" strike="noStrike">
                <a:solidFill>
                  <a:srgbClr val="0F1B2B"/>
                </a:solidFill>
                <a:latin typeface="Inter"/>
                <a:ea typeface="Inter"/>
                <a:cs typeface="Inter"/>
                <a:sym typeface="Inter"/>
              </a:rPr>
              <a:t>Inefisiensi modal &amp; overstock</a:t>
            </a:r>
            <a:endParaRPr/>
          </a:p>
        </p:txBody>
      </p:sp>
      <p:sp>
        <p:nvSpPr>
          <p:cNvPr id="251" name="Google Shape;251;p16"/>
          <p:cNvSpPr txBox="1"/>
          <p:nvPr/>
        </p:nvSpPr>
        <p:spPr>
          <a:xfrm>
            <a:off x="5414296" y="3535394"/>
            <a:ext cx="3164691" cy="632898"/>
          </a:xfrm>
          <a:prstGeom prst="rect">
            <a:avLst/>
          </a:prstGeom>
          <a:noFill/>
          <a:ln>
            <a:noFill/>
          </a:ln>
        </p:spPr>
        <p:txBody>
          <a:bodyPr anchorCtr="0" anchor="t" bIns="0" lIns="0" spcFirstLastPara="1" rIns="0" wrap="square" tIns="0">
            <a:spAutoFit/>
          </a:bodyPr>
          <a:lstStyle/>
          <a:p>
            <a:pPr indent="0" lvl="0" marL="0" marR="0" rtl="0" algn="l">
              <a:lnSpc>
                <a:spcPct val="105604"/>
              </a:lnSpc>
              <a:spcBef>
                <a:spcPts val="0"/>
              </a:spcBef>
              <a:spcAft>
                <a:spcPts val="0"/>
              </a:spcAft>
              <a:buNone/>
            </a:pPr>
            <a:r>
              <a:rPr b="0" i="0" lang="en-US" spc="-51" sz="5103" u="none" cap="none" strike="noStrike">
                <a:solidFill>
                  <a:srgbClr val="0F1B2B"/>
                </a:solidFill>
                <a:latin typeface="Arimo"/>
                <a:ea typeface="Arimo"/>
                <a:cs typeface="Arimo"/>
                <a:sym typeface="Arimo"/>
              </a:rPr>
              <a:t>$76,0M</a:t>
            </a:r>
            <a:endParaRPr/>
          </a:p>
        </p:txBody>
      </p:sp>
      <p:sp>
        <p:nvSpPr>
          <p:cNvPr id="252" name="Google Shape;252;p16"/>
          <p:cNvSpPr txBox="1"/>
          <p:nvPr/>
        </p:nvSpPr>
        <p:spPr>
          <a:xfrm>
            <a:off x="5414296" y="4331284"/>
            <a:ext cx="3164691" cy="1945338"/>
          </a:xfrm>
          <a:prstGeom prst="rect">
            <a:avLst/>
          </a:prstGeom>
          <a:noFill/>
          <a:ln>
            <a:noFill/>
          </a:ln>
        </p:spPr>
        <p:txBody>
          <a:bodyPr anchorCtr="0" anchor="t" bIns="0" lIns="0" spcFirstLastPara="1" rIns="0" wrap="square" tIns="0">
            <a:spAutoFit/>
          </a:bodyPr>
          <a:lstStyle/>
          <a:p>
            <a:pPr indent="0" lvl="0" marL="0" marR="0" rtl="0" algn="l">
              <a:lnSpc>
                <a:spcPct val="138005"/>
              </a:lnSpc>
              <a:spcBef>
                <a:spcPts val="0"/>
              </a:spcBef>
              <a:spcAft>
                <a:spcPts val="0"/>
              </a:spcAft>
              <a:buNone/>
            </a:pPr>
            <a:r>
              <a:rPr b="0" i="0" lang="en-US" sz="2176" u="none" cap="none" strike="noStrike">
                <a:solidFill>
                  <a:srgbClr val="2B3542"/>
                </a:solidFill>
                <a:latin typeface="Inter"/>
                <a:ea typeface="Inter"/>
                <a:cs typeface="Inter"/>
                <a:sym typeface="Inter"/>
              </a:rPr>
              <a:t>Perencanaan manual memicu penumpukan stok senilai $76,0M di gudang, dengan risiko biaya simpan dan kedaluwarsa.</a:t>
            </a:r>
            <a:endParaRPr/>
          </a:p>
        </p:txBody>
      </p:sp>
      <p:sp>
        <p:nvSpPr>
          <p:cNvPr id="253" name="Google Shape;253;p16"/>
          <p:cNvSpPr txBox="1"/>
          <p:nvPr/>
        </p:nvSpPr>
        <p:spPr>
          <a:xfrm>
            <a:off x="5413608" y="7407575"/>
            <a:ext cx="3507900" cy="242700"/>
          </a:xfrm>
          <a:prstGeom prst="rect">
            <a:avLst/>
          </a:prstGeom>
          <a:noFill/>
          <a:ln>
            <a:noFill/>
          </a:ln>
        </p:spPr>
        <p:txBody>
          <a:bodyPr anchorCtr="0" anchor="t" bIns="0" lIns="0" spcFirstLastPara="1" rIns="0" wrap="square" tIns="0">
            <a:spAutoFit/>
          </a:bodyPr>
          <a:lstStyle/>
          <a:p>
            <a:pPr indent="0" lvl="0" marL="0" marR="0" rtl="0" algn="l">
              <a:lnSpc>
                <a:spcPct val="129568"/>
              </a:lnSpc>
              <a:spcBef>
                <a:spcPts val="0"/>
              </a:spcBef>
              <a:spcAft>
                <a:spcPts val="0"/>
              </a:spcAft>
              <a:buNone/>
            </a:pPr>
            <a:r>
              <a:rPr b="0" i="0" lang="en-US" spc="15" sz="1576" u="none" cap="none" strike="noStrike">
                <a:solidFill>
                  <a:srgbClr val="66625A"/>
                </a:solidFill>
                <a:latin typeface="Inter"/>
                <a:ea typeface="Inter"/>
                <a:cs typeface="Inter"/>
                <a:sym typeface="Inter"/>
              </a:rPr>
              <a:t>Dampak: Modal kerja tertahan</a:t>
            </a:r>
            <a:endParaRPr/>
          </a:p>
        </p:txBody>
      </p:sp>
      <p:sp>
        <p:nvSpPr>
          <p:cNvPr id="254" name="Google Shape;254;p16"/>
          <p:cNvSpPr/>
          <p:nvPr/>
        </p:nvSpPr>
        <p:spPr>
          <a:xfrm>
            <a:off x="9379696" y="2180996"/>
            <a:ext cx="3851053" cy="57150"/>
          </a:xfrm>
          <a:custGeom>
            <a:rect b="b" l="l" r="r" t="t"/>
            <a:pathLst>
              <a:path extrusionOk="0" h="76200" w="5134737">
                <a:moveTo>
                  <a:pt x="0" y="0"/>
                </a:moveTo>
                <a:lnTo>
                  <a:pt x="5134737" y="0"/>
                </a:lnTo>
                <a:lnTo>
                  <a:pt x="5134737" y="76200"/>
                </a:lnTo>
                <a:lnTo>
                  <a:pt x="0" y="76200"/>
                </a:lnTo>
                <a:close/>
              </a:path>
            </a:pathLst>
          </a:custGeom>
          <a:solidFill>
            <a:srgbClr val="14253D"/>
          </a:solidFill>
          <a:ln>
            <a:noFill/>
          </a:ln>
        </p:spPr>
      </p:sp>
      <p:sp>
        <p:nvSpPr>
          <p:cNvPr id="255" name="Google Shape;255;p16"/>
          <p:cNvSpPr txBox="1"/>
          <p:nvPr/>
        </p:nvSpPr>
        <p:spPr>
          <a:xfrm>
            <a:off x="9722853" y="2571836"/>
            <a:ext cx="3164691" cy="386953"/>
          </a:xfrm>
          <a:prstGeom prst="rect">
            <a:avLst/>
          </a:prstGeom>
          <a:noFill/>
          <a:ln>
            <a:noFill/>
          </a:ln>
        </p:spPr>
        <p:txBody>
          <a:bodyPr anchorCtr="0" anchor="t" bIns="0" lIns="0" spcFirstLastPara="1" rIns="0" wrap="square" tIns="0">
            <a:spAutoFit/>
          </a:bodyPr>
          <a:lstStyle/>
          <a:p>
            <a:pPr indent="0" lvl="0" marL="0" marR="0" rtl="0" algn="l">
              <a:lnSpc>
                <a:spcPct val="120032"/>
              </a:lnSpc>
              <a:spcBef>
                <a:spcPts val="0"/>
              </a:spcBef>
              <a:spcAft>
                <a:spcPts val="0"/>
              </a:spcAft>
              <a:buNone/>
            </a:pPr>
            <a:r>
              <a:rPr b="0" i="0" lang="en-US" spc="-12" sz="2476" u="none" cap="none" strike="noStrike">
                <a:solidFill>
                  <a:srgbClr val="0F1B2B"/>
                </a:solidFill>
                <a:latin typeface="Inter"/>
                <a:ea typeface="Inter"/>
                <a:cs typeface="Inter"/>
                <a:sym typeface="Inter"/>
              </a:rPr>
              <a:t>Erosi margin</a:t>
            </a:r>
            <a:endParaRPr/>
          </a:p>
        </p:txBody>
      </p:sp>
      <p:sp>
        <p:nvSpPr>
          <p:cNvPr id="256" name="Google Shape;256;p16"/>
          <p:cNvSpPr txBox="1"/>
          <p:nvPr/>
        </p:nvSpPr>
        <p:spPr>
          <a:xfrm>
            <a:off x="9722853" y="3157976"/>
            <a:ext cx="3164691" cy="632898"/>
          </a:xfrm>
          <a:prstGeom prst="rect">
            <a:avLst/>
          </a:prstGeom>
          <a:noFill/>
          <a:ln>
            <a:noFill/>
          </a:ln>
        </p:spPr>
        <p:txBody>
          <a:bodyPr anchorCtr="0" anchor="t" bIns="0" lIns="0" spcFirstLastPara="1" rIns="0" wrap="square" tIns="0">
            <a:spAutoFit/>
          </a:bodyPr>
          <a:lstStyle/>
          <a:p>
            <a:pPr indent="0" lvl="0" marL="0" marR="0" rtl="0" algn="l">
              <a:lnSpc>
                <a:spcPct val="105604"/>
              </a:lnSpc>
              <a:spcBef>
                <a:spcPts val="0"/>
              </a:spcBef>
              <a:spcAft>
                <a:spcPts val="0"/>
              </a:spcAft>
              <a:buNone/>
            </a:pPr>
            <a:r>
              <a:rPr b="0" i="0" lang="en-US" spc="-51" sz="5103" u="none" cap="none" strike="noStrike">
                <a:solidFill>
                  <a:srgbClr val="0F1B2B"/>
                </a:solidFill>
                <a:latin typeface="Arimo"/>
                <a:ea typeface="Arimo"/>
                <a:cs typeface="Arimo"/>
                <a:sym typeface="Arimo"/>
              </a:rPr>
              <a:t>1,4%</a:t>
            </a:r>
            <a:endParaRPr/>
          </a:p>
        </p:txBody>
      </p:sp>
      <p:sp>
        <p:nvSpPr>
          <p:cNvPr id="257" name="Google Shape;257;p16"/>
          <p:cNvSpPr txBox="1"/>
          <p:nvPr/>
        </p:nvSpPr>
        <p:spPr>
          <a:xfrm>
            <a:off x="9722853" y="3953866"/>
            <a:ext cx="3164691" cy="2326777"/>
          </a:xfrm>
          <a:prstGeom prst="rect">
            <a:avLst/>
          </a:prstGeom>
          <a:noFill/>
          <a:ln>
            <a:noFill/>
          </a:ln>
        </p:spPr>
        <p:txBody>
          <a:bodyPr anchorCtr="0" anchor="t" bIns="0" lIns="0" spcFirstLastPara="1" rIns="0" wrap="square" tIns="0">
            <a:spAutoFit/>
          </a:bodyPr>
          <a:lstStyle/>
          <a:p>
            <a:pPr indent="0" lvl="0" marL="0" marR="0" rtl="0" algn="l">
              <a:lnSpc>
                <a:spcPct val="138005"/>
              </a:lnSpc>
              <a:spcBef>
                <a:spcPts val="0"/>
              </a:spcBef>
              <a:spcAft>
                <a:spcPts val="0"/>
              </a:spcAft>
              <a:buNone/>
            </a:pPr>
            <a:r>
              <a:rPr b="0" i="0" lang="en-US" sz="2176" u="none" cap="none" strike="noStrike">
                <a:solidFill>
                  <a:srgbClr val="2B3542"/>
                </a:solidFill>
                <a:latin typeface="Inter"/>
                <a:ea typeface="Inter"/>
                <a:cs typeface="Inter"/>
                <a:sym typeface="Inter"/>
              </a:rPr>
              <a:t>Diskon rata-rata 1,4% dijalankan tanpa analisis sensitivitas harga, menciptakan kebocoran laba kotor di kategori bervolume tinggi.</a:t>
            </a:r>
            <a:endParaRPr/>
          </a:p>
        </p:txBody>
      </p:sp>
      <p:sp>
        <p:nvSpPr>
          <p:cNvPr id="258" name="Google Shape;258;p16"/>
          <p:cNvSpPr txBox="1"/>
          <p:nvPr/>
        </p:nvSpPr>
        <p:spPr>
          <a:xfrm>
            <a:off x="9722883" y="7275725"/>
            <a:ext cx="3164700" cy="556800"/>
          </a:xfrm>
          <a:prstGeom prst="rect">
            <a:avLst/>
          </a:prstGeom>
          <a:noFill/>
          <a:ln>
            <a:noFill/>
          </a:ln>
        </p:spPr>
        <p:txBody>
          <a:bodyPr anchorCtr="0" anchor="t" bIns="0" lIns="0" spcFirstLastPara="1" rIns="0" wrap="square" tIns="0">
            <a:spAutoFit/>
          </a:bodyPr>
          <a:lstStyle/>
          <a:p>
            <a:pPr indent="0" lvl="0" marL="0" marR="0" rtl="0" algn="l">
              <a:lnSpc>
                <a:spcPct val="129568"/>
              </a:lnSpc>
              <a:spcBef>
                <a:spcPts val="0"/>
              </a:spcBef>
              <a:spcAft>
                <a:spcPts val="0"/>
              </a:spcAft>
              <a:buNone/>
            </a:pPr>
            <a:r>
              <a:rPr b="0" i="0" lang="en-US" spc="15" sz="1576" u="none" cap="none" strike="noStrike">
                <a:solidFill>
                  <a:srgbClr val="66625A"/>
                </a:solidFill>
                <a:latin typeface="Inter"/>
                <a:ea typeface="Inter"/>
                <a:cs typeface="Inter"/>
                <a:sym typeface="Inter"/>
              </a:rPr>
              <a:t>Dampak: Margin tergerus tanpa uplift</a:t>
            </a:r>
            <a:endParaRPr/>
          </a:p>
        </p:txBody>
      </p:sp>
      <p:sp>
        <p:nvSpPr>
          <p:cNvPr id="259" name="Google Shape;259;p16"/>
          <p:cNvSpPr/>
          <p:nvPr/>
        </p:nvSpPr>
        <p:spPr>
          <a:xfrm>
            <a:off x="13688254" y="2180996"/>
            <a:ext cx="3851053" cy="57150"/>
          </a:xfrm>
          <a:custGeom>
            <a:rect b="b" l="l" r="r" t="t"/>
            <a:pathLst>
              <a:path extrusionOk="0" h="76200" w="5134737">
                <a:moveTo>
                  <a:pt x="0" y="0"/>
                </a:moveTo>
                <a:lnTo>
                  <a:pt x="5134737" y="0"/>
                </a:lnTo>
                <a:lnTo>
                  <a:pt x="5134737" y="76200"/>
                </a:lnTo>
                <a:lnTo>
                  <a:pt x="0" y="76200"/>
                </a:lnTo>
                <a:close/>
              </a:path>
            </a:pathLst>
          </a:custGeom>
          <a:solidFill>
            <a:srgbClr val="14253D"/>
          </a:solidFill>
          <a:ln>
            <a:noFill/>
          </a:ln>
        </p:spPr>
      </p:sp>
      <p:sp>
        <p:nvSpPr>
          <p:cNvPr id="260" name="Google Shape;260;p16"/>
          <p:cNvSpPr txBox="1"/>
          <p:nvPr/>
        </p:nvSpPr>
        <p:spPr>
          <a:xfrm>
            <a:off x="14031411" y="2571836"/>
            <a:ext cx="3164691" cy="764372"/>
          </a:xfrm>
          <a:prstGeom prst="rect">
            <a:avLst/>
          </a:prstGeom>
          <a:noFill/>
          <a:ln>
            <a:noFill/>
          </a:ln>
        </p:spPr>
        <p:txBody>
          <a:bodyPr anchorCtr="0" anchor="t" bIns="0" lIns="0" spcFirstLastPara="1" rIns="0" wrap="square" tIns="0">
            <a:spAutoFit/>
          </a:bodyPr>
          <a:lstStyle/>
          <a:p>
            <a:pPr indent="0" lvl="0" marL="0" marR="0" rtl="0" algn="l">
              <a:lnSpc>
                <a:spcPct val="120032"/>
              </a:lnSpc>
              <a:spcBef>
                <a:spcPts val="0"/>
              </a:spcBef>
              <a:spcAft>
                <a:spcPts val="0"/>
              </a:spcAft>
              <a:buNone/>
            </a:pPr>
            <a:r>
              <a:rPr b="0" i="0" lang="en-US" spc="-12" sz="2476" u="none" cap="none" strike="noStrike">
                <a:solidFill>
                  <a:srgbClr val="0F1B2B"/>
                </a:solidFill>
                <a:latin typeface="Inter"/>
                <a:ea typeface="Inter"/>
                <a:cs typeface="Inter"/>
                <a:sym typeface="Inter"/>
              </a:rPr>
              <a:t>Visibilitas S&amp;OP rendah</a:t>
            </a:r>
            <a:endParaRPr/>
          </a:p>
        </p:txBody>
      </p:sp>
      <p:sp>
        <p:nvSpPr>
          <p:cNvPr id="261" name="Google Shape;261;p16"/>
          <p:cNvSpPr txBox="1"/>
          <p:nvPr/>
        </p:nvSpPr>
        <p:spPr>
          <a:xfrm>
            <a:off x="14031411" y="3535394"/>
            <a:ext cx="3164691" cy="632898"/>
          </a:xfrm>
          <a:prstGeom prst="rect">
            <a:avLst/>
          </a:prstGeom>
          <a:noFill/>
          <a:ln>
            <a:noFill/>
          </a:ln>
        </p:spPr>
        <p:txBody>
          <a:bodyPr anchorCtr="0" anchor="t" bIns="0" lIns="0" spcFirstLastPara="1" rIns="0" wrap="square" tIns="0">
            <a:spAutoFit/>
          </a:bodyPr>
          <a:lstStyle/>
          <a:p>
            <a:pPr indent="0" lvl="0" marL="0" marR="0" rtl="0" algn="l">
              <a:lnSpc>
                <a:spcPct val="105604"/>
              </a:lnSpc>
              <a:spcBef>
                <a:spcPts val="0"/>
              </a:spcBef>
              <a:spcAft>
                <a:spcPts val="0"/>
              </a:spcAft>
              <a:buNone/>
            </a:pPr>
            <a:r>
              <a:rPr b="0" i="0" lang="en-US" spc="-51" sz="5103" u="none" cap="none" strike="noStrike">
                <a:solidFill>
                  <a:srgbClr val="0F1B2B"/>
                </a:solidFill>
                <a:latin typeface="Arimo"/>
                <a:ea typeface="Arimo"/>
                <a:cs typeface="Arimo"/>
                <a:sym typeface="Arimo"/>
              </a:rPr>
              <a:t>Siloed</a:t>
            </a:r>
            <a:endParaRPr/>
          </a:p>
        </p:txBody>
      </p:sp>
      <p:sp>
        <p:nvSpPr>
          <p:cNvPr id="262" name="Google Shape;262;p16"/>
          <p:cNvSpPr txBox="1"/>
          <p:nvPr/>
        </p:nvSpPr>
        <p:spPr>
          <a:xfrm>
            <a:off x="14031411" y="4331284"/>
            <a:ext cx="3164691" cy="2326777"/>
          </a:xfrm>
          <a:prstGeom prst="rect">
            <a:avLst/>
          </a:prstGeom>
          <a:noFill/>
          <a:ln>
            <a:noFill/>
          </a:ln>
        </p:spPr>
        <p:txBody>
          <a:bodyPr anchorCtr="0" anchor="t" bIns="0" lIns="0" spcFirstLastPara="1" rIns="0" wrap="square" tIns="0">
            <a:spAutoFit/>
          </a:bodyPr>
          <a:lstStyle/>
          <a:p>
            <a:pPr indent="0" lvl="0" marL="0" marR="0" rtl="0" algn="l">
              <a:lnSpc>
                <a:spcPct val="138005"/>
              </a:lnSpc>
              <a:spcBef>
                <a:spcPts val="0"/>
              </a:spcBef>
              <a:spcAft>
                <a:spcPts val="0"/>
              </a:spcAft>
              <a:buNone/>
            </a:pPr>
            <a:r>
              <a:rPr b="0" i="0" lang="en-US" sz="2176" u="none" cap="none" strike="noStrike">
                <a:solidFill>
                  <a:srgbClr val="2B3542"/>
                </a:solidFill>
                <a:latin typeface="Inter"/>
                <a:ea typeface="Inter"/>
                <a:cs typeface="Inter"/>
                <a:sym typeface="Inter"/>
              </a:rPr>
              <a:t>Histori, lead time supplier, dan OTIF belum tersinkronisasi terpusat, menyebabkan ketidakselarasan purchasing dan sales.</a:t>
            </a:r>
            <a:endParaRPr/>
          </a:p>
        </p:txBody>
      </p:sp>
      <p:sp>
        <p:nvSpPr>
          <p:cNvPr id="263" name="Google Shape;263;p16"/>
          <p:cNvSpPr txBox="1"/>
          <p:nvPr/>
        </p:nvSpPr>
        <p:spPr>
          <a:xfrm>
            <a:off x="14031408" y="7389300"/>
            <a:ext cx="3507900" cy="242700"/>
          </a:xfrm>
          <a:prstGeom prst="rect">
            <a:avLst/>
          </a:prstGeom>
          <a:noFill/>
          <a:ln>
            <a:noFill/>
          </a:ln>
        </p:spPr>
        <p:txBody>
          <a:bodyPr anchorCtr="0" anchor="t" bIns="0" lIns="0" spcFirstLastPara="1" rIns="0" wrap="square" tIns="0">
            <a:spAutoFit/>
          </a:bodyPr>
          <a:lstStyle/>
          <a:p>
            <a:pPr indent="0" lvl="0" marL="0" marR="0" rtl="0" algn="l">
              <a:lnSpc>
                <a:spcPct val="129568"/>
              </a:lnSpc>
              <a:spcBef>
                <a:spcPts val="0"/>
              </a:spcBef>
              <a:spcAft>
                <a:spcPts val="0"/>
              </a:spcAft>
              <a:buNone/>
            </a:pPr>
            <a:r>
              <a:rPr b="0" i="0" lang="en-US" spc="15" sz="1576" u="none" cap="none" strike="noStrike">
                <a:solidFill>
                  <a:srgbClr val="66625A"/>
                </a:solidFill>
                <a:latin typeface="Inter"/>
                <a:ea typeface="Inter"/>
                <a:cs typeface="Inter"/>
                <a:sym typeface="Inter"/>
              </a:rPr>
              <a:t>Dampak: Keputusan reaktif ad-hoc</a:t>
            </a:r>
            <a:endParaRPr/>
          </a:p>
        </p:txBody>
      </p:sp>
      <p:sp>
        <p:nvSpPr>
          <p:cNvPr id="264" name="Google Shape;264;p16"/>
          <p:cNvSpPr/>
          <p:nvPr/>
        </p:nvSpPr>
        <p:spPr>
          <a:xfrm>
            <a:off x="838206" y="7969886"/>
            <a:ext cx="16776668" cy="1533049"/>
          </a:xfrm>
          <a:custGeom>
            <a:rect b="b" l="l" r="r" t="t"/>
            <a:pathLst>
              <a:path extrusionOk="0" h="2044065" w="22368890">
                <a:moveTo>
                  <a:pt x="0" y="0"/>
                </a:moveTo>
                <a:lnTo>
                  <a:pt x="22368890" y="0"/>
                </a:lnTo>
                <a:lnTo>
                  <a:pt x="22368890" y="2044065"/>
                </a:lnTo>
                <a:lnTo>
                  <a:pt x="0" y="2044065"/>
                </a:lnTo>
                <a:close/>
              </a:path>
            </a:pathLst>
          </a:custGeom>
          <a:solidFill>
            <a:srgbClr val="EDF2F7"/>
          </a:solidFill>
          <a:ln>
            <a:noFill/>
          </a:ln>
        </p:spPr>
      </p:sp>
      <p:sp>
        <p:nvSpPr>
          <p:cNvPr id="265" name="Google Shape;265;p16"/>
          <p:cNvSpPr/>
          <p:nvPr/>
        </p:nvSpPr>
        <p:spPr>
          <a:xfrm>
            <a:off x="838206" y="7969887"/>
            <a:ext cx="16776668" cy="57150"/>
          </a:xfrm>
          <a:custGeom>
            <a:rect b="b" l="l" r="r" t="t"/>
            <a:pathLst>
              <a:path extrusionOk="0" h="76200" w="22368890">
                <a:moveTo>
                  <a:pt x="0" y="0"/>
                </a:moveTo>
                <a:lnTo>
                  <a:pt x="22368890" y="0"/>
                </a:lnTo>
                <a:lnTo>
                  <a:pt x="22368890" y="76200"/>
                </a:lnTo>
                <a:lnTo>
                  <a:pt x="0" y="76200"/>
                </a:lnTo>
                <a:close/>
              </a:path>
            </a:pathLst>
          </a:custGeom>
          <a:solidFill>
            <a:srgbClr val="0CC0DF"/>
          </a:solidFill>
          <a:ln>
            <a:noFill/>
          </a:ln>
        </p:spPr>
      </p:sp>
      <p:sp>
        <p:nvSpPr>
          <p:cNvPr id="266" name="Google Shape;266;p16"/>
          <p:cNvSpPr txBox="1"/>
          <p:nvPr/>
        </p:nvSpPr>
        <p:spPr>
          <a:xfrm>
            <a:off x="1181363" y="8208212"/>
            <a:ext cx="16433400" cy="219600"/>
          </a:xfrm>
          <a:prstGeom prst="rect">
            <a:avLst/>
          </a:prstGeom>
          <a:noFill/>
          <a:ln>
            <a:noFill/>
          </a:ln>
        </p:spPr>
        <p:txBody>
          <a:bodyPr anchorCtr="0" anchor="t" bIns="0" lIns="0" spcFirstLastPara="1" rIns="0" wrap="square" tIns="0">
            <a:spAutoFit/>
          </a:bodyPr>
          <a:lstStyle/>
          <a:p>
            <a:pPr indent="0" lvl="0" marL="0" marR="0" rtl="0" algn="l">
              <a:lnSpc>
                <a:spcPct val="119985"/>
              </a:lnSpc>
              <a:spcBef>
                <a:spcPts val="0"/>
              </a:spcBef>
              <a:spcAft>
                <a:spcPts val="0"/>
              </a:spcAft>
              <a:buNone/>
            </a:pPr>
            <a:r>
              <a:rPr b="0" i="0" lang="en-US" spc="142" sz="1426" u="none" cap="none" strike="noStrike">
                <a:solidFill>
                  <a:srgbClr val="2B3542"/>
                </a:solidFill>
                <a:latin typeface="Inter"/>
                <a:ea typeface="Inter"/>
                <a:cs typeface="Inter"/>
                <a:sym typeface="Inter"/>
              </a:rPr>
              <a:t>AKAR MASALAH</a:t>
            </a:r>
            <a:endParaRPr/>
          </a:p>
        </p:txBody>
      </p:sp>
      <p:sp>
        <p:nvSpPr>
          <p:cNvPr id="267" name="Google Shape;267;p16"/>
          <p:cNvSpPr txBox="1"/>
          <p:nvPr/>
        </p:nvSpPr>
        <p:spPr>
          <a:xfrm>
            <a:off x="1181363" y="8516050"/>
            <a:ext cx="16090500" cy="797100"/>
          </a:xfrm>
          <a:prstGeom prst="rect">
            <a:avLst/>
          </a:prstGeom>
          <a:noFill/>
          <a:ln>
            <a:noFill/>
          </a:ln>
        </p:spPr>
        <p:txBody>
          <a:bodyPr anchorCtr="0" anchor="t" bIns="0" lIns="0" spcFirstLastPara="1" rIns="0" wrap="square" tIns="0">
            <a:spAutoFit/>
          </a:bodyPr>
          <a:lstStyle/>
          <a:p>
            <a:pPr indent="0" lvl="0" marL="0" marR="0" rtl="0" algn="l">
              <a:lnSpc>
                <a:spcPct val="138005"/>
              </a:lnSpc>
              <a:spcBef>
                <a:spcPts val="0"/>
              </a:spcBef>
              <a:spcAft>
                <a:spcPts val="0"/>
              </a:spcAft>
              <a:buNone/>
            </a:pPr>
            <a:r>
              <a:rPr b="0" i="0" lang="en-US" sz="2176" u="none" cap="none" strike="noStrike">
                <a:solidFill>
                  <a:srgbClr val="2B3542"/>
                </a:solidFill>
                <a:latin typeface="Inter"/>
                <a:ea typeface="Inter"/>
                <a:cs typeface="Inter"/>
                <a:sym typeface="Inter"/>
              </a:rPr>
              <a:t>Rantai pasok mengalami paradoks klasik: </a:t>
            </a:r>
            <a:r>
              <a:rPr b="1" i="0" lang="en-US" sz="2176" u="none" cap="none" strike="noStrike">
                <a:solidFill>
                  <a:srgbClr val="2B3542"/>
                </a:solidFill>
                <a:latin typeface="Inter"/>
                <a:ea typeface="Inter"/>
                <a:cs typeface="Inter"/>
                <a:sym typeface="Inter"/>
              </a:rPr>
              <a:t>lost sales $4,9M berjalan serentak dengan timbunan overstock $76,0M</a:t>
            </a:r>
            <a:r>
              <a:rPr b="0" i="0" lang="en-US" sz="2176" u="none" cap="none" strike="noStrike">
                <a:solidFill>
                  <a:srgbClr val="2B3542"/>
                </a:solidFill>
                <a:latin typeface="Inter"/>
                <a:ea typeface="Inter"/>
                <a:cs typeface="Inter"/>
                <a:sym typeface="Inter"/>
              </a:rPr>
              <a:t> akibat alokasi safety stock statis dan kebijakan promosi seragam.</a:t>
            </a:r>
            <a:endParaRPr/>
          </a:p>
        </p:txBody>
      </p:sp>
      <p:sp>
        <p:nvSpPr>
          <p:cNvPr id="268" name="Google Shape;268;p16"/>
          <p:cNvSpPr/>
          <p:nvPr/>
        </p:nvSpPr>
        <p:spPr>
          <a:xfrm>
            <a:off x="0" y="9723091"/>
            <a:ext cx="18301811" cy="14287"/>
          </a:xfrm>
          <a:custGeom>
            <a:rect b="b" l="l" r="r" t="t"/>
            <a:pathLst>
              <a:path extrusionOk="0" h="19050" w="24402414">
                <a:moveTo>
                  <a:pt x="0" y="0"/>
                </a:moveTo>
                <a:lnTo>
                  <a:pt x="24402414" y="0"/>
                </a:lnTo>
                <a:lnTo>
                  <a:pt x="24402414" y="19050"/>
                </a:lnTo>
                <a:lnTo>
                  <a:pt x="0" y="19050"/>
                </a:lnTo>
                <a:close/>
              </a:path>
            </a:pathLst>
          </a:custGeom>
          <a:solidFill>
            <a:srgbClr val="2B3542">
              <a:alpha val="3922"/>
            </a:srgbClr>
          </a:solidFill>
          <a:ln>
            <a:noFill/>
          </a:ln>
        </p:spPr>
      </p:sp>
      <p:grpSp>
        <p:nvGrpSpPr>
          <p:cNvPr id="269" name="Google Shape;269;p16"/>
          <p:cNvGrpSpPr/>
          <p:nvPr/>
        </p:nvGrpSpPr>
        <p:grpSpPr>
          <a:xfrm>
            <a:off x="293380" y="9612742"/>
            <a:ext cx="7167785" cy="521294"/>
            <a:chOff x="0" y="-28575"/>
            <a:chExt cx="9557046" cy="695058"/>
          </a:xfrm>
        </p:grpSpPr>
        <p:sp>
          <p:nvSpPr>
            <p:cNvPr id="270" name="Google Shape;270;p16"/>
            <p:cNvSpPr/>
            <p:nvPr/>
          </p:nvSpPr>
          <p:spPr>
            <a:xfrm>
              <a:off x="0" y="0"/>
              <a:ext cx="9557046" cy="666483"/>
            </a:xfrm>
            <a:custGeom>
              <a:rect b="b" l="l" r="r" t="t"/>
              <a:pathLst>
                <a:path extrusionOk="0" h="666483" w="9557046">
                  <a:moveTo>
                    <a:pt x="0" y="0"/>
                  </a:moveTo>
                  <a:lnTo>
                    <a:pt x="9557046" y="0"/>
                  </a:lnTo>
                  <a:lnTo>
                    <a:pt x="9557046" y="666483"/>
                  </a:lnTo>
                  <a:lnTo>
                    <a:pt x="0" y="666483"/>
                  </a:lnTo>
                  <a:close/>
                </a:path>
              </a:pathLst>
            </a:custGeom>
            <a:blipFill rotWithShape="1">
              <a:blip r:embed="rId3">
                <a:alphaModFix amt="0"/>
              </a:blip>
              <a:stretch>
                <a:fillRect b="-181075" l="0" r="17296" t="-181075"/>
              </a:stretch>
            </a:blipFill>
            <a:ln>
              <a:noFill/>
            </a:ln>
          </p:spPr>
        </p:sp>
        <p:sp>
          <p:nvSpPr>
            <p:cNvPr id="271" name="Google Shape;271;p16"/>
            <p:cNvSpPr txBox="1"/>
            <p:nvPr/>
          </p:nvSpPr>
          <p:spPr>
            <a:xfrm>
              <a:off x="0" y="-28575"/>
              <a:ext cx="9557042" cy="695052"/>
            </a:xfrm>
            <a:prstGeom prst="rect">
              <a:avLst/>
            </a:prstGeom>
            <a:noFill/>
            <a:ln>
              <a:noFill/>
            </a:ln>
          </p:spPr>
          <p:txBody>
            <a:bodyPr anchorCtr="0" anchor="ctr" bIns="0" lIns="0" spcFirstLastPara="1" rIns="0" wrap="square" tIns="0">
              <a:noAutofit/>
            </a:bodyPr>
            <a:lstStyle/>
            <a:p>
              <a:pPr indent="0" lvl="0" marL="0" marR="0" rtl="0" algn="l">
                <a:lnSpc>
                  <a:spcPct val="138008"/>
                </a:lnSpc>
                <a:spcBef>
                  <a:spcPts val="0"/>
                </a:spcBef>
                <a:spcAft>
                  <a:spcPts val="0"/>
                </a:spcAft>
                <a:buNone/>
              </a:pPr>
              <a:r>
                <a:rPr b="0" i="0" lang="en-US" spc="142" sz="1426" u="none" cap="none" strike="noStrike">
                  <a:solidFill>
                    <a:srgbClr val="2B3542"/>
                  </a:solidFill>
                  <a:latin typeface="Inter"/>
                  <a:ea typeface="Inter"/>
                  <a:cs typeface="Inter"/>
                  <a:sym typeface="Inter"/>
                </a:rPr>
                <a:t>GLOBAL FMCG SUPPLY CHAIN ANALYTICS — EXECUTIVE REPORT</a:t>
              </a:r>
              <a:endParaRPr/>
            </a:p>
          </p:txBody>
        </p:sp>
      </p:grpSp>
      <p:grpSp>
        <p:nvGrpSpPr>
          <p:cNvPr id="272" name="Google Shape;272;p16"/>
          <p:cNvGrpSpPr/>
          <p:nvPr/>
        </p:nvGrpSpPr>
        <p:grpSpPr>
          <a:xfrm>
            <a:off x="15480401" y="64663"/>
            <a:ext cx="4516946" cy="1127273"/>
            <a:chOff x="0" y="-241102"/>
            <a:chExt cx="6022595" cy="1503032"/>
          </a:xfrm>
        </p:grpSpPr>
        <p:grpSp>
          <p:nvGrpSpPr>
            <p:cNvPr id="273" name="Google Shape;273;p16"/>
            <p:cNvGrpSpPr/>
            <p:nvPr/>
          </p:nvGrpSpPr>
          <p:grpSpPr>
            <a:xfrm>
              <a:off x="0" y="-241102"/>
              <a:ext cx="6022595" cy="1503032"/>
              <a:chOff x="0" y="-47625"/>
              <a:chExt cx="1189648" cy="296895"/>
            </a:xfrm>
          </p:grpSpPr>
          <p:sp>
            <p:nvSpPr>
              <p:cNvPr id="274" name="Google Shape;274;p16"/>
              <p:cNvSpPr/>
              <p:nvPr/>
            </p:nvSpPr>
            <p:spPr>
              <a:xfrm>
                <a:off x="0" y="0"/>
                <a:ext cx="1189648" cy="249270"/>
              </a:xfrm>
              <a:custGeom>
                <a:rect b="b" l="l" r="r" t="t"/>
                <a:pathLst>
                  <a:path extrusionOk="0" h="249270" w="1189648">
                    <a:moveTo>
                      <a:pt x="87413" y="0"/>
                    </a:moveTo>
                    <a:lnTo>
                      <a:pt x="1102236" y="0"/>
                    </a:lnTo>
                    <a:cubicBezTo>
                      <a:pt x="1125419" y="0"/>
                      <a:pt x="1147653" y="9210"/>
                      <a:pt x="1164046" y="25603"/>
                    </a:cubicBezTo>
                    <a:cubicBezTo>
                      <a:pt x="1180439" y="41996"/>
                      <a:pt x="1189648" y="64229"/>
                      <a:pt x="1189648" y="87413"/>
                    </a:cubicBezTo>
                    <a:lnTo>
                      <a:pt x="1189648" y="161858"/>
                    </a:lnTo>
                    <a:cubicBezTo>
                      <a:pt x="1189648" y="185041"/>
                      <a:pt x="1180439" y="207275"/>
                      <a:pt x="1164046" y="223668"/>
                    </a:cubicBezTo>
                    <a:cubicBezTo>
                      <a:pt x="1147653" y="240061"/>
                      <a:pt x="1125419" y="249270"/>
                      <a:pt x="1102236" y="249270"/>
                    </a:cubicBezTo>
                    <a:lnTo>
                      <a:pt x="87413" y="249270"/>
                    </a:lnTo>
                    <a:cubicBezTo>
                      <a:pt x="64229" y="249270"/>
                      <a:pt x="41996" y="240061"/>
                      <a:pt x="25603" y="223668"/>
                    </a:cubicBezTo>
                    <a:cubicBezTo>
                      <a:pt x="9210" y="207275"/>
                      <a:pt x="0" y="185041"/>
                      <a:pt x="0" y="161858"/>
                    </a:cubicBezTo>
                    <a:lnTo>
                      <a:pt x="0" y="87413"/>
                    </a:lnTo>
                    <a:cubicBezTo>
                      <a:pt x="0" y="64229"/>
                      <a:pt x="9210" y="41996"/>
                      <a:pt x="25603" y="25603"/>
                    </a:cubicBezTo>
                    <a:cubicBezTo>
                      <a:pt x="41996" y="9210"/>
                      <a:pt x="64229" y="0"/>
                      <a:pt x="87413" y="0"/>
                    </a:cubicBezTo>
                    <a:close/>
                  </a:path>
                </a:pathLst>
              </a:custGeom>
              <a:solidFill>
                <a:srgbClr val="FE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16"/>
              <p:cNvSpPr txBox="1"/>
              <p:nvPr/>
            </p:nvSpPr>
            <p:spPr>
              <a:xfrm>
                <a:off x="0" y="-47625"/>
                <a:ext cx="1189648" cy="296895"/>
              </a:xfrm>
              <a:prstGeom prst="rect">
                <a:avLst/>
              </a:prstGeom>
              <a:noFill/>
              <a:ln>
                <a:noFill/>
              </a:ln>
            </p:spPr>
            <p:txBody>
              <a:bodyPr anchorCtr="0" anchor="ctr" bIns="50800" lIns="50800" spcFirstLastPara="1" rIns="50800" wrap="square" tIns="50800">
                <a:noAutofit/>
              </a:bodyPr>
              <a:lstStyle/>
              <a:p>
                <a:pPr indent="0" lvl="0" marL="0" marR="0" rtl="0" algn="ctr">
                  <a:lnSpc>
                    <a:spcPct val="155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76" name="Google Shape;276;p16"/>
            <p:cNvSpPr/>
            <p:nvPr/>
          </p:nvSpPr>
          <p:spPr>
            <a:xfrm>
              <a:off x="483631" y="226255"/>
              <a:ext cx="2676306" cy="809419"/>
            </a:xfrm>
            <a:custGeom>
              <a:rect b="b" l="l" r="r" t="t"/>
              <a:pathLst>
                <a:path extrusionOk="0" h="809419" w="2676306">
                  <a:moveTo>
                    <a:pt x="0" y="0"/>
                  </a:moveTo>
                  <a:lnTo>
                    <a:pt x="2676305" y="0"/>
                  </a:lnTo>
                  <a:lnTo>
                    <a:pt x="2676305" y="809420"/>
                  </a:lnTo>
                  <a:lnTo>
                    <a:pt x="0" y="809420"/>
                  </a:lnTo>
                  <a:lnTo>
                    <a:pt x="0" y="0"/>
                  </a:lnTo>
                  <a:close/>
                </a:path>
              </a:pathLst>
            </a:custGeom>
            <a:blipFill rotWithShape="1">
              <a:blip r:embed="rId4">
                <a:alphaModFix/>
              </a:blip>
              <a:stretch>
                <a:fillRect b="0" l="0" r="0" t="0"/>
              </a:stretch>
            </a:blipFill>
            <a:ln>
              <a:noFill/>
            </a:ln>
          </p:spPr>
        </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284" name="Shape 284"/>
        <p:cNvGrpSpPr/>
        <p:nvPr/>
      </p:nvGrpSpPr>
      <p:grpSpPr>
        <a:xfrm>
          <a:off x="0" y="0"/>
          <a:ext cx="0" cy="0"/>
          <a:chOff x="0" y="0"/>
          <a:chExt cx="0" cy="0"/>
        </a:xfrm>
      </p:grpSpPr>
      <p:sp>
        <p:nvSpPr>
          <p:cNvPr id="285" name="Google Shape;285;p17"/>
          <p:cNvSpPr/>
          <p:nvPr/>
        </p:nvSpPr>
        <p:spPr>
          <a:xfrm>
            <a:off x="762581" y="2421693"/>
            <a:ext cx="16776573" cy="28575"/>
          </a:xfrm>
          <a:custGeom>
            <a:rect b="b" l="l" r="r" t="t"/>
            <a:pathLst>
              <a:path extrusionOk="0" h="38100" w="22368763">
                <a:moveTo>
                  <a:pt x="0" y="19050"/>
                </a:moveTo>
                <a:cubicBezTo>
                  <a:pt x="0" y="8509"/>
                  <a:pt x="8509" y="0"/>
                  <a:pt x="19050" y="0"/>
                </a:cubicBezTo>
                <a:lnTo>
                  <a:pt x="22349713" y="0"/>
                </a:lnTo>
                <a:cubicBezTo>
                  <a:pt x="22360254" y="0"/>
                  <a:pt x="22368763" y="8509"/>
                  <a:pt x="22368763" y="19050"/>
                </a:cubicBezTo>
                <a:cubicBezTo>
                  <a:pt x="22368763" y="29591"/>
                  <a:pt x="22360254" y="38100"/>
                  <a:pt x="22349713" y="38100"/>
                </a:cubicBezTo>
                <a:lnTo>
                  <a:pt x="19050" y="38100"/>
                </a:lnTo>
                <a:cubicBezTo>
                  <a:pt x="8509" y="38100"/>
                  <a:pt x="0" y="29591"/>
                  <a:pt x="0" y="19050"/>
                </a:cubicBezTo>
                <a:close/>
              </a:path>
            </a:pathLst>
          </a:custGeom>
          <a:solidFill>
            <a:srgbClr val="CEC6B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17"/>
          <p:cNvSpPr/>
          <p:nvPr/>
        </p:nvSpPr>
        <p:spPr>
          <a:xfrm>
            <a:off x="762581" y="7649798"/>
            <a:ext cx="9247537" cy="1838230"/>
          </a:xfrm>
          <a:custGeom>
            <a:rect b="b" l="l" r="r" t="t"/>
            <a:pathLst>
              <a:path extrusionOk="0" h="2450973" w="12330049">
                <a:moveTo>
                  <a:pt x="0" y="0"/>
                </a:moveTo>
                <a:lnTo>
                  <a:pt x="12330049" y="0"/>
                </a:lnTo>
                <a:lnTo>
                  <a:pt x="12330049" y="2450973"/>
                </a:lnTo>
                <a:lnTo>
                  <a:pt x="0" y="2450973"/>
                </a:lnTo>
                <a:close/>
              </a:path>
            </a:pathLst>
          </a:custGeom>
          <a:solidFill>
            <a:srgbClr val="B2D6FA"/>
          </a:solidFill>
          <a:ln>
            <a:noFill/>
          </a:ln>
        </p:spPr>
      </p:sp>
      <p:sp>
        <p:nvSpPr>
          <p:cNvPr id="287" name="Google Shape;287;p17"/>
          <p:cNvSpPr/>
          <p:nvPr/>
        </p:nvSpPr>
        <p:spPr>
          <a:xfrm>
            <a:off x="762581" y="7649798"/>
            <a:ext cx="9247537" cy="57150"/>
          </a:xfrm>
          <a:custGeom>
            <a:rect b="b" l="l" r="r" t="t"/>
            <a:pathLst>
              <a:path extrusionOk="0" h="76200" w="12330049">
                <a:moveTo>
                  <a:pt x="0" y="0"/>
                </a:moveTo>
                <a:lnTo>
                  <a:pt x="12330049" y="0"/>
                </a:lnTo>
                <a:lnTo>
                  <a:pt x="12330049" y="76200"/>
                </a:lnTo>
                <a:lnTo>
                  <a:pt x="0" y="76200"/>
                </a:lnTo>
                <a:close/>
              </a:path>
            </a:pathLst>
          </a:custGeom>
          <a:solidFill>
            <a:srgbClr val="0CC0DF"/>
          </a:solidFill>
          <a:ln>
            <a:noFill/>
          </a:ln>
        </p:spPr>
      </p:sp>
      <p:sp>
        <p:nvSpPr>
          <p:cNvPr id="288" name="Google Shape;288;p17"/>
          <p:cNvSpPr/>
          <p:nvPr/>
        </p:nvSpPr>
        <p:spPr>
          <a:xfrm>
            <a:off x="0" y="9723091"/>
            <a:ext cx="18301811" cy="14287"/>
          </a:xfrm>
          <a:custGeom>
            <a:rect b="b" l="l" r="r" t="t"/>
            <a:pathLst>
              <a:path extrusionOk="0" h="19050" w="24402414">
                <a:moveTo>
                  <a:pt x="0" y="0"/>
                </a:moveTo>
                <a:lnTo>
                  <a:pt x="24402414" y="0"/>
                </a:lnTo>
                <a:lnTo>
                  <a:pt x="24402414" y="19050"/>
                </a:lnTo>
                <a:lnTo>
                  <a:pt x="0" y="19050"/>
                </a:lnTo>
                <a:close/>
              </a:path>
            </a:pathLst>
          </a:custGeom>
          <a:solidFill>
            <a:srgbClr val="2B3542">
              <a:alpha val="3922"/>
            </a:srgbClr>
          </a:solidFill>
          <a:ln>
            <a:noFill/>
          </a:ln>
        </p:spPr>
      </p:sp>
      <p:grpSp>
        <p:nvGrpSpPr>
          <p:cNvPr id="289" name="Google Shape;289;p17"/>
          <p:cNvGrpSpPr/>
          <p:nvPr/>
        </p:nvGrpSpPr>
        <p:grpSpPr>
          <a:xfrm>
            <a:off x="293380" y="9612742"/>
            <a:ext cx="7167785" cy="521294"/>
            <a:chOff x="0" y="-28575"/>
            <a:chExt cx="9557046" cy="695058"/>
          </a:xfrm>
        </p:grpSpPr>
        <p:sp>
          <p:nvSpPr>
            <p:cNvPr id="290" name="Google Shape;290;p17"/>
            <p:cNvSpPr/>
            <p:nvPr/>
          </p:nvSpPr>
          <p:spPr>
            <a:xfrm>
              <a:off x="0" y="0"/>
              <a:ext cx="9557046" cy="666483"/>
            </a:xfrm>
            <a:custGeom>
              <a:rect b="b" l="l" r="r" t="t"/>
              <a:pathLst>
                <a:path extrusionOk="0" h="666483" w="9557046">
                  <a:moveTo>
                    <a:pt x="0" y="0"/>
                  </a:moveTo>
                  <a:lnTo>
                    <a:pt x="9557046" y="0"/>
                  </a:lnTo>
                  <a:lnTo>
                    <a:pt x="9557046" y="666483"/>
                  </a:lnTo>
                  <a:lnTo>
                    <a:pt x="0" y="666483"/>
                  </a:lnTo>
                  <a:close/>
                </a:path>
              </a:pathLst>
            </a:custGeom>
            <a:blipFill rotWithShape="1">
              <a:blip r:embed="rId3">
                <a:alphaModFix amt="0"/>
              </a:blip>
              <a:stretch>
                <a:fillRect b="-181075" l="0" r="17296" t="-181075"/>
              </a:stretch>
            </a:blipFill>
            <a:ln>
              <a:noFill/>
            </a:ln>
          </p:spPr>
        </p:sp>
        <p:sp>
          <p:nvSpPr>
            <p:cNvPr id="291" name="Google Shape;291;p17"/>
            <p:cNvSpPr txBox="1"/>
            <p:nvPr/>
          </p:nvSpPr>
          <p:spPr>
            <a:xfrm>
              <a:off x="0" y="-28575"/>
              <a:ext cx="9557042" cy="695052"/>
            </a:xfrm>
            <a:prstGeom prst="rect">
              <a:avLst/>
            </a:prstGeom>
            <a:noFill/>
            <a:ln>
              <a:noFill/>
            </a:ln>
          </p:spPr>
          <p:txBody>
            <a:bodyPr anchorCtr="0" anchor="ctr" bIns="0" lIns="0" spcFirstLastPara="1" rIns="0" wrap="square" tIns="0">
              <a:noAutofit/>
            </a:bodyPr>
            <a:lstStyle/>
            <a:p>
              <a:pPr indent="0" lvl="0" marL="0" marR="0" rtl="0" algn="l">
                <a:lnSpc>
                  <a:spcPct val="138008"/>
                </a:lnSpc>
                <a:spcBef>
                  <a:spcPts val="0"/>
                </a:spcBef>
                <a:spcAft>
                  <a:spcPts val="0"/>
                </a:spcAft>
                <a:buNone/>
              </a:pPr>
              <a:r>
                <a:rPr b="0" i="0" lang="en-US" spc="142" sz="1426" u="none" cap="none" strike="noStrike">
                  <a:solidFill>
                    <a:srgbClr val="2B3542"/>
                  </a:solidFill>
                  <a:latin typeface="Inter"/>
                  <a:ea typeface="Inter"/>
                  <a:cs typeface="Inter"/>
                  <a:sym typeface="Inter"/>
                </a:rPr>
                <a:t>GLOBAL FMCG SUPPLY CHAIN ANALYTICS — EXECUTIVE REPORT</a:t>
              </a:r>
              <a:endParaRPr/>
            </a:p>
          </p:txBody>
        </p:sp>
      </p:grpSp>
      <p:sp>
        <p:nvSpPr>
          <p:cNvPr id="292" name="Google Shape;292;p17"/>
          <p:cNvSpPr/>
          <p:nvPr/>
        </p:nvSpPr>
        <p:spPr>
          <a:xfrm>
            <a:off x="11242217" y="2915299"/>
            <a:ext cx="5392782" cy="6807792"/>
          </a:xfrm>
          <a:custGeom>
            <a:rect b="b" l="l" r="r" t="t"/>
            <a:pathLst>
              <a:path extrusionOk="0" h="6807792" w="5392782">
                <a:moveTo>
                  <a:pt x="0" y="0"/>
                </a:moveTo>
                <a:lnTo>
                  <a:pt x="5392783" y="0"/>
                </a:lnTo>
                <a:lnTo>
                  <a:pt x="5392783" y="6807792"/>
                </a:lnTo>
                <a:lnTo>
                  <a:pt x="0" y="6807792"/>
                </a:lnTo>
                <a:lnTo>
                  <a:pt x="0" y="0"/>
                </a:lnTo>
                <a:close/>
              </a:path>
            </a:pathLst>
          </a:custGeom>
          <a:blipFill rotWithShape="1">
            <a:blip r:embed="rId4">
              <a:alphaModFix/>
            </a:blip>
            <a:stretch>
              <a:fillRect b="-7775" l="-680" r="-680" t="0"/>
            </a:stretch>
          </a:blipFill>
          <a:ln>
            <a:noFill/>
          </a:ln>
        </p:spPr>
      </p:sp>
      <p:sp>
        <p:nvSpPr>
          <p:cNvPr id="293" name="Google Shape;293;p17"/>
          <p:cNvSpPr txBox="1"/>
          <p:nvPr/>
        </p:nvSpPr>
        <p:spPr>
          <a:xfrm>
            <a:off x="762581" y="753075"/>
            <a:ext cx="17539268" cy="226838"/>
          </a:xfrm>
          <a:prstGeom prst="rect">
            <a:avLst/>
          </a:prstGeom>
          <a:noFill/>
          <a:ln>
            <a:noFill/>
          </a:ln>
        </p:spPr>
        <p:txBody>
          <a:bodyPr anchorCtr="0" anchor="t" bIns="0" lIns="0" spcFirstLastPara="1" rIns="0" wrap="square" tIns="0">
            <a:spAutoFit/>
          </a:bodyPr>
          <a:lstStyle/>
          <a:p>
            <a:pPr indent="0" lvl="0" marL="0" marR="0" rtl="0" algn="l">
              <a:lnSpc>
                <a:spcPct val="119985"/>
              </a:lnSpc>
              <a:spcBef>
                <a:spcPts val="0"/>
              </a:spcBef>
              <a:spcAft>
                <a:spcPts val="0"/>
              </a:spcAft>
              <a:buNone/>
            </a:pPr>
            <a:r>
              <a:rPr b="0" i="0" lang="en-US" spc="199" sz="1426" u="none" cap="none" strike="noStrike">
                <a:solidFill>
                  <a:srgbClr val="1B2638"/>
                </a:solidFill>
                <a:latin typeface="Inter"/>
                <a:ea typeface="Inter"/>
                <a:cs typeface="Inter"/>
                <a:sym typeface="Inter"/>
              </a:rPr>
              <a:t>03 ARSITEKTUR DATA</a:t>
            </a:r>
            <a:endParaRPr/>
          </a:p>
        </p:txBody>
      </p:sp>
      <p:sp>
        <p:nvSpPr>
          <p:cNvPr id="294" name="Google Shape;294;p17"/>
          <p:cNvSpPr txBox="1"/>
          <p:nvPr/>
        </p:nvSpPr>
        <p:spPr>
          <a:xfrm>
            <a:off x="762581" y="1075230"/>
            <a:ext cx="12322497" cy="1087786"/>
          </a:xfrm>
          <a:prstGeom prst="rect">
            <a:avLst/>
          </a:prstGeom>
          <a:noFill/>
          <a:ln>
            <a:noFill/>
          </a:ln>
        </p:spPr>
        <p:txBody>
          <a:bodyPr anchorCtr="0" anchor="t" bIns="0" lIns="0" spcFirstLastPara="1" rIns="0" wrap="square" tIns="0">
            <a:spAutoFit/>
          </a:bodyPr>
          <a:lstStyle/>
          <a:p>
            <a:pPr indent="0" lvl="0" marL="0" marR="0" rtl="0" algn="l">
              <a:lnSpc>
                <a:spcPct val="111620"/>
              </a:lnSpc>
              <a:spcBef>
                <a:spcPts val="0"/>
              </a:spcBef>
              <a:spcAft>
                <a:spcPts val="0"/>
              </a:spcAft>
              <a:buNone/>
            </a:pPr>
            <a:r>
              <a:rPr b="0" i="0" lang="en-US" spc="-18" sz="3752" u="none" cap="none" strike="noStrike">
                <a:solidFill>
                  <a:srgbClr val="0F1B2B"/>
                </a:solidFill>
                <a:latin typeface="Arimo"/>
                <a:ea typeface="Arimo"/>
                <a:cs typeface="Arimo"/>
                <a:sym typeface="Arimo"/>
              </a:rPr>
              <a:t>Arsitektur star schema menghubungkan transaksi, procurement, dan forecast</a:t>
            </a:r>
            <a:endParaRPr/>
          </a:p>
        </p:txBody>
      </p:sp>
      <p:sp>
        <p:nvSpPr>
          <p:cNvPr id="295" name="Google Shape;295;p17"/>
          <p:cNvSpPr txBox="1"/>
          <p:nvPr/>
        </p:nvSpPr>
        <p:spPr>
          <a:xfrm>
            <a:off x="762575" y="3048450"/>
            <a:ext cx="4779300" cy="219600"/>
          </a:xfrm>
          <a:prstGeom prst="rect">
            <a:avLst/>
          </a:prstGeom>
          <a:noFill/>
          <a:ln>
            <a:noFill/>
          </a:ln>
        </p:spPr>
        <p:txBody>
          <a:bodyPr anchorCtr="0" anchor="t" bIns="0" lIns="0" spcFirstLastPara="1" rIns="0" wrap="square" tIns="0">
            <a:spAutoFit/>
          </a:bodyPr>
          <a:lstStyle/>
          <a:p>
            <a:pPr indent="0" lvl="0" marL="0" marR="0" rtl="0" algn="l">
              <a:lnSpc>
                <a:spcPct val="119985"/>
              </a:lnSpc>
              <a:spcBef>
                <a:spcPts val="0"/>
              </a:spcBef>
              <a:spcAft>
                <a:spcPts val="0"/>
              </a:spcAft>
              <a:buNone/>
            </a:pPr>
            <a:r>
              <a:rPr b="0" i="0" lang="en-US" spc="142" sz="1426" u="none" cap="none" strike="noStrike">
                <a:solidFill>
                  <a:srgbClr val="1B2638"/>
                </a:solidFill>
                <a:latin typeface="Inter"/>
                <a:ea typeface="Inter"/>
                <a:cs typeface="Inter"/>
                <a:sym typeface="Inter"/>
              </a:rPr>
              <a:t>ALUR PEMROSESAN DAN SKEMA RELASIONAL</a:t>
            </a:r>
            <a:endParaRPr/>
          </a:p>
        </p:txBody>
      </p:sp>
      <p:sp>
        <p:nvSpPr>
          <p:cNvPr id="296" name="Google Shape;296;p17"/>
          <p:cNvSpPr txBox="1"/>
          <p:nvPr/>
        </p:nvSpPr>
        <p:spPr>
          <a:xfrm>
            <a:off x="762581" y="3365878"/>
            <a:ext cx="9247584" cy="2917946"/>
          </a:xfrm>
          <a:prstGeom prst="rect">
            <a:avLst/>
          </a:prstGeom>
          <a:noFill/>
          <a:ln>
            <a:noFill/>
          </a:ln>
        </p:spPr>
        <p:txBody>
          <a:bodyPr anchorCtr="0" anchor="t" bIns="0" lIns="0" spcFirstLastPara="1" rIns="0" wrap="square" tIns="0">
            <a:spAutoFit/>
          </a:bodyPr>
          <a:lstStyle/>
          <a:p>
            <a:pPr indent="-197118" lvl="1" marL="394236" marR="0" rtl="0" algn="l">
              <a:lnSpc>
                <a:spcPct val="138005"/>
              </a:lnSpc>
              <a:spcBef>
                <a:spcPts val="0"/>
              </a:spcBef>
              <a:spcAft>
                <a:spcPts val="0"/>
              </a:spcAft>
              <a:buClr>
                <a:srgbClr val="2B3542"/>
              </a:buClr>
              <a:buSzPts val="2176"/>
              <a:buFont typeface="Inter"/>
              <a:buAutoNum type="arabicPeriod"/>
            </a:pPr>
            <a:r>
              <a:rPr b="0" i="0" lang="en-US" sz="2176" u="none" cap="none" strike="noStrike">
                <a:solidFill>
                  <a:srgbClr val="2B3542"/>
                </a:solidFill>
                <a:latin typeface="Inter"/>
                <a:ea typeface="Inter"/>
                <a:cs typeface="Inter"/>
                <a:sym typeface="Inter"/>
              </a:rPr>
              <a:t>Python pipeline: pembersihan data, imputasi median, penanganan missing values, feature engineering elastisitas harga, dan rolling moving average</a:t>
            </a:r>
            <a:endParaRPr/>
          </a:p>
          <a:p>
            <a:pPr indent="-197118" lvl="1" marL="394236" marR="0" rtl="0" algn="l">
              <a:lnSpc>
                <a:spcPct val="138005"/>
              </a:lnSpc>
              <a:spcBef>
                <a:spcPts val="0"/>
              </a:spcBef>
              <a:spcAft>
                <a:spcPts val="0"/>
              </a:spcAft>
              <a:buClr>
                <a:srgbClr val="2B3542"/>
              </a:buClr>
              <a:buSzPts val="2176"/>
              <a:buFont typeface="Inter"/>
              <a:buAutoNum type="arabicPeriod"/>
            </a:pPr>
            <a:r>
              <a:rPr b="0" i="0" lang="en-US" sz="2176" u="none" cap="none" strike="noStrike">
                <a:solidFill>
                  <a:srgbClr val="2B3542"/>
                </a:solidFill>
                <a:latin typeface="Inter"/>
                <a:ea typeface="Inter"/>
                <a:cs typeface="Inter"/>
                <a:sym typeface="Inter"/>
              </a:rPr>
              <a:t>Fact table </a:t>
            </a:r>
            <a:r>
              <a:rPr b="1" i="0" lang="en-US" sz="2176" u="none" cap="none" strike="noStrike">
                <a:solidFill>
                  <a:srgbClr val="2B3542"/>
                </a:solidFill>
                <a:latin typeface="Inter"/>
                <a:ea typeface="Inter"/>
                <a:cs typeface="Inter"/>
                <a:sym typeface="Inter"/>
              </a:rPr>
              <a:t>fmcg_master_clean</a:t>
            </a:r>
            <a:r>
              <a:rPr b="0" i="0" lang="en-US" sz="2176" u="none" cap="none" strike="noStrike">
                <a:solidFill>
                  <a:srgbClr val="2B3542"/>
                </a:solidFill>
                <a:latin typeface="Inter"/>
                <a:ea typeface="Inter"/>
                <a:cs typeface="Inter"/>
                <a:sym typeface="Inter"/>
              </a:rPr>
              <a:t>: 1,1 juta baris transaksi relasional</a:t>
            </a:r>
            <a:endParaRPr/>
          </a:p>
          <a:p>
            <a:pPr indent="-197118" lvl="1" marL="394236" marR="0" rtl="0" algn="l">
              <a:lnSpc>
                <a:spcPct val="138005"/>
              </a:lnSpc>
              <a:spcBef>
                <a:spcPts val="0"/>
              </a:spcBef>
              <a:spcAft>
                <a:spcPts val="0"/>
              </a:spcAft>
              <a:buClr>
                <a:srgbClr val="2B3542"/>
              </a:buClr>
              <a:buSzPts val="2176"/>
              <a:buFont typeface="Inter"/>
              <a:buAutoNum type="arabicPeriod"/>
            </a:pPr>
            <a:r>
              <a:rPr b="0" i="0" lang="en-US" sz="2176" u="none" cap="none" strike="noStrike">
                <a:solidFill>
                  <a:srgbClr val="2B3542"/>
                </a:solidFill>
                <a:latin typeface="Inter"/>
                <a:ea typeface="Inter"/>
                <a:cs typeface="Inter"/>
                <a:sym typeface="Inter"/>
              </a:rPr>
              <a:t>Dimension table </a:t>
            </a:r>
            <a:r>
              <a:rPr b="1" i="0" lang="en-US" sz="2176" u="none" cap="none" strike="noStrike">
                <a:solidFill>
                  <a:srgbClr val="2B3542"/>
                </a:solidFill>
                <a:latin typeface="Inter"/>
                <a:ea typeface="Inter"/>
                <a:cs typeface="Inter"/>
                <a:sym typeface="Inter"/>
              </a:rPr>
              <a:t>Dim_Date</a:t>
            </a:r>
            <a:r>
              <a:rPr b="0" i="0" lang="en-US" sz="2176" u="none" cap="none" strike="noStrike">
                <a:solidFill>
                  <a:srgbClr val="2B3542"/>
                </a:solidFill>
                <a:latin typeface="Inter"/>
                <a:ea typeface="Inter"/>
                <a:cs typeface="Inter"/>
                <a:sym typeface="Inter"/>
              </a:rPr>
              <a:t>: filter lintas tahun 2021–2023</a:t>
            </a:r>
            <a:endParaRPr/>
          </a:p>
          <a:p>
            <a:pPr indent="-197118" lvl="1" marL="394236" marR="0" rtl="0" algn="l">
              <a:lnSpc>
                <a:spcPct val="138005"/>
              </a:lnSpc>
              <a:spcBef>
                <a:spcPts val="0"/>
              </a:spcBef>
              <a:spcAft>
                <a:spcPts val="0"/>
              </a:spcAft>
              <a:buClr>
                <a:srgbClr val="2B3542"/>
              </a:buClr>
              <a:buSzPts val="2176"/>
              <a:buFont typeface="Inter"/>
              <a:buAutoNum type="arabicPeriod"/>
            </a:pPr>
            <a:r>
              <a:rPr b="0" i="0" lang="en-US" sz="2176" u="none" cap="none" strike="noStrike">
                <a:solidFill>
                  <a:srgbClr val="2B3542"/>
                </a:solidFill>
                <a:latin typeface="Inter"/>
                <a:ea typeface="Inter"/>
                <a:cs typeface="Inter"/>
                <a:sym typeface="Inter"/>
              </a:rPr>
              <a:t>Procurement table </a:t>
            </a:r>
            <a:r>
              <a:rPr b="1" i="0" lang="en-US" sz="2176" u="none" cap="none" strike="noStrike">
                <a:solidFill>
                  <a:srgbClr val="2B3542"/>
                </a:solidFill>
                <a:latin typeface="Inter"/>
                <a:ea typeface="Inter"/>
                <a:cs typeface="Inter"/>
                <a:sym typeface="Inter"/>
              </a:rPr>
              <a:t>fmcg_procurement_safetystock</a:t>
            </a:r>
            <a:r>
              <a:rPr b="0" i="0" lang="en-US" sz="2176" u="none" cap="none" strike="noStrike">
                <a:solidFill>
                  <a:srgbClr val="2B3542"/>
                </a:solidFill>
                <a:latin typeface="Inter"/>
                <a:ea typeface="Inter"/>
                <a:cs typeface="Inter"/>
                <a:sym typeface="Inter"/>
              </a:rPr>
              <a:t>: safety stock, lead time, dan rekomendasi PO per supplier</a:t>
            </a:r>
            <a:endParaRPr/>
          </a:p>
          <a:p>
            <a:pPr indent="-197118" lvl="1" marL="394236" marR="0" rtl="0" algn="l">
              <a:lnSpc>
                <a:spcPct val="138005"/>
              </a:lnSpc>
              <a:spcBef>
                <a:spcPts val="0"/>
              </a:spcBef>
              <a:spcAft>
                <a:spcPts val="0"/>
              </a:spcAft>
              <a:buClr>
                <a:srgbClr val="2B3542"/>
              </a:buClr>
              <a:buSzPts val="2176"/>
              <a:buFont typeface="Inter"/>
              <a:buAutoNum type="arabicPeriod"/>
            </a:pPr>
            <a:r>
              <a:rPr b="0" i="0" lang="en-US" sz="2176" u="none" cap="none" strike="noStrike">
                <a:solidFill>
                  <a:srgbClr val="2B3542"/>
                </a:solidFill>
                <a:latin typeface="Inter"/>
                <a:ea typeface="Inter"/>
                <a:cs typeface="Inter"/>
                <a:sym typeface="Inter"/>
              </a:rPr>
              <a:t>Predictive table </a:t>
            </a:r>
            <a:r>
              <a:rPr b="1" i="0" lang="en-US" sz="2176" u="none" cap="none" strike="noStrike">
                <a:solidFill>
                  <a:srgbClr val="2B3542"/>
                </a:solidFill>
                <a:latin typeface="Inter"/>
                <a:ea typeface="Inter"/>
                <a:cs typeface="Inter"/>
                <a:sym typeface="Inter"/>
              </a:rPr>
              <a:t>fmcg_future_forecast</a:t>
            </a:r>
            <a:r>
              <a:rPr b="0" i="0" lang="en-US" sz="2176" u="none" cap="none" strike="noStrike">
                <a:solidFill>
                  <a:srgbClr val="2B3542"/>
                </a:solidFill>
                <a:latin typeface="Inter"/>
                <a:ea typeface="Inter"/>
                <a:cs typeface="Inter"/>
                <a:sym typeface="Inter"/>
              </a:rPr>
              <a:t>: baseline demand harian 2024</a:t>
            </a:r>
            <a:endParaRPr/>
          </a:p>
        </p:txBody>
      </p:sp>
      <p:sp>
        <p:nvSpPr>
          <p:cNvPr id="297" name="Google Shape;297;p17"/>
          <p:cNvSpPr txBox="1"/>
          <p:nvPr/>
        </p:nvSpPr>
        <p:spPr>
          <a:xfrm>
            <a:off x="1029481" y="7849985"/>
            <a:ext cx="8980800" cy="219600"/>
          </a:xfrm>
          <a:prstGeom prst="rect">
            <a:avLst/>
          </a:prstGeom>
          <a:noFill/>
          <a:ln>
            <a:noFill/>
          </a:ln>
        </p:spPr>
        <p:txBody>
          <a:bodyPr anchorCtr="0" anchor="t" bIns="0" lIns="0" spcFirstLastPara="1" rIns="0" wrap="square" tIns="0">
            <a:spAutoFit/>
          </a:bodyPr>
          <a:lstStyle/>
          <a:p>
            <a:pPr indent="0" lvl="0" marL="0" marR="0" rtl="0" algn="l">
              <a:lnSpc>
                <a:spcPct val="119985"/>
              </a:lnSpc>
              <a:spcBef>
                <a:spcPts val="0"/>
              </a:spcBef>
              <a:spcAft>
                <a:spcPts val="0"/>
              </a:spcAft>
              <a:buNone/>
            </a:pPr>
            <a:r>
              <a:rPr b="0" i="0" lang="en-US" spc="142" sz="1426" u="none" cap="none" strike="noStrike">
                <a:solidFill>
                  <a:srgbClr val="2B3542"/>
                </a:solidFill>
                <a:latin typeface="Inter"/>
                <a:ea typeface="Inter"/>
                <a:cs typeface="Inter"/>
                <a:sym typeface="Inter"/>
              </a:rPr>
              <a:t>INTEGRITAS RELASI</a:t>
            </a:r>
            <a:endParaRPr/>
          </a:p>
        </p:txBody>
      </p:sp>
      <p:sp>
        <p:nvSpPr>
          <p:cNvPr id="298" name="Google Shape;298;p17"/>
          <p:cNvSpPr txBox="1"/>
          <p:nvPr/>
        </p:nvSpPr>
        <p:spPr>
          <a:xfrm>
            <a:off x="1029481" y="8157833"/>
            <a:ext cx="8713800" cy="1259400"/>
          </a:xfrm>
          <a:prstGeom prst="rect">
            <a:avLst/>
          </a:prstGeom>
          <a:noFill/>
          <a:ln>
            <a:noFill/>
          </a:ln>
        </p:spPr>
        <p:txBody>
          <a:bodyPr anchorCtr="0" anchor="t" bIns="0" lIns="0" spcFirstLastPara="1" rIns="0" wrap="square" tIns="0">
            <a:spAutoFit/>
          </a:bodyPr>
          <a:lstStyle/>
          <a:p>
            <a:pPr indent="0" lvl="0" marL="0" marR="0" rtl="0" algn="l">
              <a:lnSpc>
                <a:spcPct val="138005"/>
              </a:lnSpc>
              <a:spcBef>
                <a:spcPts val="0"/>
              </a:spcBef>
              <a:spcAft>
                <a:spcPts val="0"/>
              </a:spcAft>
              <a:buNone/>
            </a:pPr>
            <a:r>
              <a:rPr b="0" i="0" lang="en-US" sz="2176" u="none" cap="none" strike="noStrike">
                <a:solidFill>
                  <a:srgbClr val="2B3542"/>
                </a:solidFill>
                <a:latin typeface="Inter"/>
                <a:ea typeface="Inter"/>
                <a:cs typeface="Inter"/>
                <a:sym typeface="Inter"/>
              </a:rPr>
              <a:t>Relasi star schema 1-to-many menghubungkan dimensi tanggal dan tabel pengadaan ke tabel fakta transaksi untuk menjamin agregasi DAX instan tanpa kalkulasi ganda.</a:t>
            </a:r>
            <a:endParaRPr/>
          </a:p>
        </p:txBody>
      </p:sp>
      <p:sp>
        <p:nvSpPr>
          <p:cNvPr id="299" name="Google Shape;299;p17"/>
          <p:cNvSpPr txBox="1"/>
          <p:nvPr/>
        </p:nvSpPr>
        <p:spPr>
          <a:xfrm>
            <a:off x="12647904" y="2600974"/>
            <a:ext cx="2832497" cy="219075"/>
          </a:xfrm>
          <a:prstGeom prst="rect">
            <a:avLst/>
          </a:prstGeom>
          <a:noFill/>
          <a:ln>
            <a:noFill/>
          </a:ln>
        </p:spPr>
        <p:txBody>
          <a:bodyPr anchorCtr="0" anchor="t" bIns="0" lIns="0" spcFirstLastPara="1" rIns="0" wrap="square" tIns="0">
            <a:spAutoFit/>
          </a:bodyPr>
          <a:lstStyle/>
          <a:p>
            <a:pPr indent="0" lvl="0" marL="0" marR="0" rtl="0" algn="l">
              <a:lnSpc>
                <a:spcPct val="119985"/>
              </a:lnSpc>
              <a:spcBef>
                <a:spcPts val="0"/>
              </a:spcBef>
              <a:spcAft>
                <a:spcPts val="0"/>
              </a:spcAft>
              <a:buNone/>
            </a:pPr>
            <a:r>
              <a:rPr b="0" i="0" lang="en-US" spc="142" sz="1426" u="none" cap="none" strike="noStrike">
                <a:solidFill>
                  <a:srgbClr val="1B2638"/>
                </a:solidFill>
                <a:latin typeface="Inter"/>
                <a:ea typeface="Inter"/>
                <a:cs typeface="Inter"/>
                <a:sym typeface="Inter"/>
              </a:rPr>
              <a:t>DATA MODEL SCHEMA MAP</a:t>
            </a:r>
            <a:endParaRPr/>
          </a:p>
        </p:txBody>
      </p:sp>
      <p:grpSp>
        <p:nvGrpSpPr>
          <p:cNvPr id="300" name="Google Shape;300;p17"/>
          <p:cNvGrpSpPr/>
          <p:nvPr/>
        </p:nvGrpSpPr>
        <p:grpSpPr>
          <a:xfrm>
            <a:off x="15480401" y="64663"/>
            <a:ext cx="4516946" cy="1127273"/>
            <a:chOff x="0" y="-241102"/>
            <a:chExt cx="6022595" cy="1503032"/>
          </a:xfrm>
        </p:grpSpPr>
        <p:grpSp>
          <p:nvGrpSpPr>
            <p:cNvPr id="301" name="Google Shape;301;p17"/>
            <p:cNvGrpSpPr/>
            <p:nvPr/>
          </p:nvGrpSpPr>
          <p:grpSpPr>
            <a:xfrm>
              <a:off x="0" y="-241102"/>
              <a:ext cx="6022595" cy="1503032"/>
              <a:chOff x="0" y="-47625"/>
              <a:chExt cx="1189648" cy="296895"/>
            </a:xfrm>
          </p:grpSpPr>
          <p:sp>
            <p:nvSpPr>
              <p:cNvPr id="302" name="Google Shape;302;p17"/>
              <p:cNvSpPr/>
              <p:nvPr/>
            </p:nvSpPr>
            <p:spPr>
              <a:xfrm>
                <a:off x="0" y="0"/>
                <a:ext cx="1189648" cy="249270"/>
              </a:xfrm>
              <a:custGeom>
                <a:rect b="b" l="l" r="r" t="t"/>
                <a:pathLst>
                  <a:path extrusionOk="0" h="249270" w="1189648">
                    <a:moveTo>
                      <a:pt x="87413" y="0"/>
                    </a:moveTo>
                    <a:lnTo>
                      <a:pt x="1102236" y="0"/>
                    </a:lnTo>
                    <a:cubicBezTo>
                      <a:pt x="1125419" y="0"/>
                      <a:pt x="1147653" y="9210"/>
                      <a:pt x="1164046" y="25603"/>
                    </a:cubicBezTo>
                    <a:cubicBezTo>
                      <a:pt x="1180439" y="41996"/>
                      <a:pt x="1189648" y="64229"/>
                      <a:pt x="1189648" y="87413"/>
                    </a:cubicBezTo>
                    <a:lnTo>
                      <a:pt x="1189648" y="161858"/>
                    </a:lnTo>
                    <a:cubicBezTo>
                      <a:pt x="1189648" y="185041"/>
                      <a:pt x="1180439" y="207275"/>
                      <a:pt x="1164046" y="223668"/>
                    </a:cubicBezTo>
                    <a:cubicBezTo>
                      <a:pt x="1147653" y="240061"/>
                      <a:pt x="1125419" y="249270"/>
                      <a:pt x="1102236" y="249270"/>
                    </a:cubicBezTo>
                    <a:lnTo>
                      <a:pt x="87413" y="249270"/>
                    </a:lnTo>
                    <a:cubicBezTo>
                      <a:pt x="64229" y="249270"/>
                      <a:pt x="41996" y="240061"/>
                      <a:pt x="25603" y="223668"/>
                    </a:cubicBezTo>
                    <a:cubicBezTo>
                      <a:pt x="9210" y="207275"/>
                      <a:pt x="0" y="185041"/>
                      <a:pt x="0" y="161858"/>
                    </a:cubicBezTo>
                    <a:lnTo>
                      <a:pt x="0" y="87413"/>
                    </a:lnTo>
                    <a:cubicBezTo>
                      <a:pt x="0" y="64229"/>
                      <a:pt x="9210" y="41996"/>
                      <a:pt x="25603" y="25603"/>
                    </a:cubicBezTo>
                    <a:cubicBezTo>
                      <a:pt x="41996" y="9210"/>
                      <a:pt x="64229" y="0"/>
                      <a:pt x="87413" y="0"/>
                    </a:cubicBezTo>
                    <a:close/>
                  </a:path>
                </a:pathLst>
              </a:custGeom>
              <a:solidFill>
                <a:srgbClr val="FE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p17"/>
              <p:cNvSpPr txBox="1"/>
              <p:nvPr/>
            </p:nvSpPr>
            <p:spPr>
              <a:xfrm>
                <a:off x="0" y="-47625"/>
                <a:ext cx="1189648" cy="296895"/>
              </a:xfrm>
              <a:prstGeom prst="rect">
                <a:avLst/>
              </a:prstGeom>
              <a:noFill/>
              <a:ln>
                <a:noFill/>
              </a:ln>
            </p:spPr>
            <p:txBody>
              <a:bodyPr anchorCtr="0" anchor="ctr" bIns="50800" lIns="50800" spcFirstLastPara="1" rIns="50800" wrap="square" tIns="50800">
                <a:noAutofit/>
              </a:bodyPr>
              <a:lstStyle/>
              <a:p>
                <a:pPr indent="0" lvl="0" marL="0" marR="0" rtl="0" algn="ctr">
                  <a:lnSpc>
                    <a:spcPct val="155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04" name="Google Shape;304;p17"/>
            <p:cNvSpPr/>
            <p:nvPr/>
          </p:nvSpPr>
          <p:spPr>
            <a:xfrm>
              <a:off x="483631" y="226255"/>
              <a:ext cx="2676306" cy="809419"/>
            </a:xfrm>
            <a:custGeom>
              <a:rect b="b" l="l" r="r" t="t"/>
              <a:pathLst>
                <a:path extrusionOk="0" h="809419" w="2676306">
                  <a:moveTo>
                    <a:pt x="0" y="0"/>
                  </a:moveTo>
                  <a:lnTo>
                    <a:pt x="2676305" y="0"/>
                  </a:lnTo>
                  <a:lnTo>
                    <a:pt x="2676305" y="809420"/>
                  </a:lnTo>
                  <a:lnTo>
                    <a:pt x="0" y="809420"/>
                  </a:lnTo>
                  <a:lnTo>
                    <a:pt x="0" y="0"/>
                  </a:lnTo>
                  <a:close/>
                </a:path>
              </a:pathLst>
            </a:custGeom>
            <a:blipFill rotWithShape="1">
              <a:blip r:embed="rId5">
                <a:alphaModFix/>
              </a:blip>
              <a:stretch>
                <a:fillRect b="0" l="0" r="0" t="0"/>
              </a:stretch>
            </a:blipFill>
            <a:ln>
              <a:noFill/>
            </a:ln>
          </p:spPr>
        </p:sp>
      </p:gr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312" name="Shape 312"/>
        <p:cNvGrpSpPr/>
        <p:nvPr/>
      </p:nvGrpSpPr>
      <p:grpSpPr>
        <a:xfrm>
          <a:off x="0" y="0"/>
          <a:ext cx="0" cy="0"/>
          <a:chOff x="0" y="0"/>
          <a:chExt cx="0" cy="0"/>
        </a:xfrm>
      </p:grpSpPr>
      <p:sp>
        <p:nvSpPr>
          <p:cNvPr id="313" name="Google Shape;313;p18"/>
          <p:cNvSpPr txBox="1"/>
          <p:nvPr/>
        </p:nvSpPr>
        <p:spPr>
          <a:xfrm>
            <a:off x="762581" y="753075"/>
            <a:ext cx="17539268" cy="226838"/>
          </a:xfrm>
          <a:prstGeom prst="rect">
            <a:avLst/>
          </a:prstGeom>
          <a:noFill/>
          <a:ln>
            <a:noFill/>
          </a:ln>
        </p:spPr>
        <p:txBody>
          <a:bodyPr anchorCtr="0" anchor="t" bIns="0" lIns="0" spcFirstLastPara="1" rIns="0" wrap="square" tIns="0">
            <a:spAutoFit/>
          </a:bodyPr>
          <a:lstStyle/>
          <a:p>
            <a:pPr indent="0" lvl="0" marL="0" marR="0" rtl="0" algn="l">
              <a:lnSpc>
                <a:spcPct val="119985"/>
              </a:lnSpc>
              <a:spcBef>
                <a:spcPts val="0"/>
              </a:spcBef>
              <a:spcAft>
                <a:spcPts val="0"/>
              </a:spcAft>
              <a:buNone/>
            </a:pPr>
            <a:r>
              <a:rPr b="0" i="0" lang="en-US" spc="199" sz="1426" u="none" cap="none" strike="noStrike">
                <a:solidFill>
                  <a:srgbClr val="1B2638"/>
                </a:solidFill>
                <a:latin typeface="Inter"/>
                <a:ea typeface="Inter"/>
                <a:cs typeface="Inter"/>
                <a:sym typeface="Inter"/>
              </a:rPr>
              <a:t>04 SCORECARD EKSEKUTIF</a:t>
            </a:r>
            <a:endParaRPr/>
          </a:p>
        </p:txBody>
      </p:sp>
      <p:sp>
        <p:nvSpPr>
          <p:cNvPr id="314" name="Google Shape;314;p18"/>
          <p:cNvSpPr txBox="1"/>
          <p:nvPr/>
        </p:nvSpPr>
        <p:spPr>
          <a:xfrm>
            <a:off x="762581" y="1075230"/>
            <a:ext cx="12928509" cy="1087786"/>
          </a:xfrm>
          <a:prstGeom prst="rect">
            <a:avLst/>
          </a:prstGeom>
          <a:noFill/>
          <a:ln>
            <a:noFill/>
          </a:ln>
        </p:spPr>
        <p:txBody>
          <a:bodyPr anchorCtr="0" anchor="t" bIns="0" lIns="0" spcFirstLastPara="1" rIns="0" wrap="square" tIns="0">
            <a:spAutoFit/>
          </a:bodyPr>
          <a:lstStyle/>
          <a:p>
            <a:pPr indent="0" lvl="0" marL="0" marR="0" rtl="0" algn="l">
              <a:lnSpc>
                <a:spcPct val="111620"/>
              </a:lnSpc>
              <a:spcBef>
                <a:spcPts val="0"/>
              </a:spcBef>
              <a:spcAft>
                <a:spcPts val="0"/>
              </a:spcAft>
              <a:buNone/>
            </a:pPr>
            <a:r>
              <a:rPr b="0" i="0" lang="en-US" spc="-18" sz="3752" u="none" cap="none" strike="noStrike">
                <a:solidFill>
                  <a:srgbClr val="0F1B2B"/>
                </a:solidFill>
                <a:latin typeface="Arimo"/>
                <a:ea typeface="Arimo"/>
                <a:cs typeface="Arimo"/>
                <a:sym typeface="Arimo"/>
              </a:rPr>
              <a:t>Lima KPI menunjukkan trade-off antara akurasi, risiko, dan profitabilitas</a:t>
            </a:r>
            <a:endParaRPr/>
          </a:p>
        </p:txBody>
      </p:sp>
      <p:sp>
        <p:nvSpPr>
          <p:cNvPr id="315" name="Google Shape;315;p18"/>
          <p:cNvSpPr/>
          <p:nvPr/>
        </p:nvSpPr>
        <p:spPr>
          <a:xfrm>
            <a:off x="762581" y="2421693"/>
            <a:ext cx="16776573" cy="28575"/>
          </a:xfrm>
          <a:custGeom>
            <a:rect b="b" l="l" r="r" t="t"/>
            <a:pathLst>
              <a:path extrusionOk="0" h="38100" w="22368763">
                <a:moveTo>
                  <a:pt x="0" y="19050"/>
                </a:moveTo>
                <a:cubicBezTo>
                  <a:pt x="0" y="8509"/>
                  <a:pt x="8509" y="0"/>
                  <a:pt x="19050" y="0"/>
                </a:cubicBezTo>
                <a:lnTo>
                  <a:pt x="22349713" y="0"/>
                </a:lnTo>
                <a:cubicBezTo>
                  <a:pt x="22360254" y="0"/>
                  <a:pt x="22368763" y="8509"/>
                  <a:pt x="22368763" y="19050"/>
                </a:cubicBezTo>
                <a:cubicBezTo>
                  <a:pt x="22368763" y="29591"/>
                  <a:pt x="22360254" y="38100"/>
                  <a:pt x="22349713" y="38100"/>
                </a:cubicBezTo>
                <a:lnTo>
                  <a:pt x="19050" y="38100"/>
                </a:lnTo>
                <a:cubicBezTo>
                  <a:pt x="8509" y="38100"/>
                  <a:pt x="0" y="29591"/>
                  <a:pt x="0" y="19050"/>
                </a:cubicBezTo>
                <a:close/>
              </a:path>
            </a:pathLst>
          </a:custGeom>
          <a:solidFill>
            <a:srgbClr val="CEC6B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 name="Google Shape;316;p18"/>
          <p:cNvSpPr txBox="1"/>
          <p:nvPr/>
        </p:nvSpPr>
        <p:spPr>
          <a:xfrm>
            <a:off x="762581" y="2785310"/>
            <a:ext cx="3012176" cy="632898"/>
          </a:xfrm>
          <a:prstGeom prst="rect">
            <a:avLst/>
          </a:prstGeom>
          <a:noFill/>
          <a:ln>
            <a:noFill/>
          </a:ln>
        </p:spPr>
        <p:txBody>
          <a:bodyPr anchorCtr="0" anchor="t" bIns="0" lIns="0" spcFirstLastPara="1" rIns="0" wrap="square" tIns="0">
            <a:spAutoFit/>
          </a:bodyPr>
          <a:lstStyle/>
          <a:p>
            <a:pPr indent="0" lvl="0" marL="0" marR="0" rtl="0" algn="l">
              <a:lnSpc>
                <a:spcPct val="105604"/>
              </a:lnSpc>
              <a:spcBef>
                <a:spcPts val="0"/>
              </a:spcBef>
              <a:spcAft>
                <a:spcPts val="0"/>
              </a:spcAft>
              <a:buNone/>
            </a:pPr>
            <a:r>
              <a:rPr b="0" i="0" lang="en-US" spc="-51" sz="5103" u="none" cap="none" strike="noStrike">
                <a:solidFill>
                  <a:srgbClr val="0F1B2B"/>
                </a:solidFill>
                <a:latin typeface="Arimo"/>
                <a:ea typeface="Arimo"/>
                <a:cs typeface="Arimo"/>
                <a:sym typeface="Arimo"/>
              </a:rPr>
              <a:t>67,3%</a:t>
            </a:r>
            <a:endParaRPr/>
          </a:p>
        </p:txBody>
      </p:sp>
      <p:sp>
        <p:nvSpPr>
          <p:cNvPr id="317" name="Google Shape;317;p18"/>
          <p:cNvSpPr txBox="1"/>
          <p:nvPr/>
        </p:nvSpPr>
        <p:spPr>
          <a:xfrm>
            <a:off x="762581" y="3514506"/>
            <a:ext cx="3012176" cy="386953"/>
          </a:xfrm>
          <a:prstGeom prst="rect">
            <a:avLst/>
          </a:prstGeom>
          <a:noFill/>
          <a:ln>
            <a:noFill/>
          </a:ln>
        </p:spPr>
        <p:txBody>
          <a:bodyPr anchorCtr="0" anchor="t" bIns="0" lIns="0" spcFirstLastPara="1" rIns="0" wrap="square" tIns="0">
            <a:spAutoFit/>
          </a:bodyPr>
          <a:lstStyle/>
          <a:p>
            <a:pPr indent="0" lvl="0" marL="0" marR="0" rtl="0" algn="l">
              <a:lnSpc>
                <a:spcPct val="120032"/>
              </a:lnSpc>
              <a:spcBef>
                <a:spcPts val="0"/>
              </a:spcBef>
              <a:spcAft>
                <a:spcPts val="0"/>
              </a:spcAft>
              <a:buNone/>
            </a:pPr>
            <a:r>
              <a:rPr b="0" i="0" lang="en-US" spc="-12" sz="2476" u="none" cap="none" strike="noStrike">
                <a:solidFill>
                  <a:srgbClr val="0F1B2B"/>
                </a:solidFill>
                <a:latin typeface="Inter"/>
                <a:ea typeface="Inter"/>
                <a:cs typeface="Inter"/>
                <a:sym typeface="Inter"/>
              </a:rPr>
              <a:t>Forecast accuracy</a:t>
            </a:r>
            <a:endParaRPr/>
          </a:p>
        </p:txBody>
      </p:sp>
      <p:sp>
        <p:nvSpPr>
          <p:cNvPr id="318" name="Google Shape;318;p18"/>
          <p:cNvSpPr txBox="1"/>
          <p:nvPr/>
        </p:nvSpPr>
        <p:spPr>
          <a:xfrm>
            <a:off x="762581" y="4025360"/>
            <a:ext cx="3012176" cy="1182443"/>
          </a:xfrm>
          <a:prstGeom prst="rect">
            <a:avLst/>
          </a:prstGeom>
          <a:noFill/>
          <a:ln>
            <a:noFill/>
          </a:ln>
        </p:spPr>
        <p:txBody>
          <a:bodyPr anchorCtr="0" anchor="t" bIns="0" lIns="0" spcFirstLastPara="1" rIns="0" wrap="square" tIns="0">
            <a:spAutoFit/>
          </a:bodyPr>
          <a:lstStyle/>
          <a:p>
            <a:pPr indent="0" lvl="0" marL="0" marR="0" rtl="0" algn="l">
              <a:lnSpc>
                <a:spcPct val="138005"/>
              </a:lnSpc>
              <a:spcBef>
                <a:spcPts val="0"/>
              </a:spcBef>
              <a:spcAft>
                <a:spcPts val="0"/>
              </a:spcAft>
              <a:buNone/>
            </a:pPr>
            <a:r>
              <a:rPr b="0" i="0" lang="en-US" sz="2176" u="none" cap="none" strike="noStrike">
                <a:solidFill>
                  <a:srgbClr val="2B3542"/>
                </a:solidFill>
                <a:latin typeface="Inter"/>
                <a:ea typeface="Inter"/>
                <a:cs typeface="Inter"/>
                <a:sym typeface="Inter"/>
              </a:rPr>
              <a:t>Baseline akurasi permintaan harian agregat.</a:t>
            </a:r>
            <a:endParaRPr/>
          </a:p>
        </p:txBody>
      </p:sp>
      <p:sp>
        <p:nvSpPr>
          <p:cNvPr id="319" name="Google Shape;319;p18"/>
          <p:cNvSpPr txBox="1"/>
          <p:nvPr/>
        </p:nvSpPr>
        <p:spPr>
          <a:xfrm>
            <a:off x="762581" y="5711171"/>
            <a:ext cx="3355334" cy="279254"/>
          </a:xfrm>
          <a:prstGeom prst="rect">
            <a:avLst/>
          </a:prstGeom>
          <a:noFill/>
          <a:ln>
            <a:noFill/>
          </a:ln>
        </p:spPr>
        <p:txBody>
          <a:bodyPr anchorCtr="0" anchor="t" bIns="0" lIns="0" spcFirstLastPara="1" rIns="0" wrap="square" tIns="0">
            <a:spAutoFit/>
          </a:bodyPr>
          <a:lstStyle/>
          <a:p>
            <a:pPr indent="0" lvl="0" marL="0" marR="0" rtl="0" algn="l">
              <a:lnSpc>
                <a:spcPct val="129568"/>
              </a:lnSpc>
              <a:spcBef>
                <a:spcPts val="0"/>
              </a:spcBef>
              <a:spcAft>
                <a:spcPts val="0"/>
              </a:spcAft>
              <a:buNone/>
            </a:pPr>
            <a:r>
              <a:rPr b="0" i="0" lang="en-US" spc="15" sz="1576" u="none" cap="none" strike="noStrike">
                <a:solidFill>
                  <a:srgbClr val="66625A"/>
                </a:solidFill>
                <a:latin typeface="Inter"/>
                <a:ea typeface="Inter"/>
                <a:cs typeface="Inter"/>
                <a:sym typeface="Inter"/>
              </a:rPr>
              <a:t>Target optimal: &gt;75,0%</a:t>
            </a:r>
            <a:endParaRPr/>
          </a:p>
        </p:txBody>
      </p:sp>
      <p:sp>
        <p:nvSpPr>
          <p:cNvPr id="320" name="Google Shape;320;p18"/>
          <p:cNvSpPr txBox="1"/>
          <p:nvPr/>
        </p:nvSpPr>
        <p:spPr>
          <a:xfrm>
            <a:off x="4461072" y="2785310"/>
            <a:ext cx="2669019" cy="632898"/>
          </a:xfrm>
          <a:prstGeom prst="rect">
            <a:avLst/>
          </a:prstGeom>
          <a:noFill/>
          <a:ln>
            <a:noFill/>
          </a:ln>
        </p:spPr>
        <p:txBody>
          <a:bodyPr anchorCtr="0" anchor="t" bIns="0" lIns="0" spcFirstLastPara="1" rIns="0" wrap="square" tIns="0">
            <a:spAutoFit/>
          </a:bodyPr>
          <a:lstStyle/>
          <a:p>
            <a:pPr indent="0" lvl="0" marL="0" marR="0" rtl="0" algn="l">
              <a:lnSpc>
                <a:spcPct val="105604"/>
              </a:lnSpc>
              <a:spcBef>
                <a:spcPts val="0"/>
              </a:spcBef>
              <a:spcAft>
                <a:spcPts val="0"/>
              </a:spcAft>
              <a:buNone/>
            </a:pPr>
            <a:r>
              <a:rPr b="0" i="0" lang="en-US" spc="-51" sz="5103" u="none" cap="none" strike="noStrike">
                <a:solidFill>
                  <a:srgbClr val="0F1B2B"/>
                </a:solidFill>
                <a:latin typeface="Arimo"/>
                <a:ea typeface="Arimo"/>
                <a:cs typeface="Arimo"/>
                <a:sym typeface="Arimo"/>
              </a:rPr>
              <a:t>$4,9M</a:t>
            </a:r>
            <a:endParaRPr/>
          </a:p>
        </p:txBody>
      </p:sp>
      <p:sp>
        <p:nvSpPr>
          <p:cNvPr id="321" name="Google Shape;321;p18"/>
          <p:cNvSpPr txBox="1"/>
          <p:nvPr/>
        </p:nvSpPr>
        <p:spPr>
          <a:xfrm>
            <a:off x="4461072" y="3514506"/>
            <a:ext cx="2669019" cy="386953"/>
          </a:xfrm>
          <a:prstGeom prst="rect">
            <a:avLst/>
          </a:prstGeom>
          <a:noFill/>
          <a:ln>
            <a:noFill/>
          </a:ln>
        </p:spPr>
        <p:txBody>
          <a:bodyPr anchorCtr="0" anchor="t" bIns="0" lIns="0" spcFirstLastPara="1" rIns="0" wrap="square" tIns="0">
            <a:spAutoFit/>
          </a:bodyPr>
          <a:lstStyle/>
          <a:p>
            <a:pPr indent="0" lvl="0" marL="0" marR="0" rtl="0" algn="l">
              <a:lnSpc>
                <a:spcPct val="120032"/>
              </a:lnSpc>
              <a:spcBef>
                <a:spcPts val="0"/>
              </a:spcBef>
              <a:spcAft>
                <a:spcPts val="0"/>
              </a:spcAft>
              <a:buNone/>
            </a:pPr>
            <a:r>
              <a:rPr b="0" i="0" lang="en-US" spc="-12" sz="2476" u="none" cap="none" strike="noStrike">
                <a:solidFill>
                  <a:srgbClr val="0F1B2B"/>
                </a:solidFill>
                <a:latin typeface="Inter"/>
                <a:ea typeface="Inter"/>
                <a:cs typeface="Inter"/>
                <a:sym typeface="Inter"/>
              </a:rPr>
              <a:t>Lost sales value</a:t>
            </a:r>
            <a:endParaRPr/>
          </a:p>
        </p:txBody>
      </p:sp>
      <p:sp>
        <p:nvSpPr>
          <p:cNvPr id="322" name="Google Shape;322;p18"/>
          <p:cNvSpPr txBox="1"/>
          <p:nvPr/>
        </p:nvSpPr>
        <p:spPr>
          <a:xfrm>
            <a:off x="4461072" y="4025360"/>
            <a:ext cx="2669019" cy="1182443"/>
          </a:xfrm>
          <a:prstGeom prst="rect">
            <a:avLst/>
          </a:prstGeom>
          <a:noFill/>
          <a:ln>
            <a:noFill/>
          </a:ln>
        </p:spPr>
        <p:txBody>
          <a:bodyPr anchorCtr="0" anchor="t" bIns="0" lIns="0" spcFirstLastPara="1" rIns="0" wrap="square" tIns="0">
            <a:spAutoFit/>
          </a:bodyPr>
          <a:lstStyle/>
          <a:p>
            <a:pPr indent="0" lvl="0" marL="0" marR="0" rtl="0" algn="l">
              <a:lnSpc>
                <a:spcPct val="138005"/>
              </a:lnSpc>
              <a:spcBef>
                <a:spcPts val="0"/>
              </a:spcBef>
              <a:spcAft>
                <a:spcPts val="0"/>
              </a:spcAft>
              <a:buNone/>
            </a:pPr>
            <a:r>
              <a:rPr b="0" i="0" lang="en-US" sz="2176" u="none" cap="none" strike="noStrike">
                <a:solidFill>
                  <a:srgbClr val="2B3542"/>
                </a:solidFill>
                <a:latin typeface="Inter"/>
                <a:ea typeface="Inter"/>
                <a:cs typeface="Inter"/>
                <a:sym typeface="Inter"/>
              </a:rPr>
              <a:t>Estimasi pendapatan hilang akibat stockout SKU kelas A.</a:t>
            </a:r>
            <a:endParaRPr/>
          </a:p>
        </p:txBody>
      </p:sp>
      <p:sp>
        <p:nvSpPr>
          <p:cNvPr id="323" name="Google Shape;323;p18"/>
          <p:cNvSpPr txBox="1"/>
          <p:nvPr/>
        </p:nvSpPr>
        <p:spPr>
          <a:xfrm>
            <a:off x="4461072" y="5711171"/>
            <a:ext cx="3012176" cy="279254"/>
          </a:xfrm>
          <a:prstGeom prst="rect">
            <a:avLst/>
          </a:prstGeom>
          <a:noFill/>
          <a:ln>
            <a:noFill/>
          </a:ln>
        </p:spPr>
        <p:txBody>
          <a:bodyPr anchorCtr="0" anchor="t" bIns="0" lIns="0" spcFirstLastPara="1" rIns="0" wrap="square" tIns="0">
            <a:spAutoFit/>
          </a:bodyPr>
          <a:lstStyle/>
          <a:p>
            <a:pPr indent="0" lvl="0" marL="0" marR="0" rtl="0" algn="l">
              <a:lnSpc>
                <a:spcPct val="129568"/>
              </a:lnSpc>
              <a:spcBef>
                <a:spcPts val="0"/>
              </a:spcBef>
              <a:spcAft>
                <a:spcPts val="0"/>
              </a:spcAft>
              <a:buNone/>
            </a:pPr>
            <a:r>
              <a:rPr b="0" i="0" lang="en-US" spc="15" sz="1576" u="none" cap="none" strike="noStrike">
                <a:solidFill>
                  <a:srgbClr val="C83A3A"/>
                </a:solidFill>
                <a:latin typeface="Inter"/>
                <a:ea typeface="Inter"/>
                <a:cs typeface="Inter"/>
                <a:sym typeface="Inter"/>
              </a:rPr>
              <a:t>Hotspot: Italy &amp; Spain</a:t>
            </a:r>
            <a:endParaRPr/>
          </a:p>
        </p:txBody>
      </p:sp>
      <p:sp>
        <p:nvSpPr>
          <p:cNvPr id="324" name="Google Shape;324;p18"/>
          <p:cNvSpPr txBox="1"/>
          <p:nvPr/>
        </p:nvSpPr>
        <p:spPr>
          <a:xfrm>
            <a:off x="7816415" y="2785310"/>
            <a:ext cx="2669019" cy="632898"/>
          </a:xfrm>
          <a:prstGeom prst="rect">
            <a:avLst/>
          </a:prstGeom>
          <a:noFill/>
          <a:ln>
            <a:noFill/>
          </a:ln>
        </p:spPr>
        <p:txBody>
          <a:bodyPr anchorCtr="0" anchor="t" bIns="0" lIns="0" spcFirstLastPara="1" rIns="0" wrap="square" tIns="0">
            <a:spAutoFit/>
          </a:bodyPr>
          <a:lstStyle/>
          <a:p>
            <a:pPr indent="0" lvl="0" marL="0" marR="0" rtl="0" algn="l">
              <a:lnSpc>
                <a:spcPct val="105604"/>
              </a:lnSpc>
              <a:spcBef>
                <a:spcPts val="0"/>
              </a:spcBef>
              <a:spcAft>
                <a:spcPts val="0"/>
              </a:spcAft>
              <a:buNone/>
            </a:pPr>
            <a:r>
              <a:rPr b="0" i="0" lang="en-US" spc="-51" sz="5103" u="none" cap="none" strike="noStrike">
                <a:solidFill>
                  <a:srgbClr val="0F1B2B"/>
                </a:solidFill>
                <a:latin typeface="Arimo"/>
                <a:ea typeface="Arimo"/>
                <a:cs typeface="Arimo"/>
                <a:sym typeface="Arimo"/>
              </a:rPr>
              <a:t>$76,0M</a:t>
            </a:r>
            <a:endParaRPr/>
          </a:p>
        </p:txBody>
      </p:sp>
      <p:sp>
        <p:nvSpPr>
          <p:cNvPr id="325" name="Google Shape;325;p18"/>
          <p:cNvSpPr txBox="1"/>
          <p:nvPr/>
        </p:nvSpPr>
        <p:spPr>
          <a:xfrm>
            <a:off x="7816415" y="3514506"/>
            <a:ext cx="2669019" cy="386953"/>
          </a:xfrm>
          <a:prstGeom prst="rect">
            <a:avLst/>
          </a:prstGeom>
          <a:noFill/>
          <a:ln>
            <a:noFill/>
          </a:ln>
        </p:spPr>
        <p:txBody>
          <a:bodyPr anchorCtr="0" anchor="t" bIns="0" lIns="0" spcFirstLastPara="1" rIns="0" wrap="square" tIns="0">
            <a:spAutoFit/>
          </a:bodyPr>
          <a:lstStyle/>
          <a:p>
            <a:pPr indent="0" lvl="0" marL="0" marR="0" rtl="0" algn="l">
              <a:lnSpc>
                <a:spcPct val="120032"/>
              </a:lnSpc>
              <a:spcBef>
                <a:spcPts val="0"/>
              </a:spcBef>
              <a:spcAft>
                <a:spcPts val="0"/>
              </a:spcAft>
              <a:buNone/>
            </a:pPr>
            <a:r>
              <a:rPr b="0" i="0" lang="en-US" spc="-12" sz="2476" u="none" cap="none" strike="noStrike">
                <a:solidFill>
                  <a:srgbClr val="0F1B2B"/>
                </a:solidFill>
                <a:latin typeface="Inter"/>
                <a:ea typeface="Inter"/>
                <a:cs typeface="Inter"/>
                <a:sym typeface="Inter"/>
              </a:rPr>
              <a:t>Holding cost</a:t>
            </a:r>
            <a:endParaRPr/>
          </a:p>
        </p:txBody>
      </p:sp>
      <p:sp>
        <p:nvSpPr>
          <p:cNvPr id="326" name="Google Shape;326;p18"/>
          <p:cNvSpPr txBox="1"/>
          <p:nvPr/>
        </p:nvSpPr>
        <p:spPr>
          <a:xfrm>
            <a:off x="7816415" y="4025360"/>
            <a:ext cx="2669019" cy="1182443"/>
          </a:xfrm>
          <a:prstGeom prst="rect">
            <a:avLst/>
          </a:prstGeom>
          <a:noFill/>
          <a:ln>
            <a:noFill/>
          </a:ln>
        </p:spPr>
        <p:txBody>
          <a:bodyPr anchorCtr="0" anchor="t" bIns="0" lIns="0" spcFirstLastPara="1" rIns="0" wrap="square" tIns="0">
            <a:spAutoFit/>
          </a:bodyPr>
          <a:lstStyle/>
          <a:p>
            <a:pPr indent="0" lvl="0" marL="0" marR="0" rtl="0" algn="l">
              <a:lnSpc>
                <a:spcPct val="138005"/>
              </a:lnSpc>
              <a:spcBef>
                <a:spcPts val="0"/>
              </a:spcBef>
              <a:spcAft>
                <a:spcPts val="0"/>
              </a:spcAft>
              <a:buNone/>
            </a:pPr>
            <a:r>
              <a:rPr b="0" i="0" lang="en-US" sz="2176" u="none" cap="none" strike="noStrike">
                <a:solidFill>
                  <a:srgbClr val="2B3542"/>
                </a:solidFill>
                <a:latin typeface="Inter"/>
                <a:ea typeface="Inter"/>
                <a:cs typeface="Inter"/>
                <a:sym typeface="Inter"/>
              </a:rPr>
              <a:t>Nilai inventaris tersimpan di gudang regional.</a:t>
            </a:r>
            <a:endParaRPr/>
          </a:p>
        </p:txBody>
      </p:sp>
      <p:sp>
        <p:nvSpPr>
          <p:cNvPr id="327" name="Google Shape;327;p18"/>
          <p:cNvSpPr txBox="1"/>
          <p:nvPr/>
        </p:nvSpPr>
        <p:spPr>
          <a:xfrm>
            <a:off x="7816415" y="5711171"/>
            <a:ext cx="3012176" cy="279254"/>
          </a:xfrm>
          <a:prstGeom prst="rect">
            <a:avLst/>
          </a:prstGeom>
          <a:noFill/>
          <a:ln>
            <a:noFill/>
          </a:ln>
        </p:spPr>
        <p:txBody>
          <a:bodyPr anchorCtr="0" anchor="t" bIns="0" lIns="0" spcFirstLastPara="1" rIns="0" wrap="square" tIns="0">
            <a:spAutoFit/>
          </a:bodyPr>
          <a:lstStyle/>
          <a:p>
            <a:pPr indent="0" lvl="0" marL="0" marR="0" rtl="0" algn="l">
              <a:lnSpc>
                <a:spcPct val="129568"/>
              </a:lnSpc>
              <a:spcBef>
                <a:spcPts val="0"/>
              </a:spcBef>
              <a:spcAft>
                <a:spcPts val="0"/>
              </a:spcAft>
              <a:buNone/>
            </a:pPr>
            <a:r>
              <a:rPr b="0" i="0" lang="en-US" spc="15" sz="1576" u="none" cap="none" strike="noStrike">
                <a:solidFill>
                  <a:srgbClr val="66625A"/>
                </a:solidFill>
                <a:latin typeface="Inter"/>
                <a:ea typeface="Inter"/>
                <a:cs typeface="Inter"/>
                <a:sym typeface="Inter"/>
              </a:rPr>
              <a:t>Overstock dominan di Snacks</a:t>
            </a:r>
            <a:endParaRPr/>
          </a:p>
        </p:txBody>
      </p:sp>
      <p:sp>
        <p:nvSpPr>
          <p:cNvPr id="328" name="Google Shape;328;p18"/>
          <p:cNvSpPr txBox="1"/>
          <p:nvPr/>
        </p:nvSpPr>
        <p:spPr>
          <a:xfrm>
            <a:off x="11171749" y="2785310"/>
            <a:ext cx="2669019" cy="632898"/>
          </a:xfrm>
          <a:prstGeom prst="rect">
            <a:avLst/>
          </a:prstGeom>
          <a:noFill/>
          <a:ln>
            <a:noFill/>
          </a:ln>
        </p:spPr>
        <p:txBody>
          <a:bodyPr anchorCtr="0" anchor="t" bIns="0" lIns="0" spcFirstLastPara="1" rIns="0" wrap="square" tIns="0">
            <a:spAutoFit/>
          </a:bodyPr>
          <a:lstStyle/>
          <a:p>
            <a:pPr indent="0" lvl="0" marL="0" marR="0" rtl="0" algn="l">
              <a:lnSpc>
                <a:spcPct val="105604"/>
              </a:lnSpc>
              <a:spcBef>
                <a:spcPts val="0"/>
              </a:spcBef>
              <a:spcAft>
                <a:spcPts val="0"/>
              </a:spcAft>
              <a:buNone/>
            </a:pPr>
            <a:r>
              <a:rPr b="0" i="0" lang="en-US" spc="-51" sz="5103" u="none" cap="none" strike="noStrike">
                <a:solidFill>
                  <a:srgbClr val="0F1B2B"/>
                </a:solidFill>
                <a:latin typeface="Arimo"/>
                <a:ea typeface="Arimo"/>
                <a:cs typeface="Arimo"/>
                <a:sym typeface="Arimo"/>
              </a:rPr>
              <a:t>97,0%</a:t>
            </a:r>
            <a:endParaRPr/>
          </a:p>
        </p:txBody>
      </p:sp>
      <p:sp>
        <p:nvSpPr>
          <p:cNvPr id="329" name="Google Shape;329;p18"/>
          <p:cNvSpPr txBox="1"/>
          <p:nvPr/>
        </p:nvSpPr>
        <p:spPr>
          <a:xfrm>
            <a:off x="11171749" y="3514506"/>
            <a:ext cx="2669019" cy="764372"/>
          </a:xfrm>
          <a:prstGeom prst="rect">
            <a:avLst/>
          </a:prstGeom>
          <a:noFill/>
          <a:ln>
            <a:noFill/>
          </a:ln>
        </p:spPr>
        <p:txBody>
          <a:bodyPr anchorCtr="0" anchor="t" bIns="0" lIns="0" spcFirstLastPara="1" rIns="0" wrap="square" tIns="0">
            <a:spAutoFit/>
          </a:bodyPr>
          <a:lstStyle/>
          <a:p>
            <a:pPr indent="0" lvl="0" marL="0" marR="0" rtl="0" algn="l">
              <a:lnSpc>
                <a:spcPct val="120032"/>
              </a:lnSpc>
              <a:spcBef>
                <a:spcPts val="0"/>
              </a:spcBef>
              <a:spcAft>
                <a:spcPts val="0"/>
              </a:spcAft>
              <a:buNone/>
            </a:pPr>
            <a:r>
              <a:rPr b="0" i="0" lang="en-US" spc="-12" sz="2476" u="none" cap="none" strike="noStrike">
                <a:solidFill>
                  <a:srgbClr val="0F1B2B"/>
                </a:solidFill>
                <a:latin typeface="Inter"/>
                <a:ea typeface="Inter"/>
                <a:cs typeface="Inter"/>
                <a:sym typeface="Inter"/>
              </a:rPr>
              <a:t>Service level (OTIF)</a:t>
            </a:r>
            <a:endParaRPr/>
          </a:p>
        </p:txBody>
      </p:sp>
      <p:sp>
        <p:nvSpPr>
          <p:cNvPr id="330" name="Google Shape;330;p18"/>
          <p:cNvSpPr txBox="1"/>
          <p:nvPr/>
        </p:nvSpPr>
        <p:spPr>
          <a:xfrm>
            <a:off x="11171749" y="4402779"/>
            <a:ext cx="2669019" cy="1182443"/>
          </a:xfrm>
          <a:prstGeom prst="rect">
            <a:avLst/>
          </a:prstGeom>
          <a:noFill/>
          <a:ln>
            <a:noFill/>
          </a:ln>
        </p:spPr>
        <p:txBody>
          <a:bodyPr anchorCtr="0" anchor="t" bIns="0" lIns="0" spcFirstLastPara="1" rIns="0" wrap="square" tIns="0">
            <a:spAutoFit/>
          </a:bodyPr>
          <a:lstStyle/>
          <a:p>
            <a:pPr indent="0" lvl="0" marL="0" marR="0" rtl="0" algn="l">
              <a:lnSpc>
                <a:spcPct val="138005"/>
              </a:lnSpc>
              <a:spcBef>
                <a:spcPts val="0"/>
              </a:spcBef>
              <a:spcAft>
                <a:spcPts val="0"/>
              </a:spcAft>
              <a:buNone/>
            </a:pPr>
            <a:r>
              <a:rPr b="0" i="0" lang="en-US" sz="2176" u="none" cap="none" strike="noStrike">
                <a:solidFill>
                  <a:srgbClr val="2B3542"/>
                </a:solidFill>
                <a:latin typeface="Inter"/>
                <a:ea typeface="Inter"/>
                <a:cs typeface="Inter"/>
                <a:sym typeface="Inter"/>
              </a:rPr>
              <a:t>Ketepatan waktu dan pemenuhan pesanan pemasok.</a:t>
            </a:r>
            <a:endParaRPr/>
          </a:p>
        </p:txBody>
      </p:sp>
      <p:sp>
        <p:nvSpPr>
          <p:cNvPr id="331" name="Google Shape;331;p18"/>
          <p:cNvSpPr txBox="1"/>
          <p:nvPr/>
        </p:nvSpPr>
        <p:spPr>
          <a:xfrm>
            <a:off x="11171749" y="5711171"/>
            <a:ext cx="3012176" cy="279254"/>
          </a:xfrm>
          <a:prstGeom prst="rect">
            <a:avLst/>
          </a:prstGeom>
          <a:noFill/>
          <a:ln>
            <a:noFill/>
          </a:ln>
        </p:spPr>
        <p:txBody>
          <a:bodyPr anchorCtr="0" anchor="t" bIns="0" lIns="0" spcFirstLastPara="1" rIns="0" wrap="square" tIns="0">
            <a:spAutoFit/>
          </a:bodyPr>
          <a:lstStyle/>
          <a:p>
            <a:pPr indent="0" lvl="0" marL="0" marR="0" rtl="0" algn="l">
              <a:lnSpc>
                <a:spcPct val="129568"/>
              </a:lnSpc>
              <a:spcBef>
                <a:spcPts val="0"/>
              </a:spcBef>
              <a:spcAft>
                <a:spcPts val="0"/>
              </a:spcAft>
              <a:buNone/>
            </a:pPr>
            <a:r>
              <a:rPr b="0" i="0" lang="en-US" spc="15" sz="1576" u="none" cap="none" strike="noStrike">
                <a:solidFill>
                  <a:srgbClr val="66625A"/>
                </a:solidFill>
                <a:latin typeface="Inter"/>
                <a:ea typeface="Inter"/>
                <a:cs typeface="Inter"/>
                <a:sym typeface="Inter"/>
              </a:rPr>
              <a:t>Rata-rata lead time 6,5 hari</a:t>
            </a:r>
            <a:endParaRPr/>
          </a:p>
        </p:txBody>
      </p:sp>
      <p:sp>
        <p:nvSpPr>
          <p:cNvPr id="332" name="Google Shape;332;p18"/>
          <p:cNvSpPr txBox="1"/>
          <p:nvPr/>
        </p:nvSpPr>
        <p:spPr>
          <a:xfrm>
            <a:off x="14527082" y="2785310"/>
            <a:ext cx="3012176" cy="632898"/>
          </a:xfrm>
          <a:prstGeom prst="rect">
            <a:avLst/>
          </a:prstGeom>
          <a:noFill/>
          <a:ln>
            <a:noFill/>
          </a:ln>
        </p:spPr>
        <p:txBody>
          <a:bodyPr anchorCtr="0" anchor="t" bIns="0" lIns="0" spcFirstLastPara="1" rIns="0" wrap="square" tIns="0">
            <a:spAutoFit/>
          </a:bodyPr>
          <a:lstStyle/>
          <a:p>
            <a:pPr indent="0" lvl="0" marL="0" marR="0" rtl="0" algn="l">
              <a:lnSpc>
                <a:spcPct val="105604"/>
              </a:lnSpc>
              <a:spcBef>
                <a:spcPts val="0"/>
              </a:spcBef>
              <a:spcAft>
                <a:spcPts val="0"/>
              </a:spcAft>
              <a:buNone/>
            </a:pPr>
            <a:r>
              <a:rPr b="0" i="0" lang="en-US" spc="-51" sz="5103" u="none" cap="none" strike="noStrike">
                <a:solidFill>
                  <a:srgbClr val="0F1B2B"/>
                </a:solidFill>
                <a:latin typeface="Arimo"/>
                <a:ea typeface="Arimo"/>
                <a:cs typeface="Arimo"/>
                <a:sym typeface="Arimo"/>
              </a:rPr>
              <a:t>38,5%</a:t>
            </a:r>
            <a:endParaRPr/>
          </a:p>
        </p:txBody>
      </p:sp>
      <p:sp>
        <p:nvSpPr>
          <p:cNvPr id="333" name="Google Shape;333;p18"/>
          <p:cNvSpPr txBox="1"/>
          <p:nvPr/>
        </p:nvSpPr>
        <p:spPr>
          <a:xfrm>
            <a:off x="14527082" y="3514506"/>
            <a:ext cx="3012176" cy="386953"/>
          </a:xfrm>
          <a:prstGeom prst="rect">
            <a:avLst/>
          </a:prstGeom>
          <a:noFill/>
          <a:ln>
            <a:noFill/>
          </a:ln>
        </p:spPr>
        <p:txBody>
          <a:bodyPr anchorCtr="0" anchor="t" bIns="0" lIns="0" spcFirstLastPara="1" rIns="0" wrap="square" tIns="0">
            <a:spAutoFit/>
          </a:bodyPr>
          <a:lstStyle/>
          <a:p>
            <a:pPr indent="0" lvl="0" marL="0" marR="0" rtl="0" algn="l">
              <a:lnSpc>
                <a:spcPct val="120032"/>
              </a:lnSpc>
              <a:spcBef>
                <a:spcPts val="0"/>
              </a:spcBef>
              <a:spcAft>
                <a:spcPts val="0"/>
              </a:spcAft>
              <a:buNone/>
            </a:pPr>
            <a:r>
              <a:rPr b="0" i="0" lang="en-US" spc="-12" sz="2476" u="none" cap="none" strike="noStrike">
                <a:solidFill>
                  <a:srgbClr val="0F1B2B"/>
                </a:solidFill>
                <a:latin typeface="Inter"/>
                <a:ea typeface="Inter"/>
                <a:cs typeface="Inter"/>
                <a:sym typeface="Inter"/>
              </a:rPr>
              <a:t>Overall margin</a:t>
            </a:r>
            <a:endParaRPr/>
          </a:p>
        </p:txBody>
      </p:sp>
      <p:sp>
        <p:nvSpPr>
          <p:cNvPr id="334" name="Google Shape;334;p18"/>
          <p:cNvSpPr txBox="1"/>
          <p:nvPr/>
        </p:nvSpPr>
        <p:spPr>
          <a:xfrm>
            <a:off x="14527082" y="4025360"/>
            <a:ext cx="3012176" cy="1182443"/>
          </a:xfrm>
          <a:prstGeom prst="rect">
            <a:avLst/>
          </a:prstGeom>
          <a:noFill/>
          <a:ln>
            <a:noFill/>
          </a:ln>
        </p:spPr>
        <p:txBody>
          <a:bodyPr anchorCtr="0" anchor="t" bIns="0" lIns="0" spcFirstLastPara="1" rIns="0" wrap="square" tIns="0">
            <a:spAutoFit/>
          </a:bodyPr>
          <a:lstStyle/>
          <a:p>
            <a:pPr indent="0" lvl="0" marL="0" marR="0" rtl="0" algn="l">
              <a:lnSpc>
                <a:spcPct val="138005"/>
              </a:lnSpc>
              <a:spcBef>
                <a:spcPts val="0"/>
              </a:spcBef>
              <a:spcAft>
                <a:spcPts val="0"/>
              </a:spcAft>
              <a:buNone/>
            </a:pPr>
            <a:r>
              <a:rPr b="0" i="0" lang="en-US" sz="2176" u="none" cap="none" strike="noStrike">
                <a:solidFill>
                  <a:srgbClr val="2B3542"/>
                </a:solidFill>
                <a:latin typeface="Inter"/>
                <a:ea typeface="Inter"/>
                <a:cs typeface="Inter"/>
                <a:sym typeface="Inter"/>
              </a:rPr>
              <a:t>Margin laba kotor konsolidasi seluruh kategori.</a:t>
            </a:r>
            <a:endParaRPr/>
          </a:p>
        </p:txBody>
      </p:sp>
      <p:sp>
        <p:nvSpPr>
          <p:cNvPr id="335" name="Google Shape;335;p18"/>
          <p:cNvSpPr txBox="1"/>
          <p:nvPr/>
        </p:nvSpPr>
        <p:spPr>
          <a:xfrm>
            <a:off x="14527082" y="5711171"/>
            <a:ext cx="3012176" cy="279254"/>
          </a:xfrm>
          <a:prstGeom prst="rect">
            <a:avLst/>
          </a:prstGeom>
          <a:noFill/>
          <a:ln>
            <a:noFill/>
          </a:ln>
        </p:spPr>
        <p:txBody>
          <a:bodyPr anchorCtr="0" anchor="t" bIns="0" lIns="0" spcFirstLastPara="1" rIns="0" wrap="square" tIns="0">
            <a:spAutoFit/>
          </a:bodyPr>
          <a:lstStyle/>
          <a:p>
            <a:pPr indent="0" lvl="0" marL="0" marR="0" rtl="0" algn="l">
              <a:lnSpc>
                <a:spcPct val="129568"/>
              </a:lnSpc>
              <a:spcBef>
                <a:spcPts val="0"/>
              </a:spcBef>
              <a:spcAft>
                <a:spcPts val="0"/>
              </a:spcAft>
              <a:buNone/>
            </a:pPr>
            <a:r>
              <a:rPr b="0" i="0" lang="en-US" spc="15" sz="1576" u="none" cap="none" strike="noStrike">
                <a:solidFill>
                  <a:srgbClr val="66625A"/>
                </a:solidFill>
                <a:latin typeface="Inter"/>
                <a:ea typeface="Inter"/>
                <a:cs typeface="Inter"/>
                <a:sym typeface="Inter"/>
              </a:rPr>
              <a:t>Diskon rata-rata 1,4%</a:t>
            </a:r>
            <a:endParaRPr/>
          </a:p>
        </p:txBody>
      </p:sp>
      <p:sp>
        <p:nvSpPr>
          <p:cNvPr id="336" name="Google Shape;336;p18"/>
          <p:cNvSpPr/>
          <p:nvPr/>
        </p:nvSpPr>
        <p:spPr>
          <a:xfrm>
            <a:off x="762581" y="6172257"/>
            <a:ext cx="16776668" cy="2348389"/>
          </a:xfrm>
          <a:custGeom>
            <a:rect b="b" l="l" r="r" t="t"/>
            <a:pathLst>
              <a:path extrusionOk="0" h="3131185" w="22368890">
                <a:moveTo>
                  <a:pt x="0" y="0"/>
                </a:moveTo>
                <a:lnTo>
                  <a:pt x="22368890" y="0"/>
                </a:lnTo>
                <a:lnTo>
                  <a:pt x="22368890" y="3131185"/>
                </a:lnTo>
                <a:lnTo>
                  <a:pt x="0" y="3131185"/>
                </a:lnTo>
                <a:close/>
              </a:path>
            </a:pathLst>
          </a:custGeom>
          <a:solidFill>
            <a:srgbClr val="EDF2F7"/>
          </a:solidFill>
          <a:ln>
            <a:noFill/>
          </a:ln>
        </p:spPr>
      </p:sp>
      <p:sp>
        <p:nvSpPr>
          <p:cNvPr id="337" name="Google Shape;337;p18"/>
          <p:cNvSpPr/>
          <p:nvPr/>
        </p:nvSpPr>
        <p:spPr>
          <a:xfrm>
            <a:off x="762581" y="6172257"/>
            <a:ext cx="16776668" cy="57150"/>
          </a:xfrm>
          <a:custGeom>
            <a:rect b="b" l="l" r="r" t="t"/>
            <a:pathLst>
              <a:path extrusionOk="0" h="76200" w="22368890">
                <a:moveTo>
                  <a:pt x="0" y="0"/>
                </a:moveTo>
                <a:lnTo>
                  <a:pt x="22368890" y="0"/>
                </a:lnTo>
                <a:lnTo>
                  <a:pt x="22368890" y="76200"/>
                </a:lnTo>
                <a:lnTo>
                  <a:pt x="0" y="76200"/>
                </a:lnTo>
                <a:close/>
              </a:path>
            </a:pathLst>
          </a:custGeom>
          <a:solidFill>
            <a:srgbClr val="0CC0DF"/>
          </a:solidFill>
          <a:ln>
            <a:noFill/>
          </a:ln>
        </p:spPr>
      </p:sp>
      <p:sp>
        <p:nvSpPr>
          <p:cNvPr id="338" name="Google Shape;338;p18"/>
          <p:cNvSpPr txBox="1"/>
          <p:nvPr/>
        </p:nvSpPr>
        <p:spPr>
          <a:xfrm>
            <a:off x="1105738" y="6410582"/>
            <a:ext cx="16433530" cy="226838"/>
          </a:xfrm>
          <a:prstGeom prst="rect">
            <a:avLst/>
          </a:prstGeom>
          <a:noFill/>
          <a:ln>
            <a:noFill/>
          </a:ln>
        </p:spPr>
        <p:txBody>
          <a:bodyPr anchorCtr="0" anchor="t" bIns="0" lIns="0" spcFirstLastPara="1" rIns="0" wrap="square" tIns="0">
            <a:spAutoFit/>
          </a:bodyPr>
          <a:lstStyle/>
          <a:p>
            <a:pPr indent="0" lvl="0" marL="0" marR="0" rtl="0" algn="l">
              <a:lnSpc>
                <a:spcPct val="119985"/>
              </a:lnSpc>
              <a:spcBef>
                <a:spcPts val="0"/>
              </a:spcBef>
              <a:spcAft>
                <a:spcPts val="0"/>
              </a:spcAft>
              <a:buNone/>
            </a:pPr>
            <a:r>
              <a:rPr b="0" i="0" lang="en-US" spc="142" sz="1426" u="none" cap="none" strike="noStrike">
                <a:solidFill>
                  <a:srgbClr val="2B3542"/>
                </a:solidFill>
                <a:latin typeface="Inter"/>
                <a:ea typeface="Inter"/>
                <a:cs typeface="Inter"/>
                <a:sym typeface="Inter"/>
              </a:rPr>
              <a:t>EVALUASI KESEIMBANGAN</a:t>
            </a:r>
            <a:endParaRPr/>
          </a:p>
        </p:txBody>
      </p:sp>
      <p:sp>
        <p:nvSpPr>
          <p:cNvPr id="339" name="Google Shape;339;p18"/>
          <p:cNvSpPr txBox="1"/>
          <p:nvPr/>
        </p:nvSpPr>
        <p:spPr>
          <a:xfrm>
            <a:off x="1105738" y="6713706"/>
            <a:ext cx="16090373" cy="1616316"/>
          </a:xfrm>
          <a:prstGeom prst="rect">
            <a:avLst/>
          </a:prstGeom>
          <a:noFill/>
          <a:ln>
            <a:noFill/>
          </a:ln>
        </p:spPr>
        <p:txBody>
          <a:bodyPr anchorCtr="0" anchor="t" bIns="0" lIns="0" spcFirstLastPara="1" rIns="0" wrap="square" tIns="0">
            <a:spAutoFit/>
          </a:bodyPr>
          <a:lstStyle/>
          <a:p>
            <a:pPr indent="-197118" lvl="1" marL="394236" marR="0" rtl="0" algn="l">
              <a:lnSpc>
                <a:spcPct val="138005"/>
              </a:lnSpc>
              <a:spcBef>
                <a:spcPts val="0"/>
              </a:spcBef>
              <a:spcAft>
                <a:spcPts val="0"/>
              </a:spcAft>
              <a:buClr>
                <a:srgbClr val="2B3542"/>
              </a:buClr>
              <a:buSzPts val="2176"/>
              <a:buFont typeface="Arial"/>
              <a:buChar char="•"/>
            </a:pPr>
            <a:r>
              <a:rPr b="0" i="0" lang="en-US" sz="2176" u="none" cap="none" strike="noStrike">
                <a:solidFill>
                  <a:srgbClr val="2B3542"/>
                </a:solidFill>
                <a:latin typeface="Inter"/>
                <a:ea typeface="Inter"/>
                <a:cs typeface="Inter"/>
                <a:sym typeface="Inter"/>
              </a:rPr>
              <a:t>Service level pemasok sebesar 97,0% tidak secara otomatis menjamin ketersediaan di rak karena akurasi peramalan masih tertahan di 67,3%.</a:t>
            </a:r>
            <a:endParaRPr/>
          </a:p>
          <a:p>
            <a:pPr indent="-197118" lvl="1" marL="394236" marR="0" rtl="0" algn="l">
              <a:lnSpc>
                <a:spcPct val="138005"/>
              </a:lnSpc>
              <a:spcBef>
                <a:spcPts val="0"/>
              </a:spcBef>
              <a:spcAft>
                <a:spcPts val="0"/>
              </a:spcAft>
              <a:buClr>
                <a:srgbClr val="2B3542"/>
              </a:buClr>
              <a:buSzPts val="2176"/>
              <a:buFont typeface="Arial"/>
              <a:buChar char="•"/>
            </a:pPr>
            <a:r>
              <a:rPr b="0" i="0" lang="en-US" sz="2176" u="none" cap="none" strike="noStrike">
                <a:solidFill>
                  <a:srgbClr val="2B3542"/>
                </a:solidFill>
                <a:latin typeface="Inter"/>
                <a:ea typeface="Inter"/>
                <a:cs typeface="Inter"/>
                <a:sym typeface="Inter"/>
              </a:rPr>
              <a:t>Beban holding cost $76,0M yang masif belum mampu mengamankan ketersediaan produk utama, mengakibatkan kebocoran lost sales $4,9M.</a:t>
            </a:r>
            <a:endParaRPr/>
          </a:p>
        </p:txBody>
      </p:sp>
      <p:sp>
        <p:nvSpPr>
          <p:cNvPr id="340" name="Google Shape;340;p18"/>
          <p:cNvSpPr txBox="1"/>
          <p:nvPr/>
        </p:nvSpPr>
        <p:spPr>
          <a:xfrm>
            <a:off x="762581" y="8690724"/>
            <a:ext cx="17539268" cy="272996"/>
          </a:xfrm>
          <a:prstGeom prst="rect">
            <a:avLst/>
          </a:prstGeom>
          <a:noFill/>
          <a:ln>
            <a:noFill/>
          </a:ln>
        </p:spPr>
        <p:txBody>
          <a:bodyPr anchorCtr="0" anchor="t" bIns="0" lIns="0" spcFirstLastPara="1" rIns="0" wrap="square" tIns="0">
            <a:spAutoFit/>
          </a:bodyPr>
          <a:lstStyle/>
          <a:p>
            <a:pPr indent="0" lvl="0" marL="0" marR="0" rtl="0" algn="l">
              <a:lnSpc>
                <a:spcPct val="134361"/>
              </a:lnSpc>
              <a:spcBef>
                <a:spcPts val="0"/>
              </a:spcBef>
              <a:spcAft>
                <a:spcPts val="0"/>
              </a:spcAft>
              <a:buNone/>
            </a:pPr>
            <a:r>
              <a:rPr b="0" i="0" lang="en-US" spc="85" sz="1426" u="none" cap="none" strike="noStrike">
                <a:solidFill>
                  <a:srgbClr val="66625A"/>
                </a:solidFill>
                <a:latin typeface="Inter"/>
                <a:ea typeface="Inter"/>
                <a:cs typeface="Inter"/>
                <a:sym typeface="Inter"/>
              </a:rPr>
              <a:t>SUMBER: EXECUTIVE KPI DASHBOARD POWER BI, DATASET PENJUALAN FMCG 2021–2023</a:t>
            </a:r>
            <a:endParaRPr/>
          </a:p>
        </p:txBody>
      </p:sp>
      <p:sp>
        <p:nvSpPr>
          <p:cNvPr id="341" name="Google Shape;341;p18"/>
          <p:cNvSpPr/>
          <p:nvPr/>
        </p:nvSpPr>
        <p:spPr>
          <a:xfrm>
            <a:off x="0" y="9723091"/>
            <a:ext cx="18301811" cy="14287"/>
          </a:xfrm>
          <a:custGeom>
            <a:rect b="b" l="l" r="r" t="t"/>
            <a:pathLst>
              <a:path extrusionOk="0" h="19050" w="24402414">
                <a:moveTo>
                  <a:pt x="0" y="0"/>
                </a:moveTo>
                <a:lnTo>
                  <a:pt x="24402414" y="0"/>
                </a:lnTo>
                <a:lnTo>
                  <a:pt x="24402414" y="19050"/>
                </a:lnTo>
                <a:lnTo>
                  <a:pt x="0" y="19050"/>
                </a:lnTo>
                <a:close/>
              </a:path>
            </a:pathLst>
          </a:custGeom>
          <a:solidFill>
            <a:srgbClr val="2B3542">
              <a:alpha val="3922"/>
            </a:srgbClr>
          </a:solidFill>
          <a:ln>
            <a:noFill/>
          </a:ln>
        </p:spPr>
      </p:sp>
      <p:sp>
        <p:nvSpPr>
          <p:cNvPr id="342" name="Google Shape;342;p18"/>
          <p:cNvSpPr/>
          <p:nvPr/>
        </p:nvSpPr>
        <p:spPr>
          <a:xfrm>
            <a:off x="4108380" y="2714816"/>
            <a:ext cx="19050" cy="3262026"/>
          </a:xfrm>
          <a:custGeom>
            <a:rect b="b" l="l" r="r" t="t"/>
            <a:pathLst>
              <a:path extrusionOk="0" h="4349369" w="25400">
                <a:moveTo>
                  <a:pt x="0" y="0"/>
                </a:moveTo>
                <a:lnTo>
                  <a:pt x="25400" y="0"/>
                </a:lnTo>
                <a:lnTo>
                  <a:pt x="25400" y="4349369"/>
                </a:lnTo>
                <a:lnTo>
                  <a:pt x="0" y="4349369"/>
                </a:lnTo>
                <a:close/>
              </a:path>
            </a:pathLst>
          </a:custGeom>
          <a:solidFill>
            <a:srgbClr val="8C877D"/>
          </a:solidFill>
          <a:ln>
            <a:noFill/>
          </a:ln>
        </p:spPr>
      </p:sp>
      <p:sp>
        <p:nvSpPr>
          <p:cNvPr id="343" name="Google Shape;343;p18"/>
          <p:cNvSpPr/>
          <p:nvPr/>
        </p:nvSpPr>
        <p:spPr>
          <a:xfrm>
            <a:off x="7463723" y="2714816"/>
            <a:ext cx="19050" cy="3262026"/>
          </a:xfrm>
          <a:custGeom>
            <a:rect b="b" l="l" r="r" t="t"/>
            <a:pathLst>
              <a:path extrusionOk="0" h="4349369" w="25400">
                <a:moveTo>
                  <a:pt x="0" y="0"/>
                </a:moveTo>
                <a:lnTo>
                  <a:pt x="25400" y="0"/>
                </a:lnTo>
                <a:lnTo>
                  <a:pt x="25400" y="4349369"/>
                </a:lnTo>
                <a:lnTo>
                  <a:pt x="0" y="4349369"/>
                </a:lnTo>
                <a:close/>
              </a:path>
            </a:pathLst>
          </a:custGeom>
          <a:solidFill>
            <a:srgbClr val="8C877D"/>
          </a:solidFill>
          <a:ln>
            <a:noFill/>
          </a:ln>
        </p:spPr>
      </p:sp>
      <p:sp>
        <p:nvSpPr>
          <p:cNvPr id="344" name="Google Shape;344;p18"/>
          <p:cNvSpPr/>
          <p:nvPr/>
        </p:nvSpPr>
        <p:spPr>
          <a:xfrm>
            <a:off x="10819057" y="2714816"/>
            <a:ext cx="19050" cy="3262026"/>
          </a:xfrm>
          <a:custGeom>
            <a:rect b="b" l="l" r="r" t="t"/>
            <a:pathLst>
              <a:path extrusionOk="0" h="4349369" w="25400">
                <a:moveTo>
                  <a:pt x="0" y="0"/>
                </a:moveTo>
                <a:lnTo>
                  <a:pt x="25400" y="0"/>
                </a:lnTo>
                <a:lnTo>
                  <a:pt x="25400" y="4349369"/>
                </a:lnTo>
                <a:lnTo>
                  <a:pt x="0" y="4349369"/>
                </a:lnTo>
                <a:close/>
              </a:path>
            </a:pathLst>
          </a:custGeom>
          <a:solidFill>
            <a:srgbClr val="8C877D"/>
          </a:solidFill>
          <a:ln>
            <a:noFill/>
          </a:ln>
        </p:spPr>
      </p:sp>
      <p:sp>
        <p:nvSpPr>
          <p:cNvPr id="345" name="Google Shape;345;p18"/>
          <p:cNvSpPr/>
          <p:nvPr/>
        </p:nvSpPr>
        <p:spPr>
          <a:xfrm>
            <a:off x="14174391" y="2714816"/>
            <a:ext cx="19050" cy="3262026"/>
          </a:xfrm>
          <a:custGeom>
            <a:rect b="b" l="l" r="r" t="t"/>
            <a:pathLst>
              <a:path extrusionOk="0" h="4349369" w="25400">
                <a:moveTo>
                  <a:pt x="0" y="0"/>
                </a:moveTo>
                <a:lnTo>
                  <a:pt x="25400" y="0"/>
                </a:lnTo>
                <a:lnTo>
                  <a:pt x="25400" y="4349369"/>
                </a:lnTo>
                <a:lnTo>
                  <a:pt x="0" y="4349369"/>
                </a:lnTo>
                <a:close/>
              </a:path>
            </a:pathLst>
          </a:custGeom>
          <a:solidFill>
            <a:srgbClr val="8C877D"/>
          </a:solidFill>
          <a:ln>
            <a:noFill/>
          </a:ln>
        </p:spPr>
      </p:sp>
      <p:grpSp>
        <p:nvGrpSpPr>
          <p:cNvPr id="346" name="Google Shape;346;p18"/>
          <p:cNvGrpSpPr/>
          <p:nvPr/>
        </p:nvGrpSpPr>
        <p:grpSpPr>
          <a:xfrm>
            <a:off x="293380" y="9612742"/>
            <a:ext cx="7167785" cy="521294"/>
            <a:chOff x="0" y="-28575"/>
            <a:chExt cx="9557046" cy="695058"/>
          </a:xfrm>
        </p:grpSpPr>
        <p:sp>
          <p:nvSpPr>
            <p:cNvPr id="347" name="Google Shape;347;p18"/>
            <p:cNvSpPr/>
            <p:nvPr/>
          </p:nvSpPr>
          <p:spPr>
            <a:xfrm>
              <a:off x="0" y="0"/>
              <a:ext cx="9557046" cy="666483"/>
            </a:xfrm>
            <a:custGeom>
              <a:rect b="b" l="l" r="r" t="t"/>
              <a:pathLst>
                <a:path extrusionOk="0" h="666483" w="9557046">
                  <a:moveTo>
                    <a:pt x="0" y="0"/>
                  </a:moveTo>
                  <a:lnTo>
                    <a:pt x="9557046" y="0"/>
                  </a:lnTo>
                  <a:lnTo>
                    <a:pt x="9557046" y="666483"/>
                  </a:lnTo>
                  <a:lnTo>
                    <a:pt x="0" y="666483"/>
                  </a:lnTo>
                  <a:close/>
                </a:path>
              </a:pathLst>
            </a:custGeom>
            <a:blipFill rotWithShape="1">
              <a:blip r:embed="rId3">
                <a:alphaModFix amt="0"/>
              </a:blip>
              <a:stretch>
                <a:fillRect b="-181075" l="0" r="17296" t="-181075"/>
              </a:stretch>
            </a:blipFill>
            <a:ln>
              <a:noFill/>
            </a:ln>
          </p:spPr>
        </p:sp>
        <p:sp>
          <p:nvSpPr>
            <p:cNvPr id="348" name="Google Shape;348;p18"/>
            <p:cNvSpPr txBox="1"/>
            <p:nvPr/>
          </p:nvSpPr>
          <p:spPr>
            <a:xfrm>
              <a:off x="0" y="-28575"/>
              <a:ext cx="9557042" cy="695052"/>
            </a:xfrm>
            <a:prstGeom prst="rect">
              <a:avLst/>
            </a:prstGeom>
            <a:noFill/>
            <a:ln>
              <a:noFill/>
            </a:ln>
          </p:spPr>
          <p:txBody>
            <a:bodyPr anchorCtr="0" anchor="ctr" bIns="0" lIns="0" spcFirstLastPara="1" rIns="0" wrap="square" tIns="0">
              <a:noAutofit/>
            </a:bodyPr>
            <a:lstStyle/>
            <a:p>
              <a:pPr indent="0" lvl="0" marL="0" marR="0" rtl="0" algn="l">
                <a:lnSpc>
                  <a:spcPct val="138008"/>
                </a:lnSpc>
                <a:spcBef>
                  <a:spcPts val="0"/>
                </a:spcBef>
                <a:spcAft>
                  <a:spcPts val="0"/>
                </a:spcAft>
                <a:buNone/>
              </a:pPr>
              <a:r>
                <a:rPr b="0" i="0" lang="en-US" spc="142" sz="1426" u="none" cap="none" strike="noStrike">
                  <a:solidFill>
                    <a:srgbClr val="2B3542"/>
                  </a:solidFill>
                  <a:latin typeface="Inter"/>
                  <a:ea typeface="Inter"/>
                  <a:cs typeface="Inter"/>
                  <a:sym typeface="Inter"/>
                </a:rPr>
                <a:t>GLOBAL FMCG SUPPLY CHAIN ANALYTICS — EXECUTIVE REPORT</a:t>
              </a:r>
              <a:endParaRPr/>
            </a:p>
          </p:txBody>
        </p:sp>
      </p:grpSp>
      <p:grpSp>
        <p:nvGrpSpPr>
          <p:cNvPr id="349" name="Google Shape;349;p18"/>
          <p:cNvGrpSpPr/>
          <p:nvPr/>
        </p:nvGrpSpPr>
        <p:grpSpPr>
          <a:xfrm>
            <a:off x="15480401" y="64663"/>
            <a:ext cx="4516946" cy="1127273"/>
            <a:chOff x="0" y="-241102"/>
            <a:chExt cx="6022595" cy="1503032"/>
          </a:xfrm>
        </p:grpSpPr>
        <p:grpSp>
          <p:nvGrpSpPr>
            <p:cNvPr id="350" name="Google Shape;350;p18"/>
            <p:cNvGrpSpPr/>
            <p:nvPr/>
          </p:nvGrpSpPr>
          <p:grpSpPr>
            <a:xfrm>
              <a:off x="0" y="-241102"/>
              <a:ext cx="6022595" cy="1503032"/>
              <a:chOff x="0" y="-47625"/>
              <a:chExt cx="1189648" cy="296895"/>
            </a:xfrm>
          </p:grpSpPr>
          <p:sp>
            <p:nvSpPr>
              <p:cNvPr id="351" name="Google Shape;351;p18"/>
              <p:cNvSpPr/>
              <p:nvPr/>
            </p:nvSpPr>
            <p:spPr>
              <a:xfrm>
                <a:off x="0" y="0"/>
                <a:ext cx="1189648" cy="249270"/>
              </a:xfrm>
              <a:custGeom>
                <a:rect b="b" l="l" r="r" t="t"/>
                <a:pathLst>
                  <a:path extrusionOk="0" h="249270" w="1189648">
                    <a:moveTo>
                      <a:pt x="87413" y="0"/>
                    </a:moveTo>
                    <a:lnTo>
                      <a:pt x="1102236" y="0"/>
                    </a:lnTo>
                    <a:cubicBezTo>
                      <a:pt x="1125419" y="0"/>
                      <a:pt x="1147653" y="9210"/>
                      <a:pt x="1164046" y="25603"/>
                    </a:cubicBezTo>
                    <a:cubicBezTo>
                      <a:pt x="1180439" y="41996"/>
                      <a:pt x="1189648" y="64229"/>
                      <a:pt x="1189648" y="87413"/>
                    </a:cubicBezTo>
                    <a:lnTo>
                      <a:pt x="1189648" y="161858"/>
                    </a:lnTo>
                    <a:cubicBezTo>
                      <a:pt x="1189648" y="185041"/>
                      <a:pt x="1180439" y="207275"/>
                      <a:pt x="1164046" y="223668"/>
                    </a:cubicBezTo>
                    <a:cubicBezTo>
                      <a:pt x="1147653" y="240061"/>
                      <a:pt x="1125419" y="249270"/>
                      <a:pt x="1102236" y="249270"/>
                    </a:cubicBezTo>
                    <a:lnTo>
                      <a:pt x="87413" y="249270"/>
                    </a:lnTo>
                    <a:cubicBezTo>
                      <a:pt x="64229" y="249270"/>
                      <a:pt x="41996" y="240061"/>
                      <a:pt x="25603" y="223668"/>
                    </a:cubicBezTo>
                    <a:cubicBezTo>
                      <a:pt x="9210" y="207275"/>
                      <a:pt x="0" y="185041"/>
                      <a:pt x="0" y="161858"/>
                    </a:cubicBezTo>
                    <a:lnTo>
                      <a:pt x="0" y="87413"/>
                    </a:lnTo>
                    <a:cubicBezTo>
                      <a:pt x="0" y="64229"/>
                      <a:pt x="9210" y="41996"/>
                      <a:pt x="25603" y="25603"/>
                    </a:cubicBezTo>
                    <a:cubicBezTo>
                      <a:pt x="41996" y="9210"/>
                      <a:pt x="64229" y="0"/>
                      <a:pt x="87413" y="0"/>
                    </a:cubicBezTo>
                    <a:close/>
                  </a:path>
                </a:pathLst>
              </a:custGeom>
              <a:solidFill>
                <a:srgbClr val="FE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p18"/>
              <p:cNvSpPr txBox="1"/>
              <p:nvPr/>
            </p:nvSpPr>
            <p:spPr>
              <a:xfrm>
                <a:off x="0" y="-47625"/>
                <a:ext cx="1189648" cy="296895"/>
              </a:xfrm>
              <a:prstGeom prst="rect">
                <a:avLst/>
              </a:prstGeom>
              <a:noFill/>
              <a:ln>
                <a:noFill/>
              </a:ln>
            </p:spPr>
            <p:txBody>
              <a:bodyPr anchorCtr="0" anchor="ctr" bIns="50800" lIns="50800" spcFirstLastPara="1" rIns="50800" wrap="square" tIns="50800">
                <a:noAutofit/>
              </a:bodyPr>
              <a:lstStyle/>
              <a:p>
                <a:pPr indent="0" lvl="0" marL="0" marR="0" rtl="0" algn="ctr">
                  <a:lnSpc>
                    <a:spcPct val="155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53" name="Google Shape;353;p18"/>
            <p:cNvSpPr/>
            <p:nvPr/>
          </p:nvSpPr>
          <p:spPr>
            <a:xfrm>
              <a:off x="483631" y="226255"/>
              <a:ext cx="2676306" cy="809419"/>
            </a:xfrm>
            <a:custGeom>
              <a:rect b="b" l="l" r="r" t="t"/>
              <a:pathLst>
                <a:path extrusionOk="0" h="809419" w="2676306">
                  <a:moveTo>
                    <a:pt x="0" y="0"/>
                  </a:moveTo>
                  <a:lnTo>
                    <a:pt x="2676305" y="0"/>
                  </a:lnTo>
                  <a:lnTo>
                    <a:pt x="2676305" y="809420"/>
                  </a:lnTo>
                  <a:lnTo>
                    <a:pt x="0" y="809420"/>
                  </a:lnTo>
                  <a:lnTo>
                    <a:pt x="0" y="0"/>
                  </a:lnTo>
                  <a:close/>
                </a:path>
              </a:pathLst>
            </a:custGeom>
            <a:blipFill rotWithShape="1">
              <a:blip r:embed="rId4">
                <a:alphaModFix/>
              </a:blip>
              <a:stretch>
                <a:fillRect b="0" l="0" r="0" t="0"/>
              </a:stretch>
            </a:blipFill>
            <a:ln>
              <a:noFill/>
            </a:ln>
          </p:spPr>
        </p:sp>
      </p:gr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361" name="Shape 361"/>
        <p:cNvGrpSpPr/>
        <p:nvPr/>
      </p:nvGrpSpPr>
      <p:grpSpPr>
        <a:xfrm>
          <a:off x="0" y="0"/>
          <a:ext cx="0" cy="0"/>
          <a:chOff x="0" y="0"/>
          <a:chExt cx="0" cy="0"/>
        </a:xfrm>
      </p:grpSpPr>
      <p:sp>
        <p:nvSpPr>
          <p:cNvPr id="362" name="Google Shape;362;p19"/>
          <p:cNvSpPr/>
          <p:nvPr/>
        </p:nvSpPr>
        <p:spPr>
          <a:xfrm>
            <a:off x="762581" y="1887874"/>
            <a:ext cx="16776573" cy="28575"/>
          </a:xfrm>
          <a:custGeom>
            <a:rect b="b" l="l" r="r" t="t"/>
            <a:pathLst>
              <a:path extrusionOk="0" h="38100" w="22368763">
                <a:moveTo>
                  <a:pt x="0" y="19050"/>
                </a:moveTo>
                <a:cubicBezTo>
                  <a:pt x="0" y="8509"/>
                  <a:pt x="8509" y="0"/>
                  <a:pt x="19050" y="0"/>
                </a:cubicBezTo>
                <a:lnTo>
                  <a:pt x="22349713" y="0"/>
                </a:lnTo>
                <a:cubicBezTo>
                  <a:pt x="22360254" y="0"/>
                  <a:pt x="22368763" y="8509"/>
                  <a:pt x="22368763" y="19050"/>
                </a:cubicBezTo>
                <a:cubicBezTo>
                  <a:pt x="22368763" y="29591"/>
                  <a:pt x="22360254" y="38100"/>
                  <a:pt x="22349713" y="38100"/>
                </a:cubicBezTo>
                <a:lnTo>
                  <a:pt x="19050" y="38100"/>
                </a:lnTo>
                <a:cubicBezTo>
                  <a:pt x="8509" y="38100"/>
                  <a:pt x="0" y="29591"/>
                  <a:pt x="0" y="19050"/>
                </a:cubicBezTo>
                <a:close/>
              </a:path>
            </a:pathLst>
          </a:custGeom>
          <a:solidFill>
            <a:srgbClr val="CEC6B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 name="Google Shape;363;p19"/>
          <p:cNvSpPr/>
          <p:nvPr/>
        </p:nvSpPr>
        <p:spPr>
          <a:xfrm>
            <a:off x="762581" y="6747680"/>
            <a:ext cx="9247537" cy="1838230"/>
          </a:xfrm>
          <a:custGeom>
            <a:rect b="b" l="l" r="r" t="t"/>
            <a:pathLst>
              <a:path extrusionOk="0" h="2450973" w="12330049">
                <a:moveTo>
                  <a:pt x="0" y="0"/>
                </a:moveTo>
                <a:lnTo>
                  <a:pt x="12330049" y="0"/>
                </a:lnTo>
                <a:lnTo>
                  <a:pt x="12330049" y="2450973"/>
                </a:lnTo>
                <a:lnTo>
                  <a:pt x="0" y="2450973"/>
                </a:lnTo>
                <a:close/>
              </a:path>
            </a:pathLst>
          </a:custGeom>
          <a:solidFill>
            <a:srgbClr val="EDF2F7"/>
          </a:solidFill>
          <a:ln>
            <a:noFill/>
          </a:ln>
        </p:spPr>
      </p:sp>
      <p:sp>
        <p:nvSpPr>
          <p:cNvPr id="364" name="Google Shape;364;p19"/>
          <p:cNvSpPr/>
          <p:nvPr/>
        </p:nvSpPr>
        <p:spPr>
          <a:xfrm>
            <a:off x="762581" y="6747680"/>
            <a:ext cx="9247537" cy="57150"/>
          </a:xfrm>
          <a:custGeom>
            <a:rect b="b" l="l" r="r" t="t"/>
            <a:pathLst>
              <a:path extrusionOk="0" h="76200" w="12330049">
                <a:moveTo>
                  <a:pt x="0" y="0"/>
                </a:moveTo>
                <a:lnTo>
                  <a:pt x="12330049" y="0"/>
                </a:lnTo>
                <a:lnTo>
                  <a:pt x="12330049" y="76200"/>
                </a:lnTo>
                <a:lnTo>
                  <a:pt x="0" y="76200"/>
                </a:lnTo>
                <a:close/>
              </a:path>
            </a:pathLst>
          </a:custGeom>
          <a:solidFill>
            <a:srgbClr val="0CC0DF"/>
          </a:solidFill>
          <a:ln>
            <a:noFill/>
          </a:ln>
        </p:spPr>
      </p:sp>
      <p:sp>
        <p:nvSpPr>
          <p:cNvPr id="365" name="Google Shape;365;p19"/>
          <p:cNvSpPr/>
          <p:nvPr/>
        </p:nvSpPr>
        <p:spPr>
          <a:xfrm>
            <a:off x="0" y="9723091"/>
            <a:ext cx="18301811" cy="14287"/>
          </a:xfrm>
          <a:custGeom>
            <a:rect b="b" l="l" r="r" t="t"/>
            <a:pathLst>
              <a:path extrusionOk="0" h="19050" w="24402414">
                <a:moveTo>
                  <a:pt x="0" y="0"/>
                </a:moveTo>
                <a:lnTo>
                  <a:pt x="24402414" y="0"/>
                </a:lnTo>
                <a:lnTo>
                  <a:pt x="24402414" y="19050"/>
                </a:lnTo>
                <a:lnTo>
                  <a:pt x="0" y="19050"/>
                </a:lnTo>
                <a:close/>
              </a:path>
            </a:pathLst>
          </a:custGeom>
          <a:solidFill>
            <a:srgbClr val="2B3542">
              <a:alpha val="3922"/>
            </a:srgbClr>
          </a:solidFill>
          <a:ln>
            <a:noFill/>
          </a:ln>
        </p:spPr>
      </p:sp>
      <p:grpSp>
        <p:nvGrpSpPr>
          <p:cNvPr id="366" name="Google Shape;366;p19"/>
          <p:cNvGrpSpPr/>
          <p:nvPr/>
        </p:nvGrpSpPr>
        <p:grpSpPr>
          <a:xfrm>
            <a:off x="293380" y="9612742"/>
            <a:ext cx="7167785" cy="521294"/>
            <a:chOff x="0" y="-28575"/>
            <a:chExt cx="9557046" cy="695058"/>
          </a:xfrm>
        </p:grpSpPr>
        <p:sp>
          <p:nvSpPr>
            <p:cNvPr id="367" name="Google Shape;367;p19"/>
            <p:cNvSpPr/>
            <p:nvPr/>
          </p:nvSpPr>
          <p:spPr>
            <a:xfrm>
              <a:off x="0" y="0"/>
              <a:ext cx="9557046" cy="666483"/>
            </a:xfrm>
            <a:custGeom>
              <a:rect b="b" l="l" r="r" t="t"/>
              <a:pathLst>
                <a:path extrusionOk="0" h="666483" w="9557046">
                  <a:moveTo>
                    <a:pt x="0" y="0"/>
                  </a:moveTo>
                  <a:lnTo>
                    <a:pt x="9557046" y="0"/>
                  </a:lnTo>
                  <a:lnTo>
                    <a:pt x="9557046" y="666483"/>
                  </a:lnTo>
                  <a:lnTo>
                    <a:pt x="0" y="666483"/>
                  </a:lnTo>
                  <a:close/>
                </a:path>
              </a:pathLst>
            </a:custGeom>
            <a:blipFill rotWithShape="1">
              <a:blip r:embed="rId3">
                <a:alphaModFix amt="0"/>
              </a:blip>
              <a:stretch>
                <a:fillRect b="-181075" l="0" r="17296" t="-181075"/>
              </a:stretch>
            </a:blipFill>
            <a:ln>
              <a:noFill/>
            </a:ln>
          </p:spPr>
        </p:sp>
        <p:sp>
          <p:nvSpPr>
            <p:cNvPr id="368" name="Google Shape;368;p19"/>
            <p:cNvSpPr txBox="1"/>
            <p:nvPr/>
          </p:nvSpPr>
          <p:spPr>
            <a:xfrm>
              <a:off x="0" y="-28575"/>
              <a:ext cx="9557042" cy="695052"/>
            </a:xfrm>
            <a:prstGeom prst="rect">
              <a:avLst/>
            </a:prstGeom>
            <a:noFill/>
            <a:ln>
              <a:noFill/>
            </a:ln>
          </p:spPr>
          <p:txBody>
            <a:bodyPr anchorCtr="0" anchor="ctr" bIns="0" lIns="0" spcFirstLastPara="1" rIns="0" wrap="square" tIns="0">
              <a:noAutofit/>
            </a:bodyPr>
            <a:lstStyle/>
            <a:p>
              <a:pPr indent="0" lvl="0" marL="0" marR="0" rtl="0" algn="l">
                <a:lnSpc>
                  <a:spcPct val="138008"/>
                </a:lnSpc>
                <a:spcBef>
                  <a:spcPts val="0"/>
                </a:spcBef>
                <a:spcAft>
                  <a:spcPts val="0"/>
                </a:spcAft>
                <a:buNone/>
              </a:pPr>
              <a:r>
                <a:rPr b="0" i="0" lang="en-US" spc="142" sz="1426" u="none" cap="none" strike="noStrike">
                  <a:solidFill>
                    <a:srgbClr val="2B3542"/>
                  </a:solidFill>
                  <a:latin typeface="Inter"/>
                  <a:ea typeface="Inter"/>
                  <a:cs typeface="Inter"/>
                  <a:sym typeface="Inter"/>
                </a:rPr>
                <a:t>GLOBAL FMCG SUPPLY CHAIN ANALYTICS — EXECUTIVE REPORT</a:t>
              </a:r>
              <a:endParaRPr/>
            </a:p>
          </p:txBody>
        </p:sp>
      </p:grpSp>
      <p:sp>
        <p:nvSpPr>
          <p:cNvPr id="369" name="Google Shape;369;p19"/>
          <p:cNvSpPr/>
          <p:nvPr/>
        </p:nvSpPr>
        <p:spPr>
          <a:xfrm>
            <a:off x="10377538" y="2019112"/>
            <a:ext cx="7556417" cy="7615061"/>
          </a:xfrm>
          <a:custGeom>
            <a:rect b="b" l="l" r="r" t="t"/>
            <a:pathLst>
              <a:path extrusionOk="0" h="7615061" w="7556417">
                <a:moveTo>
                  <a:pt x="0" y="0"/>
                </a:moveTo>
                <a:lnTo>
                  <a:pt x="7556418" y="0"/>
                </a:lnTo>
                <a:lnTo>
                  <a:pt x="7556418" y="7615061"/>
                </a:lnTo>
                <a:lnTo>
                  <a:pt x="0" y="7615061"/>
                </a:lnTo>
                <a:lnTo>
                  <a:pt x="0" y="0"/>
                </a:lnTo>
                <a:close/>
              </a:path>
            </a:pathLst>
          </a:custGeom>
          <a:blipFill rotWithShape="1">
            <a:blip r:embed="rId4">
              <a:alphaModFix/>
            </a:blip>
            <a:stretch>
              <a:fillRect b="0" l="-897" r="-897" t="0"/>
            </a:stretch>
          </a:blipFill>
          <a:ln>
            <a:noFill/>
          </a:ln>
        </p:spPr>
      </p:sp>
      <p:sp>
        <p:nvSpPr>
          <p:cNvPr id="370" name="Google Shape;370;p19"/>
          <p:cNvSpPr txBox="1"/>
          <p:nvPr/>
        </p:nvSpPr>
        <p:spPr>
          <a:xfrm>
            <a:off x="762581" y="753075"/>
            <a:ext cx="17539268" cy="226838"/>
          </a:xfrm>
          <a:prstGeom prst="rect">
            <a:avLst/>
          </a:prstGeom>
          <a:noFill/>
          <a:ln>
            <a:noFill/>
          </a:ln>
        </p:spPr>
        <p:txBody>
          <a:bodyPr anchorCtr="0" anchor="t" bIns="0" lIns="0" spcFirstLastPara="1" rIns="0" wrap="square" tIns="0">
            <a:spAutoFit/>
          </a:bodyPr>
          <a:lstStyle/>
          <a:p>
            <a:pPr indent="0" lvl="0" marL="0" marR="0" rtl="0" algn="l">
              <a:lnSpc>
                <a:spcPct val="119985"/>
              </a:lnSpc>
              <a:spcBef>
                <a:spcPts val="0"/>
              </a:spcBef>
              <a:spcAft>
                <a:spcPts val="0"/>
              </a:spcAft>
              <a:buNone/>
            </a:pPr>
            <a:r>
              <a:rPr b="0" i="0" lang="en-US" spc="199" sz="1426" u="none" cap="none" strike="noStrike">
                <a:solidFill>
                  <a:srgbClr val="1B2638"/>
                </a:solidFill>
                <a:latin typeface="Inter"/>
                <a:ea typeface="Inter"/>
                <a:cs typeface="Inter"/>
                <a:sym typeface="Inter"/>
              </a:rPr>
              <a:t>05 ANALISIS REGIONAL &amp; KANAL</a:t>
            </a:r>
            <a:endParaRPr/>
          </a:p>
        </p:txBody>
      </p:sp>
      <p:sp>
        <p:nvSpPr>
          <p:cNvPr id="371" name="Google Shape;371;p19"/>
          <p:cNvSpPr txBox="1"/>
          <p:nvPr/>
        </p:nvSpPr>
        <p:spPr>
          <a:xfrm>
            <a:off x="762581" y="1075230"/>
            <a:ext cx="16776687" cy="533819"/>
          </a:xfrm>
          <a:prstGeom prst="rect">
            <a:avLst/>
          </a:prstGeom>
          <a:noFill/>
          <a:ln>
            <a:noFill/>
          </a:ln>
        </p:spPr>
        <p:txBody>
          <a:bodyPr anchorCtr="0" anchor="t" bIns="0" lIns="0" spcFirstLastPara="1" rIns="0" wrap="square" tIns="0">
            <a:spAutoFit/>
          </a:bodyPr>
          <a:lstStyle/>
          <a:p>
            <a:pPr indent="0" lvl="0" marL="0" marR="0" rtl="0" algn="l">
              <a:lnSpc>
                <a:spcPct val="111620"/>
              </a:lnSpc>
              <a:spcBef>
                <a:spcPts val="0"/>
              </a:spcBef>
              <a:spcAft>
                <a:spcPts val="0"/>
              </a:spcAft>
              <a:buNone/>
            </a:pPr>
            <a:r>
              <a:rPr b="0" i="0" lang="en-US" spc="-18" sz="3752" u="none" cap="none" strike="noStrike">
                <a:solidFill>
                  <a:srgbClr val="0F1B2B"/>
                </a:solidFill>
                <a:latin typeface="Arimo"/>
                <a:ea typeface="Arimo"/>
                <a:cs typeface="Arimo"/>
                <a:sym typeface="Arimo"/>
              </a:rPr>
              <a:t>Italy dan Spain memimpin penjualan sekaligus hotspot stockout</a:t>
            </a:r>
            <a:endParaRPr/>
          </a:p>
        </p:txBody>
      </p:sp>
      <p:sp>
        <p:nvSpPr>
          <p:cNvPr id="372" name="Google Shape;372;p19"/>
          <p:cNvSpPr txBox="1"/>
          <p:nvPr/>
        </p:nvSpPr>
        <p:spPr>
          <a:xfrm>
            <a:off x="762574" y="2514650"/>
            <a:ext cx="5626500" cy="219600"/>
          </a:xfrm>
          <a:prstGeom prst="rect">
            <a:avLst/>
          </a:prstGeom>
          <a:noFill/>
          <a:ln>
            <a:noFill/>
          </a:ln>
        </p:spPr>
        <p:txBody>
          <a:bodyPr anchorCtr="0" anchor="t" bIns="0" lIns="0" spcFirstLastPara="1" rIns="0" wrap="square" tIns="0">
            <a:spAutoFit/>
          </a:bodyPr>
          <a:lstStyle/>
          <a:p>
            <a:pPr indent="0" lvl="0" marL="0" marR="0" rtl="0" algn="l">
              <a:lnSpc>
                <a:spcPct val="119985"/>
              </a:lnSpc>
              <a:spcBef>
                <a:spcPts val="0"/>
              </a:spcBef>
              <a:spcAft>
                <a:spcPts val="0"/>
              </a:spcAft>
              <a:buNone/>
            </a:pPr>
            <a:r>
              <a:rPr b="0" i="0" lang="en-US" spc="142" sz="1426" u="none" cap="none" strike="noStrike">
                <a:solidFill>
                  <a:srgbClr val="1B2638"/>
                </a:solidFill>
                <a:latin typeface="Inter"/>
                <a:ea typeface="Inter"/>
                <a:cs typeface="Inter"/>
                <a:sym typeface="Inter"/>
              </a:rPr>
              <a:t>RINGKASAN KINERJA PENJUALAN &amp; OPERASIONAL</a:t>
            </a:r>
            <a:endParaRPr/>
          </a:p>
        </p:txBody>
      </p:sp>
      <p:sp>
        <p:nvSpPr>
          <p:cNvPr id="373" name="Google Shape;373;p19"/>
          <p:cNvSpPr txBox="1"/>
          <p:nvPr/>
        </p:nvSpPr>
        <p:spPr>
          <a:xfrm>
            <a:off x="762581" y="2832059"/>
            <a:ext cx="9247584" cy="3246958"/>
          </a:xfrm>
          <a:prstGeom prst="rect">
            <a:avLst/>
          </a:prstGeom>
          <a:noFill/>
          <a:ln>
            <a:noFill/>
          </a:ln>
        </p:spPr>
        <p:txBody>
          <a:bodyPr anchorCtr="0" anchor="t" bIns="0" lIns="0" spcFirstLastPara="1" rIns="0" wrap="square" tIns="0">
            <a:spAutoFit/>
          </a:bodyPr>
          <a:lstStyle/>
          <a:p>
            <a:pPr indent="-197118" lvl="1" marL="394236" marR="0" rtl="0" algn="l">
              <a:lnSpc>
                <a:spcPct val="138005"/>
              </a:lnSpc>
              <a:spcBef>
                <a:spcPts val="0"/>
              </a:spcBef>
              <a:spcAft>
                <a:spcPts val="0"/>
              </a:spcAft>
              <a:buClr>
                <a:srgbClr val="2B3542"/>
              </a:buClr>
              <a:buSzPts val="2176"/>
              <a:buFont typeface="Arial"/>
              <a:buChar char="•"/>
            </a:pPr>
            <a:r>
              <a:rPr b="0" i="0" lang="en-US" sz="2176" u="none" cap="none" strike="noStrike">
                <a:solidFill>
                  <a:srgbClr val="2B3542"/>
                </a:solidFill>
                <a:latin typeface="Inter"/>
                <a:ea typeface="Inter"/>
                <a:cs typeface="Inter"/>
                <a:sym typeface="Inter"/>
              </a:rPr>
              <a:t>KPI overview: net sales $156,0M; units sold 21,6M; margin 38,5%; stockout incidents 11,0K</a:t>
            </a:r>
            <a:endParaRPr/>
          </a:p>
          <a:p>
            <a:pPr indent="-197118" lvl="1" marL="394236" marR="0" rtl="0" algn="l">
              <a:lnSpc>
                <a:spcPct val="138005"/>
              </a:lnSpc>
              <a:spcBef>
                <a:spcPts val="0"/>
              </a:spcBef>
              <a:spcAft>
                <a:spcPts val="0"/>
              </a:spcAft>
              <a:buClr>
                <a:srgbClr val="2B3542"/>
              </a:buClr>
              <a:buSzPts val="2176"/>
              <a:buFont typeface="Arial"/>
              <a:buChar char="•"/>
            </a:pPr>
            <a:r>
              <a:rPr b="0" i="0" lang="en-US" sz="2176" u="none" cap="none" strike="noStrike">
                <a:solidFill>
                  <a:srgbClr val="2B3542"/>
                </a:solidFill>
                <a:latin typeface="Inter"/>
                <a:ea typeface="Inter"/>
                <a:cs typeface="Inter"/>
                <a:sym typeface="Inter"/>
              </a:rPr>
              <a:t>Monthly sales trend membandingkan fluktuasi musiman dengan baseline SPLY</a:t>
            </a:r>
            <a:endParaRPr/>
          </a:p>
          <a:p>
            <a:pPr indent="-197118" lvl="1" marL="394236" marR="0" rtl="0" algn="l">
              <a:lnSpc>
                <a:spcPct val="138005"/>
              </a:lnSpc>
              <a:spcBef>
                <a:spcPts val="0"/>
              </a:spcBef>
              <a:spcAft>
                <a:spcPts val="0"/>
              </a:spcAft>
              <a:buClr>
                <a:srgbClr val="2B3542"/>
              </a:buClr>
              <a:buSzPts val="2176"/>
              <a:buFont typeface="Arial"/>
              <a:buChar char="•"/>
            </a:pPr>
            <a:r>
              <a:rPr b="0" i="0" lang="en-US" sz="2176" u="none" cap="none" strike="noStrike">
                <a:solidFill>
                  <a:srgbClr val="2B3542"/>
                </a:solidFill>
                <a:latin typeface="Inter"/>
                <a:ea typeface="Inter"/>
                <a:cs typeface="Inter"/>
                <a:sym typeface="Inter"/>
              </a:rPr>
              <a:t>Hypermarket mendominasi 54,5%; Snacks dan Beverages menjadi motor pendapatan</a:t>
            </a:r>
            <a:endParaRPr/>
          </a:p>
          <a:p>
            <a:pPr indent="-197118" lvl="1" marL="394236" marR="0" rtl="0" algn="l">
              <a:lnSpc>
                <a:spcPct val="138005"/>
              </a:lnSpc>
              <a:spcBef>
                <a:spcPts val="0"/>
              </a:spcBef>
              <a:spcAft>
                <a:spcPts val="0"/>
              </a:spcAft>
              <a:buClr>
                <a:srgbClr val="2B3542"/>
              </a:buClr>
              <a:buSzPts val="2176"/>
              <a:buFont typeface="Arial"/>
              <a:buChar char="•"/>
            </a:pPr>
            <a:r>
              <a:rPr b="0" i="0" lang="en-US" sz="2176" u="none" cap="none" strike="noStrike">
                <a:solidFill>
                  <a:srgbClr val="2B3542"/>
                </a:solidFill>
                <a:latin typeface="Inter"/>
                <a:ea typeface="Inter"/>
                <a:cs typeface="Inter"/>
                <a:sym typeface="Inter"/>
              </a:rPr>
              <a:t>Regional breakdown menyoroti Italy dan Spain sebagai kontributor sales terbesar dan wilayah dengan stockout tinggi</a:t>
            </a:r>
            <a:endParaRPr/>
          </a:p>
        </p:txBody>
      </p:sp>
      <p:sp>
        <p:nvSpPr>
          <p:cNvPr id="374" name="Google Shape;374;p19"/>
          <p:cNvSpPr txBox="1"/>
          <p:nvPr/>
        </p:nvSpPr>
        <p:spPr>
          <a:xfrm>
            <a:off x="1029481" y="6947867"/>
            <a:ext cx="8980800" cy="219600"/>
          </a:xfrm>
          <a:prstGeom prst="rect">
            <a:avLst/>
          </a:prstGeom>
          <a:noFill/>
          <a:ln>
            <a:noFill/>
          </a:ln>
        </p:spPr>
        <p:txBody>
          <a:bodyPr anchorCtr="0" anchor="t" bIns="0" lIns="0" spcFirstLastPara="1" rIns="0" wrap="square" tIns="0">
            <a:spAutoFit/>
          </a:bodyPr>
          <a:lstStyle/>
          <a:p>
            <a:pPr indent="0" lvl="0" marL="0" marR="0" rtl="0" algn="l">
              <a:lnSpc>
                <a:spcPct val="119985"/>
              </a:lnSpc>
              <a:spcBef>
                <a:spcPts val="0"/>
              </a:spcBef>
              <a:spcAft>
                <a:spcPts val="0"/>
              </a:spcAft>
              <a:buNone/>
            </a:pPr>
            <a:r>
              <a:rPr b="0" i="0" lang="en-US" spc="142" sz="1426" u="none" cap="none" strike="noStrike">
                <a:solidFill>
                  <a:srgbClr val="2B3542"/>
                </a:solidFill>
                <a:latin typeface="Inter"/>
                <a:ea typeface="Inter"/>
                <a:cs typeface="Inter"/>
                <a:sym typeface="Inter"/>
              </a:rPr>
              <a:t>FOKUS MITIGASI</a:t>
            </a:r>
            <a:endParaRPr/>
          </a:p>
        </p:txBody>
      </p:sp>
      <p:sp>
        <p:nvSpPr>
          <p:cNvPr id="375" name="Google Shape;375;p19"/>
          <p:cNvSpPr txBox="1"/>
          <p:nvPr/>
        </p:nvSpPr>
        <p:spPr>
          <a:xfrm>
            <a:off x="1029481" y="7255706"/>
            <a:ext cx="8713800" cy="1259400"/>
          </a:xfrm>
          <a:prstGeom prst="rect">
            <a:avLst/>
          </a:prstGeom>
          <a:noFill/>
          <a:ln>
            <a:noFill/>
          </a:ln>
        </p:spPr>
        <p:txBody>
          <a:bodyPr anchorCtr="0" anchor="t" bIns="0" lIns="0" spcFirstLastPara="1" rIns="0" wrap="square" tIns="0">
            <a:spAutoFit/>
          </a:bodyPr>
          <a:lstStyle/>
          <a:p>
            <a:pPr indent="0" lvl="0" marL="0" marR="0" rtl="0" algn="l">
              <a:lnSpc>
                <a:spcPct val="138005"/>
              </a:lnSpc>
              <a:spcBef>
                <a:spcPts val="0"/>
              </a:spcBef>
              <a:spcAft>
                <a:spcPts val="0"/>
              </a:spcAft>
              <a:buNone/>
            </a:pPr>
            <a:r>
              <a:rPr b="0" i="0" lang="en-US" sz="2176" u="none" cap="none" strike="noStrike">
                <a:solidFill>
                  <a:srgbClr val="2B3542"/>
                </a:solidFill>
                <a:latin typeface="Inter"/>
                <a:ea typeface="Inter"/>
                <a:cs typeface="Inter"/>
                <a:sym typeface="Inter"/>
              </a:rPr>
              <a:t>Konsentrasi stockout di pasar utama menunjukkan kelemahan alokasi stok lintas negara; penguatan buffer stock di hub logistik Eropa Selatan mendesak dilakukan.</a:t>
            </a:r>
            <a:endParaRPr/>
          </a:p>
        </p:txBody>
      </p:sp>
      <p:sp>
        <p:nvSpPr>
          <p:cNvPr id="376" name="Google Shape;376;p19"/>
          <p:cNvSpPr txBox="1"/>
          <p:nvPr/>
        </p:nvSpPr>
        <p:spPr>
          <a:xfrm>
            <a:off x="762581" y="8690724"/>
            <a:ext cx="9247584" cy="478744"/>
          </a:xfrm>
          <a:prstGeom prst="rect">
            <a:avLst/>
          </a:prstGeom>
          <a:noFill/>
          <a:ln>
            <a:noFill/>
          </a:ln>
        </p:spPr>
        <p:txBody>
          <a:bodyPr anchorCtr="0" anchor="t" bIns="0" lIns="0" spcFirstLastPara="1" rIns="0" wrap="square" tIns="0">
            <a:spAutoFit/>
          </a:bodyPr>
          <a:lstStyle/>
          <a:p>
            <a:pPr indent="0" lvl="0" marL="0" marR="0" rtl="0" algn="l">
              <a:lnSpc>
                <a:spcPct val="134361"/>
              </a:lnSpc>
              <a:spcBef>
                <a:spcPts val="0"/>
              </a:spcBef>
              <a:spcAft>
                <a:spcPts val="0"/>
              </a:spcAft>
              <a:buNone/>
            </a:pPr>
            <a:r>
              <a:rPr b="0" i="0" lang="en-US" spc="85" sz="1426" u="none" cap="none" strike="noStrike">
                <a:solidFill>
                  <a:srgbClr val="66625A"/>
                </a:solidFill>
                <a:latin typeface="Inter"/>
                <a:ea typeface="Inter"/>
                <a:cs typeface="Inter"/>
                <a:sym typeface="Inter"/>
              </a:rPr>
              <a:t>SUMBER: POWER BI EXECUTIVE DASHBOARD PAGE 1; FMCG MULTI-COUNTRY SALES DATASET 2021–2023</a:t>
            </a:r>
            <a:endParaRPr/>
          </a:p>
        </p:txBody>
      </p:sp>
      <p:grpSp>
        <p:nvGrpSpPr>
          <p:cNvPr id="377" name="Google Shape;377;p19"/>
          <p:cNvGrpSpPr/>
          <p:nvPr/>
        </p:nvGrpSpPr>
        <p:grpSpPr>
          <a:xfrm>
            <a:off x="15480401" y="64663"/>
            <a:ext cx="4516946" cy="1127273"/>
            <a:chOff x="0" y="-241102"/>
            <a:chExt cx="6022595" cy="1503032"/>
          </a:xfrm>
        </p:grpSpPr>
        <p:grpSp>
          <p:nvGrpSpPr>
            <p:cNvPr id="378" name="Google Shape;378;p19"/>
            <p:cNvGrpSpPr/>
            <p:nvPr/>
          </p:nvGrpSpPr>
          <p:grpSpPr>
            <a:xfrm>
              <a:off x="0" y="-241102"/>
              <a:ext cx="6022595" cy="1503032"/>
              <a:chOff x="0" y="-47625"/>
              <a:chExt cx="1189648" cy="296895"/>
            </a:xfrm>
          </p:grpSpPr>
          <p:sp>
            <p:nvSpPr>
              <p:cNvPr id="379" name="Google Shape;379;p19"/>
              <p:cNvSpPr/>
              <p:nvPr/>
            </p:nvSpPr>
            <p:spPr>
              <a:xfrm>
                <a:off x="0" y="0"/>
                <a:ext cx="1189648" cy="249270"/>
              </a:xfrm>
              <a:custGeom>
                <a:rect b="b" l="l" r="r" t="t"/>
                <a:pathLst>
                  <a:path extrusionOk="0" h="249270" w="1189648">
                    <a:moveTo>
                      <a:pt x="87413" y="0"/>
                    </a:moveTo>
                    <a:lnTo>
                      <a:pt x="1102236" y="0"/>
                    </a:lnTo>
                    <a:cubicBezTo>
                      <a:pt x="1125419" y="0"/>
                      <a:pt x="1147653" y="9210"/>
                      <a:pt x="1164046" y="25603"/>
                    </a:cubicBezTo>
                    <a:cubicBezTo>
                      <a:pt x="1180439" y="41996"/>
                      <a:pt x="1189648" y="64229"/>
                      <a:pt x="1189648" y="87413"/>
                    </a:cubicBezTo>
                    <a:lnTo>
                      <a:pt x="1189648" y="161858"/>
                    </a:lnTo>
                    <a:cubicBezTo>
                      <a:pt x="1189648" y="185041"/>
                      <a:pt x="1180439" y="207275"/>
                      <a:pt x="1164046" y="223668"/>
                    </a:cubicBezTo>
                    <a:cubicBezTo>
                      <a:pt x="1147653" y="240061"/>
                      <a:pt x="1125419" y="249270"/>
                      <a:pt x="1102236" y="249270"/>
                    </a:cubicBezTo>
                    <a:lnTo>
                      <a:pt x="87413" y="249270"/>
                    </a:lnTo>
                    <a:cubicBezTo>
                      <a:pt x="64229" y="249270"/>
                      <a:pt x="41996" y="240061"/>
                      <a:pt x="25603" y="223668"/>
                    </a:cubicBezTo>
                    <a:cubicBezTo>
                      <a:pt x="9210" y="207275"/>
                      <a:pt x="0" y="185041"/>
                      <a:pt x="0" y="161858"/>
                    </a:cubicBezTo>
                    <a:lnTo>
                      <a:pt x="0" y="87413"/>
                    </a:lnTo>
                    <a:cubicBezTo>
                      <a:pt x="0" y="64229"/>
                      <a:pt x="9210" y="41996"/>
                      <a:pt x="25603" y="25603"/>
                    </a:cubicBezTo>
                    <a:cubicBezTo>
                      <a:pt x="41996" y="9210"/>
                      <a:pt x="64229" y="0"/>
                      <a:pt x="87413" y="0"/>
                    </a:cubicBezTo>
                    <a:close/>
                  </a:path>
                </a:pathLst>
              </a:custGeom>
              <a:solidFill>
                <a:srgbClr val="FE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 name="Google Shape;380;p19"/>
              <p:cNvSpPr txBox="1"/>
              <p:nvPr/>
            </p:nvSpPr>
            <p:spPr>
              <a:xfrm>
                <a:off x="0" y="-47625"/>
                <a:ext cx="1189648" cy="296895"/>
              </a:xfrm>
              <a:prstGeom prst="rect">
                <a:avLst/>
              </a:prstGeom>
              <a:noFill/>
              <a:ln>
                <a:noFill/>
              </a:ln>
            </p:spPr>
            <p:txBody>
              <a:bodyPr anchorCtr="0" anchor="ctr" bIns="50800" lIns="50800" spcFirstLastPara="1" rIns="50800" wrap="square" tIns="50800">
                <a:noAutofit/>
              </a:bodyPr>
              <a:lstStyle/>
              <a:p>
                <a:pPr indent="0" lvl="0" marL="0" marR="0" rtl="0" algn="ctr">
                  <a:lnSpc>
                    <a:spcPct val="155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81" name="Google Shape;381;p19"/>
            <p:cNvSpPr/>
            <p:nvPr/>
          </p:nvSpPr>
          <p:spPr>
            <a:xfrm>
              <a:off x="483631" y="226255"/>
              <a:ext cx="2676306" cy="809419"/>
            </a:xfrm>
            <a:custGeom>
              <a:rect b="b" l="l" r="r" t="t"/>
              <a:pathLst>
                <a:path extrusionOk="0" h="809419" w="2676306">
                  <a:moveTo>
                    <a:pt x="0" y="0"/>
                  </a:moveTo>
                  <a:lnTo>
                    <a:pt x="2676305" y="0"/>
                  </a:lnTo>
                  <a:lnTo>
                    <a:pt x="2676305" y="809420"/>
                  </a:lnTo>
                  <a:lnTo>
                    <a:pt x="0" y="809420"/>
                  </a:lnTo>
                  <a:lnTo>
                    <a:pt x="0" y="0"/>
                  </a:lnTo>
                  <a:close/>
                </a:path>
              </a:pathLst>
            </a:custGeom>
            <a:blipFill rotWithShape="1">
              <a:blip r:embed="rId5">
                <a:alphaModFix/>
              </a:blip>
              <a:stretch>
                <a:fillRect b="0" l="0" r="0" t="0"/>
              </a:stretch>
            </a:blipFill>
            <a:ln>
              <a:noFill/>
            </a:ln>
          </p:spPr>
        </p:sp>
      </p:gr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385" name="Shape 385"/>
        <p:cNvGrpSpPr/>
        <p:nvPr/>
      </p:nvGrpSpPr>
      <p:grpSpPr>
        <a:xfrm>
          <a:off x="0" y="0"/>
          <a:ext cx="0" cy="0"/>
          <a:chOff x="0" y="0"/>
          <a:chExt cx="0" cy="0"/>
        </a:xfrm>
      </p:grpSpPr>
      <p:sp>
        <p:nvSpPr>
          <p:cNvPr id="386" name="Google Shape;386;p20"/>
          <p:cNvSpPr/>
          <p:nvPr/>
        </p:nvSpPr>
        <p:spPr>
          <a:xfrm>
            <a:off x="9346334" y="2073828"/>
            <a:ext cx="7563009" cy="7491903"/>
          </a:xfrm>
          <a:custGeom>
            <a:rect b="b" l="l" r="r" t="t"/>
            <a:pathLst>
              <a:path extrusionOk="0" h="7491903" w="7563009">
                <a:moveTo>
                  <a:pt x="0" y="0"/>
                </a:moveTo>
                <a:lnTo>
                  <a:pt x="7563008" y="0"/>
                </a:lnTo>
                <a:lnTo>
                  <a:pt x="7563008" y="7491903"/>
                </a:lnTo>
                <a:lnTo>
                  <a:pt x="0" y="7491903"/>
                </a:lnTo>
                <a:lnTo>
                  <a:pt x="0" y="0"/>
                </a:lnTo>
                <a:close/>
              </a:path>
            </a:pathLst>
          </a:custGeom>
          <a:blipFill rotWithShape="1">
            <a:blip r:embed="rId3">
              <a:alphaModFix/>
            </a:blip>
            <a:stretch>
              <a:fillRect b="0" l="-799" r="-799" t="0"/>
            </a:stretch>
          </a:blipFill>
          <a:ln>
            <a:noFill/>
          </a:ln>
        </p:spPr>
      </p:sp>
      <p:sp>
        <p:nvSpPr>
          <p:cNvPr id="387" name="Google Shape;387;p20"/>
          <p:cNvSpPr txBox="1"/>
          <p:nvPr/>
        </p:nvSpPr>
        <p:spPr>
          <a:xfrm>
            <a:off x="762581" y="625349"/>
            <a:ext cx="11012331" cy="929150"/>
          </a:xfrm>
          <a:prstGeom prst="rect">
            <a:avLst/>
          </a:prstGeom>
          <a:noFill/>
          <a:ln>
            <a:noFill/>
          </a:ln>
        </p:spPr>
        <p:txBody>
          <a:bodyPr anchorCtr="0" anchor="t" bIns="0" lIns="0" spcFirstLastPara="1" rIns="0" wrap="square" tIns="0">
            <a:spAutoFit/>
          </a:bodyPr>
          <a:lstStyle/>
          <a:p>
            <a:pPr indent="0" lvl="0" marL="0" marR="0" rtl="0" algn="l">
              <a:lnSpc>
                <a:spcPct val="111584"/>
              </a:lnSpc>
              <a:spcBef>
                <a:spcPts val="0"/>
              </a:spcBef>
              <a:spcAft>
                <a:spcPts val="0"/>
              </a:spcAft>
              <a:buNone/>
            </a:pPr>
            <a:r>
              <a:rPr b="1" i="0" lang="en-US" spc="-15" sz="3168" u="none" cap="none" strike="noStrike">
                <a:solidFill>
                  <a:srgbClr val="0F1B2B"/>
                </a:solidFill>
                <a:latin typeface="Arimo"/>
                <a:ea typeface="Arimo"/>
                <a:cs typeface="Arimo"/>
                <a:sym typeface="Arimo"/>
              </a:rPr>
              <a:t>Analisis Elastisitas Promosi &amp; Sensitivitas Harga (Promotional Elasticity &amp; Pricing Sensitivity)</a:t>
            </a:r>
            <a:endParaRPr/>
          </a:p>
        </p:txBody>
      </p:sp>
      <p:sp>
        <p:nvSpPr>
          <p:cNvPr id="388" name="Google Shape;388;p20"/>
          <p:cNvSpPr txBox="1"/>
          <p:nvPr/>
        </p:nvSpPr>
        <p:spPr>
          <a:xfrm>
            <a:off x="762581" y="2202218"/>
            <a:ext cx="8148673" cy="1069966"/>
          </a:xfrm>
          <a:prstGeom prst="rect">
            <a:avLst/>
          </a:prstGeom>
          <a:noFill/>
          <a:ln>
            <a:noFill/>
          </a:ln>
        </p:spPr>
        <p:txBody>
          <a:bodyPr anchorCtr="0" anchor="t" bIns="0" lIns="0" spcFirstLastPara="1" rIns="0" wrap="square" tIns="0">
            <a:spAutoFit/>
          </a:bodyPr>
          <a:lstStyle/>
          <a:p>
            <a:pPr indent="0" lvl="0" marL="0" marR="0" rtl="0" algn="l">
              <a:lnSpc>
                <a:spcPct val="138034"/>
              </a:lnSpc>
              <a:spcBef>
                <a:spcPts val="0"/>
              </a:spcBef>
              <a:spcAft>
                <a:spcPts val="0"/>
              </a:spcAft>
              <a:buNone/>
            </a:pPr>
            <a:r>
              <a:rPr b="0" i="0" lang="en-US" sz="2035" u="none" cap="none" strike="noStrike">
                <a:solidFill>
                  <a:srgbClr val="2B3542"/>
                </a:solidFill>
                <a:latin typeface="Inter"/>
                <a:ea typeface="Inter"/>
                <a:cs typeface="Inter"/>
                <a:sym typeface="Inter"/>
              </a:rPr>
              <a:t>Mengevaluasi efektivitas program promosi dan diskon terhadap lonjakan volume penjualan (sales uplift) serta dampaknya terhadap marjin bersih perusahaan.</a:t>
            </a:r>
            <a:endParaRPr/>
          </a:p>
        </p:txBody>
      </p:sp>
      <p:sp>
        <p:nvSpPr>
          <p:cNvPr id="389" name="Google Shape;389;p20"/>
          <p:cNvSpPr txBox="1"/>
          <p:nvPr/>
        </p:nvSpPr>
        <p:spPr>
          <a:xfrm>
            <a:off x="762581" y="3919884"/>
            <a:ext cx="8148673" cy="3207713"/>
          </a:xfrm>
          <a:prstGeom prst="rect">
            <a:avLst/>
          </a:prstGeom>
          <a:noFill/>
          <a:ln>
            <a:noFill/>
          </a:ln>
        </p:spPr>
        <p:txBody>
          <a:bodyPr anchorCtr="0" anchor="t" bIns="0" lIns="0" spcFirstLastPara="1" rIns="0" wrap="square" tIns="0">
            <a:spAutoFit/>
          </a:bodyPr>
          <a:lstStyle/>
          <a:p>
            <a:pPr indent="-219736" lvl="1" marL="439473" marR="0" rtl="0" algn="l">
              <a:lnSpc>
                <a:spcPct val="138034"/>
              </a:lnSpc>
              <a:spcBef>
                <a:spcPts val="0"/>
              </a:spcBef>
              <a:spcAft>
                <a:spcPts val="0"/>
              </a:spcAft>
              <a:buClr>
                <a:srgbClr val="2B3542"/>
              </a:buClr>
              <a:buSzPts val="2035"/>
              <a:buFont typeface="Arial"/>
              <a:buChar char="•"/>
            </a:pPr>
            <a:r>
              <a:rPr b="0" i="0" lang="en-US" sz="2035" u="none" cap="none" strike="noStrike">
                <a:solidFill>
                  <a:srgbClr val="2B3542"/>
                </a:solidFill>
                <a:latin typeface="Inter"/>
                <a:ea typeface="Inter"/>
                <a:cs typeface="Inter"/>
                <a:sym typeface="Inter"/>
              </a:rPr>
              <a:t>Sebagian besar produk FMCG bersifat inelastis, sehingga pemberian diskon tidak secara signifikan mendongkrak volume penjualan, melainkan justru memicu erosi marjin (margin erosion).</a:t>
            </a:r>
            <a:endParaRPr/>
          </a:p>
          <a:p>
            <a:pPr indent="-219736" lvl="1" marL="439473" marR="0" rtl="0" algn="l">
              <a:lnSpc>
                <a:spcPct val="138034"/>
              </a:lnSpc>
              <a:spcBef>
                <a:spcPts val="0"/>
              </a:spcBef>
              <a:spcAft>
                <a:spcPts val="0"/>
              </a:spcAft>
              <a:buClr>
                <a:srgbClr val="2B3542"/>
              </a:buClr>
              <a:buSzPts val="2035"/>
              <a:buFont typeface="Arial"/>
              <a:buChar char="•"/>
            </a:pPr>
            <a:r>
              <a:rPr b="0" i="0" lang="en-US" sz="2035" u="none" cap="none" strike="noStrike">
                <a:solidFill>
                  <a:srgbClr val="2B3542"/>
                </a:solidFill>
                <a:latin typeface="Inter"/>
                <a:ea typeface="Inter"/>
                <a:cs typeface="Inter"/>
                <a:sym typeface="Inter"/>
              </a:rPr>
              <a:t>Meskipun tingkat service level (OTIF) supplier sudah tinggi (~97%), fluktuasi kecil pada lead time (6,44–6,69 hari) dapat memicu over-ordering (kelebihan pemesanan PO) berbiaya tinggi pada kategori seperti Snacks dan Personal Care.</a:t>
            </a:r>
            <a:endParaRPr/>
          </a:p>
          <a:p>
            <a:pPr indent="0" lvl="0" marL="0" marR="0" rtl="0" algn="l">
              <a:lnSpc>
                <a:spcPct val="138034"/>
              </a:lnSpc>
              <a:spcBef>
                <a:spcPts val="0"/>
              </a:spcBef>
              <a:spcAft>
                <a:spcPts val="0"/>
              </a:spcAft>
              <a:buNone/>
            </a:pPr>
            <a:r>
              <a:t/>
            </a:r>
            <a:endParaRPr b="0" i="0" sz="2035" u="none" cap="none" strike="noStrike">
              <a:solidFill>
                <a:srgbClr val="2B3542"/>
              </a:solidFill>
              <a:latin typeface="Inter"/>
              <a:ea typeface="Inter"/>
              <a:cs typeface="Inter"/>
              <a:sym typeface="Inter"/>
            </a:endParaRPr>
          </a:p>
        </p:txBody>
      </p:sp>
      <p:sp>
        <p:nvSpPr>
          <p:cNvPr id="390" name="Google Shape;390;p20"/>
          <p:cNvSpPr/>
          <p:nvPr/>
        </p:nvSpPr>
        <p:spPr>
          <a:xfrm>
            <a:off x="762581" y="1887874"/>
            <a:ext cx="16776573" cy="28575"/>
          </a:xfrm>
          <a:custGeom>
            <a:rect b="b" l="l" r="r" t="t"/>
            <a:pathLst>
              <a:path extrusionOk="0" h="38100" w="22368763">
                <a:moveTo>
                  <a:pt x="0" y="19050"/>
                </a:moveTo>
                <a:cubicBezTo>
                  <a:pt x="0" y="8509"/>
                  <a:pt x="8509" y="0"/>
                  <a:pt x="19050" y="0"/>
                </a:cubicBezTo>
                <a:lnTo>
                  <a:pt x="22349713" y="0"/>
                </a:lnTo>
                <a:cubicBezTo>
                  <a:pt x="22360254" y="0"/>
                  <a:pt x="22368763" y="8509"/>
                  <a:pt x="22368763" y="19050"/>
                </a:cubicBezTo>
                <a:cubicBezTo>
                  <a:pt x="22368763" y="29591"/>
                  <a:pt x="22360254" y="38100"/>
                  <a:pt x="22349713" y="38100"/>
                </a:cubicBezTo>
                <a:lnTo>
                  <a:pt x="19050" y="38100"/>
                </a:lnTo>
                <a:cubicBezTo>
                  <a:pt x="8509" y="38100"/>
                  <a:pt x="0" y="29591"/>
                  <a:pt x="0" y="19050"/>
                </a:cubicBezTo>
                <a:close/>
              </a:path>
            </a:pathLst>
          </a:custGeom>
          <a:solidFill>
            <a:srgbClr val="14253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 name="Google Shape;391;p20"/>
          <p:cNvSpPr/>
          <p:nvPr/>
        </p:nvSpPr>
        <p:spPr>
          <a:xfrm>
            <a:off x="0" y="9723091"/>
            <a:ext cx="18301811" cy="14287"/>
          </a:xfrm>
          <a:custGeom>
            <a:rect b="b" l="l" r="r" t="t"/>
            <a:pathLst>
              <a:path extrusionOk="0" h="19050" w="24402414">
                <a:moveTo>
                  <a:pt x="0" y="0"/>
                </a:moveTo>
                <a:lnTo>
                  <a:pt x="24402414" y="0"/>
                </a:lnTo>
                <a:lnTo>
                  <a:pt x="24402414" y="19050"/>
                </a:lnTo>
                <a:lnTo>
                  <a:pt x="0" y="19050"/>
                </a:lnTo>
                <a:close/>
              </a:path>
            </a:pathLst>
          </a:custGeom>
          <a:solidFill>
            <a:srgbClr val="2B3542">
              <a:alpha val="3922"/>
            </a:srgbClr>
          </a:solidFill>
          <a:ln>
            <a:noFill/>
          </a:ln>
        </p:spPr>
      </p:sp>
      <p:grpSp>
        <p:nvGrpSpPr>
          <p:cNvPr id="392" name="Google Shape;392;p20"/>
          <p:cNvGrpSpPr/>
          <p:nvPr/>
        </p:nvGrpSpPr>
        <p:grpSpPr>
          <a:xfrm>
            <a:off x="293380" y="9612742"/>
            <a:ext cx="7167785" cy="521294"/>
            <a:chOff x="0" y="-28575"/>
            <a:chExt cx="9557046" cy="695058"/>
          </a:xfrm>
        </p:grpSpPr>
        <p:sp>
          <p:nvSpPr>
            <p:cNvPr id="393" name="Google Shape;393;p20"/>
            <p:cNvSpPr/>
            <p:nvPr/>
          </p:nvSpPr>
          <p:spPr>
            <a:xfrm>
              <a:off x="0" y="0"/>
              <a:ext cx="9557046" cy="666483"/>
            </a:xfrm>
            <a:custGeom>
              <a:rect b="b" l="l" r="r" t="t"/>
              <a:pathLst>
                <a:path extrusionOk="0" h="666483" w="9557046">
                  <a:moveTo>
                    <a:pt x="0" y="0"/>
                  </a:moveTo>
                  <a:lnTo>
                    <a:pt x="9557046" y="0"/>
                  </a:lnTo>
                  <a:lnTo>
                    <a:pt x="9557046" y="666483"/>
                  </a:lnTo>
                  <a:lnTo>
                    <a:pt x="0" y="666483"/>
                  </a:lnTo>
                  <a:close/>
                </a:path>
              </a:pathLst>
            </a:custGeom>
            <a:blipFill rotWithShape="1">
              <a:blip r:embed="rId4">
                <a:alphaModFix amt="0"/>
              </a:blip>
              <a:stretch>
                <a:fillRect b="-181075" l="0" r="17296" t="-181075"/>
              </a:stretch>
            </a:blipFill>
            <a:ln>
              <a:noFill/>
            </a:ln>
          </p:spPr>
        </p:sp>
        <p:sp>
          <p:nvSpPr>
            <p:cNvPr id="394" name="Google Shape;394;p20"/>
            <p:cNvSpPr txBox="1"/>
            <p:nvPr/>
          </p:nvSpPr>
          <p:spPr>
            <a:xfrm>
              <a:off x="0" y="-28575"/>
              <a:ext cx="9557042" cy="695052"/>
            </a:xfrm>
            <a:prstGeom prst="rect">
              <a:avLst/>
            </a:prstGeom>
            <a:noFill/>
            <a:ln>
              <a:noFill/>
            </a:ln>
          </p:spPr>
          <p:txBody>
            <a:bodyPr anchorCtr="0" anchor="ctr" bIns="0" lIns="0" spcFirstLastPara="1" rIns="0" wrap="square" tIns="0">
              <a:noAutofit/>
            </a:bodyPr>
            <a:lstStyle/>
            <a:p>
              <a:pPr indent="0" lvl="0" marL="0" marR="0" rtl="0" algn="l">
                <a:lnSpc>
                  <a:spcPct val="138008"/>
                </a:lnSpc>
                <a:spcBef>
                  <a:spcPts val="0"/>
                </a:spcBef>
                <a:spcAft>
                  <a:spcPts val="0"/>
                </a:spcAft>
                <a:buNone/>
              </a:pPr>
              <a:r>
                <a:rPr b="0" i="0" lang="en-US" spc="142" sz="1426" u="none" cap="none" strike="noStrike">
                  <a:solidFill>
                    <a:srgbClr val="2B3542"/>
                  </a:solidFill>
                  <a:latin typeface="Inter"/>
                  <a:ea typeface="Inter"/>
                  <a:cs typeface="Inter"/>
                  <a:sym typeface="Inter"/>
                </a:rPr>
                <a:t>GLOBAL FMCG SUPPLY CHAIN ANALYTICS — EXECUTIVE REPORT</a:t>
              </a:r>
              <a:endParaRPr/>
            </a:p>
          </p:txBody>
        </p:sp>
      </p:grpSp>
      <p:grpSp>
        <p:nvGrpSpPr>
          <p:cNvPr id="395" name="Google Shape;395;p20"/>
          <p:cNvGrpSpPr/>
          <p:nvPr/>
        </p:nvGrpSpPr>
        <p:grpSpPr>
          <a:xfrm>
            <a:off x="15480401" y="64663"/>
            <a:ext cx="4516946" cy="1127273"/>
            <a:chOff x="0" y="-241102"/>
            <a:chExt cx="6022595" cy="1503032"/>
          </a:xfrm>
        </p:grpSpPr>
        <p:grpSp>
          <p:nvGrpSpPr>
            <p:cNvPr id="396" name="Google Shape;396;p20"/>
            <p:cNvGrpSpPr/>
            <p:nvPr/>
          </p:nvGrpSpPr>
          <p:grpSpPr>
            <a:xfrm>
              <a:off x="0" y="-241102"/>
              <a:ext cx="6022595" cy="1503032"/>
              <a:chOff x="0" y="-47625"/>
              <a:chExt cx="1189648" cy="296895"/>
            </a:xfrm>
          </p:grpSpPr>
          <p:sp>
            <p:nvSpPr>
              <p:cNvPr id="397" name="Google Shape;397;p20"/>
              <p:cNvSpPr/>
              <p:nvPr/>
            </p:nvSpPr>
            <p:spPr>
              <a:xfrm>
                <a:off x="0" y="0"/>
                <a:ext cx="1189648" cy="249270"/>
              </a:xfrm>
              <a:custGeom>
                <a:rect b="b" l="l" r="r" t="t"/>
                <a:pathLst>
                  <a:path extrusionOk="0" h="249270" w="1189648">
                    <a:moveTo>
                      <a:pt x="87413" y="0"/>
                    </a:moveTo>
                    <a:lnTo>
                      <a:pt x="1102236" y="0"/>
                    </a:lnTo>
                    <a:cubicBezTo>
                      <a:pt x="1125419" y="0"/>
                      <a:pt x="1147653" y="9210"/>
                      <a:pt x="1164046" y="25603"/>
                    </a:cubicBezTo>
                    <a:cubicBezTo>
                      <a:pt x="1180439" y="41996"/>
                      <a:pt x="1189648" y="64229"/>
                      <a:pt x="1189648" y="87413"/>
                    </a:cubicBezTo>
                    <a:lnTo>
                      <a:pt x="1189648" y="161858"/>
                    </a:lnTo>
                    <a:cubicBezTo>
                      <a:pt x="1189648" y="185041"/>
                      <a:pt x="1180439" y="207275"/>
                      <a:pt x="1164046" y="223668"/>
                    </a:cubicBezTo>
                    <a:cubicBezTo>
                      <a:pt x="1147653" y="240061"/>
                      <a:pt x="1125419" y="249270"/>
                      <a:pt x="1102236" y="249270"/>
                    </a:cubicBezTo>
                    <a:lnTo>
                      <a:pt x="87413" y="249270"/>
                    </a:lnTo>
                    <a:cubicBezTo>
                      <a:pt x="64229" y="249270"/>
                      <a:pt x="41996" y="240061"/>
                      <a:pt x="25603" y="223668"/>
                    </a:cubicBezTo>
                    <a:cubicBezTo>
                      <a:pt x="9210" y="207275"/>
                      <a:pt x="0" y="185041"/>
                      <a:pt x="0" y="161858"/>
                    </a:cubicBezTo>
                    <a:lnTo>
                      <a:pt x="0" y="87413"/>
                    </a:lnTo>
                    <a:cubicBezTo>
                      <a:pt x="0" y="64229"/>
                      <a:pt x="9210" y="41996"/>
                      <a:pt x="25603" y="25603"/>
                    </a:cubicBezTo>
                    <a:cubicBezTo>
                      <a:pt x="41996" y="9210"/>
                      <a:pt x="64229" y="0"/>
                      <a:pt x="87413" y="0"/>
                    </a:cubicBezTo>
                    <a:close/>
                  </a:path>
                </a:pathLst>
              </a:custGeom>
              <a:solidFill>
                <a:srgbClr val="FE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 name="Google Shape;398;p20"/>
              <p:cNvSpPr txBox="1"/>
              <p:nvPr/>
            </p:nvSpPr>
            <p:spPr>
              <a:xfrm>
                <a:off x="0" y="-47625"/>
                <a:ext cx="1189648" cy="296895"/>
              </a:xfrm>
              <a:prstGeom prst="rect">
                <a:avLst/>
              </a:prstGeom>
              <a:noFill/>
              <a:ln>
                <a:noFill/>
              </a:ln>
            </p:spPr>
            <p:txBody>
              <a:bodyPr anchorCtr="0" anchor="ctr" bIns="50800" lIns="50800" spcFirstLastPara="1" rIns="50800" wrap="square" tIns="50800">
                <a:noAutofit/>
              </a:bodyPr>
              <a:lstStyle/>
              <a:p>
                <a:pPr indent="0" lvl="0" marL="0" marR="0" rtl="0" algn="ctr">
                  <a:lnSpc>
                    <a:spcPct val="155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99" name="Google Shape;399;p20"/>
            <p:cNvSpPr/>
            <p:nvPr/>
          </p:nvSpPr>
          <p:spPr>
            <a:xfrm>
              <a:off x="483631" y="226255"/>
              <a:ext cx="2676306" cy="809419"/>
            </a:xfrm>
            <a:custGeom>
              <a:rect b="b" l="l" r="r" t="t"/>
              <a:pathLst>
                <a:path extrusionOk="0" h="809419" w="2676306">
                  <a:moveTo>
                    <a:pt x="0" y="0"/>
                  </a:moveTo>
                  <a:lnTo>
                    <a:pt x="2676305" y="0"/>
                  </a:lnTo>
                  <a:lnTo>
                    <a:pt x="2676305" y="809420"/>
                  </a:lnTo>
                  <a:lnTo>
                    <a:pt x="0" y="809420"/>
                  </a:lnTo>
                  <a:lnTo>
                    <a:pt x="0" y="0"/>
                  </a:lnTo>
                  <a:close/>
                </a:path>
              </a:pathLst>
            </a:custGeom>
            <a:blipFill rotWithShape="1">
              <a:blip r:embed="rId5">
                <a:alphaModFix/>
              </a:blip>
              <a:stretch>
                <a:fillRect b="0" l="0" r="0" t="0"/>
              </a:stretch>
            </a:blipFill>
            <a:ln>
              <a:noFill/>
            </a:ln>
          </p:spPr>
        </p:sp>
      </p:gr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407" name="Shape 407"/>
        <p:cNvGrpSpPr/>
        <p:nvPr/>
      </p:nvGrpSpPr>
      <p:grpSpPr>
        <a:xfrm>
          <a:off x="0" y="0"/>
          <a:ext cx="0" cy="0"/>
          <a:chOff x="0" y="0"/>
          <a:chExt cx="0" cy="0"/>
        </a:xfrm>
      </p:grpSpPr>
      <p:sp>
        <p:nvSpPr>
          <p:cNvPr id="408" name="Google Shape;408;p21"/>
          <p:cNvSpPr/>
          <p:nvPr/>
        </p:nvSpPr>
        <p:spPr>
          <a:xfrm>
            <a:off x="762581" y="2421693"/>
            <a:ext cx="16776573" cy="28575"/>
          </a:xfrm>
          <a:custGeom>
            <a:rect b="b" l="l" r="r" t="t"/>
            <a:pathLst>
              <a:path extrusionOk="0" h="38100" w="22368763">
                <a:moveTo>
                  <a:pt x="0" y="19050"/>
                </a:moveTo>
                <a:cubicBezTo>
                  <a:pt x="0" y="8509"/>
                  <a:pt x="8509" y="0"/>
                  <a:pt x="19050" y="0"/>
                </a:cubicBezTo>
                <a:lnTo>
                  <a:pt x="22349713" y="0"/>
                </a:lnTo>
                <a:cubicBezTo>
                  <a:pt x="22360254" y="0"/>
                  <a:pt x="22368763" y="8509"/>
                  <a:pt x="22368763" y="19050"/>
                </a:cubicBezTo>
                <a:cubicBezTo>
                  <a:pt x="22368763" y="29591"/>
                  <a:pt x="22360254" y="38100"/>
                  <a:pt x="22349713" y="38100"/>
                </a:cubicBezTo>
                <a:lnTo>
                  <a:pt x="19050" y="38100"/>
                </a:lnTo>
                <a:cubicBezTo>
                  <a:pt x="8509" y="38100"/>
                  <a:pt x="0" y="29591"/>
                  <a:pt x="0" y="19050"/>
                </a:cubicBezTo>
                <a:close/>
              </a:path>
            </a:pathLst>
          </a:custGeom>
          <a:solidFill>
            <a:srgbClr val="8C87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 name="Google Shape;409;p21"/>
          <p:cNvSpPr/>
          <p:nvPr/>
        </p:nvSpPr>
        <p:spPr>
          <a:xfrm>
            <a:off x="762581" y="6682397"/>
            <a:ext cx="9247537" cy="1838230"/>
          </a:xfrm>
          <a:custGeom>
            <a:rect b="b" l="l" r="r" t="t"/>
            <a:pathLst>
              <a:path extrusionOk="0" h="2450973" w="12330049">
                <a:moveTo>
                  <a:pt x="0" y="0"/>
                </a:moveTo>
                <a:lnTo>
                  <a:pt x="12330049" y="0"/>
                </a:lnTo>
                <a:lnTo>
                  <a:pt x="12330049" y="2450973"/>
                </a:lnTo>
                <a:lnTo>
                  <a:pt x="0" y="2450973"/>
                </a:lnTo>
                <a:close/>
              </a:path>
            </a:pathLst>
          </a:custGeom>
          <a:solidFill>
            <a:srgbClr val="EDF2F7"/>
          </a:solidFill>
          <a:ln>
            <a:noFill/>
          </a:ln>
        </p:spPr>
      </p:sp>
      <p:sp>
        <p:nvSpPr>
          <p:cNvPr id="410" name="Google Shape;410;p21"/>
          <p:cNvSpPr/>
          <p:nvPr/>
        </p:nvSpPr>
        <p:spPr>
          <a:xfrm>
            <a:off x="762581" y="6682397"/>
            <a:ext cx="9247537" cy="57150"/>
          </a:xfrm>
          <a:custGeom>
            <a:rect b="b" l="l" r="r" t="t"/>
            <a:pathLst>
              <a:path extrusionOk="0" h="76200" w="12330049">
                <a:moveTo>
                  <a:pt x="0" y="0"/>
                </a:moveTo>
                <a:lnTo>
                  <a:pt x="12330049" y="0"/>
                </a:lnTo>
                <a:lnTo>
                  <a:pt x="12330049" y="76200"/>
                </a:lnTo>
                <a:lnTo>
                  <a:pt x="0" y="76200"/>
                </a:lnTo>
                <a:close/>
              </a:path>
            </a:pathLst>
          </a:custGeom>
          <a:solidFill>
            <a:srgbClr val="0CC0DF"/>
          </a:solidFill>
          <a:ln>
            <a:noFill/>
          </a:ln>
        </p:spPr>
      </p:sp>
      <p:graphicFrame>
        <p:nvGraphicFramePr>
          <p:cNvPr id="411" name="Google Shape;411;p21"/>
          <p:cNvGraphicFramePr/>
          <p:nvPr/>
        </p:nvGraphicFramePr>
        <p:xfrm>
          <a:off x="10467556" y="3060809"/>
          <a:ext cx="3000000" cy="3000000"/>
        </p:xfrm>
        <a:graphic>
          <a:graphicData uri="http://schemas.openxmlformats.org/drawingml/2006/table">
            <a:tbl>
              <a:tblPr>
                <a:noFill/>
                <a:tableStyleId>{EA38B67D-69BF-4426-9D7D-43E40D648462}</a:tableStyleId>
              </a:tblPr>
              <a:tblGrid>
                <a:gridCol w="2814125"/>
                <a:gridCol w="2119950"/>
                <a:gridCol w="2119950"/>
              </a:tblGrid>
              <a:tr h="408450">
                <a:tc>
                  <a:txBody>
                    <a:bodyPr/>
                    <a:lstStyle/>
                    <a:p>
                      <a:pPr indent="0" lvl="0" marL="0" marR="0" rtl="0" algn="l">
                        <a:lnSpc>
                          <a:spcPct val="119985"/>
                        </a:lnSpc>
                        <a:spcBef>
                          <a:spcPts val="0"/>
                        </a:spcBef>
                        <a:spcAft>
                          <a:spcPts val="0"/>
                        </a:spcAft>
                        <a:buNone/>
                      </a:pPr>
                      <a:r>
                        <a:rPr lang="en-US" spc="114" sz="1426" u="none" cap="none" strike="noStrike">
                          <a:solidFill>
                            <a:srgbClr val="0F1B2B"/>
                          </a:solidFill>
                          <a:latin typeface="Inter"/>
                          <a:ea typeface="Inter"/>
                          <a:cs typeface="Inter"/>
                          <a:sym typeface="Inter"/>
                        </a:rPr>
                        <a:t>KATEGORI</a:t>
                      </a:r>
                      <a:endParaRPr sz="1100" u="none" cap="none" strike="noStrike"/>
                    </a:p>
                  </a:txBody>
                  <a:tcPr marT="109525" marB="109525" marR="109525" marL="109525" anchor="ctr">
                    <a:lnL cap="flat" cmpd="sng" w="12700">
                      <a:solidFill>
                        <a:srgbClr val="F8FAFC"/>
                      </a:solidFill>
                      <a:prstDash val="solid"/>
                      <a:round/>
                      <a:headEnd len="sm" w="sm" type="none"/>
                      <a:tailEnd len="sm" w="sm" type="none"/>
                    </a:lnL>
                    <a:lnR cap="flat" cmpd="sng" w="12700">
                      <a:solidFill>
                        <a:srgbClr val="F8FAFC"/>
                      </a:solidFill>
                      <a:prstDash val="solid"/>
                      <a:round/>
                      <a:headEnd len="sm" w="sm" type="none"/>
                      <a:tailEnd len="sm" w="sm" type="none"/>
                    </a:lnR>
                    <a:lnT cap="flat" cmpd="sng" w="12700">
                      <a:solidFill>
                        <a:srgbClr val="F8FAFC"/>
                      </a:solidFill>
                      <a:prstDash val="solid"/>
                      <a:round/>
                      <a:headEnd len="sm" w="sm" type="none"/>
                      <a:tailEnd len="sm" w="sm" type="none"/>
                    </a:lnT>
                    <a:lnB cap="flat" cmpd="sng" w="12700">
                      <a:solidFill>
                        <a:srgbClr val="0F1B2B"/>
                      </a:solidFill>
                      <a:prstDash val="solid"/>
                      <a:round/>
                      <a:headEnd len="sm" w="sm" type="none"/>
                      <a:tailEnd len="sm" w="sm" type="none"/>
                    </a:lnB>
                  </a:tcPr>
                </a:tc>
                <a:tc>
                  <a:txBody>
                    <a:bodyPr/>
                    <a:lstStyle/>
                    <a:p>
                      <a:pPr indent="0" lvl="0" marL="0" marR="0" rtl="0" algn="r">
                        <a:lnSpc>
                          <a:spcPct val="119985"/>
                        </a:lnSpc>
                        <a:spcBef>
                          <a:spcPts val="0"/>
                        </a:spcBef>
                        <a:spcAft>
                          <a:spcPts val="0"/>
                        </a:spcAft>
                        <a:buNone/>
                      </a:pPr>
                      <a:r>
                        <a:rPr lang="en-US" spc="114" sz="1426" u="none" cap="none" strike="noStrike">
                          <a:solidFill>
                            <a:srgbClr val="0F1B2B"/>
                          </a:solidFill>
                          <a:latin typeface="Inter"/>
                          <a:ea typeface="Inter"/>
                          <a:cs typeface="Inter"/>
                          <a:sym typeface="Inter"/>
                        </a:rPr>
                        <a:t>PROMO UPLIFT</a:t>
                      </a:r>
                      <a:endParaRPr sz="1100" u="none" cap="none" strike="noStrike"/>
                    </a:p>
                  </a:txBody>
                  <a:tcPr marT="109525" marB="109525" marR="109525" marL="109525" anchor="ctr">
                    <a:lnL cap="flat" cmpd="sng" w="12700">
                      <a:solidFill>
                        <a:srgbClr val="F8FAFC"/>
                      </a:solidFill>
                      <a:prstDash val="solid"/>
                      <a:round/>
                      <a:headEnd len="sm" w="sm" type="none"/>
                      <a:tailEnd len="sm" w="sm" type="none"/>
                    </a:lnL>
                    <a:lnR cap="flat" cmpd="sng" w="12700">
                      <a:solidFill>
                        <a:srgbClr val="F8FAFC"/>
                      </a:solidFill>
                      <a:prstDash val="solid"/>
                      <a:round/>
                      <a:headEnd len="sm" w="sm" type="none"/>
                      <a:tailEnd len="sm" w="sm" type="none"/>
                    </a:lnR>
                    <a:lnT cap="flat" cmpd="sng" w="12700">
                      <a:solidFill>
                        <a:srgbClr val="F8FAFC"/>
                      </a:solidFill>
                      <a:prstDash val="solid"/>
                      <a:round/>
                      <a:headEnd len="sm" w="sm" type="none"/>
                      <a:tailEnd len="sm" w="sm" type="none"/>
                    </a:lnT>
                    <a:lnB cap="flat" cmpd="sng" w="12700">
                      <a:solidFill>
                        <a:srgbClr val="0F1B2B"/>
                      </a:solidFill>
                      <a:prstDash val="solid"/>
                      <a:round/>
                      <a:headEnd len="sm" w="sm" type="none"/>
                      <a:tailEnd len="sm" w="sm" type="none"/>
                    </a:lnB>
                  </a:tcPr>
                </a:tc>
                <a:tc>
                  <a:txBody>
                    <a:bodyPr/>
                    <a:lstStyle/>
                    <a:p>
                      <a:pPr indent="0" lvl="0" marL="0" marR="0" rtl="0" algn="r">
                        <a:lnSpc>
                          <a:spcPct val="119985"/>
                        </a:lnSpc>
                        <a:spcBef>
                          <a:spcPts val="0"/>
                        </a:spcBef>
                        <a:spcAft>
                          <a:spcPts val="0"/>
                        </a:spcAft>
                        <a:buNone/>
                      </a:pPr>
                      <a:r>
                        <a:rPr lang="en-US" spc="114" sz="1426" u="none" cap="none" strike="noStrike">
                          <a:solidFill>
                            <a:srgbClr val="0F1B2B"/>
                          </a:solidFill>
                          <a:latin typeface="Inter"/>
                          <a:ea typeface="Inter"/>
                          <a:cs typeface="Inter"/>
                          <a:sym typeface="Inter"/>
                        </a:rPr>
                        <a:t>KARAKTER</a:t>
                      </a:r>
                      <a:endParaRPr sz="1100" u="none" cap="none" strike="noStrike"/>
                    </a:p>
                  </a:txBody>
                  <a:tcPr marT="109525" marB="109525" marR="109525" marL="109525" anchor="ctr">
                    <a:lnL cap="flat" cmpd="sng" w="12700">
                      <a:solidFill>
                        <a:srgbClr val="F8FAFC"/>
                      </a:solidFill>
                      <a:prstDash val="solid"/>
                      <a:round/>
                      <a:headEnd len="sm" w="sm" type="none"/>
                      <a:tailEnd len="sm" w="sm" type="none"/>
                    </a:lnL>
                    <a:lnR cap="flat" cmpd="sng" w="12700">
                      <a:solidFill>
                        <a:srgbClr val="F8FAFC"/>
                      </a:solidFill>
                      <a:prstDash val="solid"/>
                      <a:round/>
                      <a:headEnd len="sm" w="sm" type="none"/>
                      <a:tailEnd len="sm" w="sm" type="none"/>
                    </a:lnR>
                    <a:lnT cap="flat" cmpd="sng" w="12700">
                      <a:solidFill>
                        <a:srgbClr val="F8FAFC"/>
                      </a:solidFill>
                      <a:prstDash val="solid"/>
                      <a:round/>
                      <a:headEnd len="sm" w="sm" type="none"/>
                      <a:tailEnd len="sm" w="sm" type="none"/>
                    </a:lnT>
                    <a:lnB cap="flat" cmpd="sng" w="12700">
                      <a:solidFill>
                        <a:srgbClr val="0F1B2B"/>
                      </a:solidFill>
                      <a:prstDash val="solid"/>
                      <a:round/>
                      <a:headEnd len="sm" w="sm" type="none"/>
                      <a:tailEnd len="sm" w="sm" type="none"/>
                    </a:lnB>
                  </a:tcPr>
                </a:tc>
              </a:tr>
              <a:tr h="493675">
                <a:tc>
                  <a:txBody>
                    <a:bodyPr/>
                    <a:lstStyle/>
                    <a:p>
                      <a:pPr indent="0" lvl="0" marL="0" marR="0" rtl="0" algn="l">
                        <a:lnSpc>
                          <a:spcPct val="119988"/>
                        </a:lnSpc>
                        <a:spcBef>
                          <a:spcPts val="0"/>
                        </a:spcBef>
                        <a:spcAft>
                          <a:spcPts val="0"/>
                        </a:spcAft>
                        <a:buNone/>
                      </a:pPr>
                      <a:r>
                        <a:rPr b="1" lang="en-US" sz="1801" u="none" cap="none" strike="noStrike">
                          <a:solidFill>
                            <a:srgbClr val="2B3542"/>
                          </a:solidFill>
                          <a:latin typeface="Inter"/>
                          <a:ea typeface="Inter"/>
                          <a:cs typeface="Inter"/>
                          <a:sym typeface="Inter"/>
                        </a:rPr>
                        <a:t>Home Care</a:t>
                      </a:r>
                      <a:endParaRPr sz="1100" u="none" cap="none" strike="noStrike"/>
                    </a:p>
                  </a:txBody>
                  <a:tcPr marT="109525" marB="109525" marR="109525" marL="109525" anchor="ctr">
                    <a:lnL cap="flat" cmpd="sng" w="12700">
                      <a:solidFill>
                        <a:srgbClr val="F8FAFC"/>
                      </a:solidFill>
                      <a:prstDash val="solid"/>
                      <a:round/>
                      <a:headEnd len="sm" w="sm" type="none"/>
                      <a:tailEnd len="sm" w="sm" type="none"/>
                    </a:lnL>
                    <a:lnR cap="flat" cmpd="sng" w="12700">
                      <a:solidFill>
                        <a:srgbClr val="F8FAFC"/>
                      </a:solidFill>
                      <a:prstDash val="solid"/>
                      <a:round/>
                      <a:headEnd len="sm" w="sm" type="none"/>
                      <a:tailEnd len="sm" w="sm" type="none"/>
                    </a:lnR>
                    <a:lnT cap="flat" cmpd="sng" w="12700">
                      <a:solidFill>
                        <a:srgbClr val="0F1B2B"/>
                      </a:solidFill>
                      <a:prstDash val="solid"/>
                      <a:round/>
                      <a:headEnd len="sm" w="sm" type="none"/>
                      <a:tailEnd len="sm" w="sm" type="none"/>
                    </a:lnT>
                    <a:lnB cap="flat" cmpd="sng" w="12700">
                      <a:solidFill>
                        <a:srgbClr val="0F1B2B"/>
                      </a:solidFill>
                      <a:prstDash val="solid"/>
                      <a:round/>
                      <a:headEnd len="sm" w="sm" type="none"/>
                      <a:tailEnd len="sm" w="sm" type="none"/>
                    </a:lnB>
                  </a:tcPr>
                </a:tc>
                <a:tc>
                  <a:txBody>
                    <a:bodyPr/>
                    <a:lstStyle/>
                    <a:p>
                      <a:pPr indent="0" lvl="0" marL="0" marR="0" rtl="0" algn="r">
                        <a:lnSpc>
                          <a:spcPct val="119988"/>
                        </a:lnSpc>
                        <a:spcBef>
                          <a:spcPts val="0"/>
                        </a:spcBef>
                        <a:spcAft>
                          <a:spcPts val="0"/>
                        </a:spcAft>
                        <a:buNone/>
                      </a:pPr>
                      <a:r>
                        <a:rPr lang="en-US" sz="1801" u="none" cap="none" strike="noStrike">
                          <a:solidFill>
                            <a:srgbClr val="2B3542"/>
                          </a:solidFill>
                          <a:latin typeface="Inter"/>
                          <a:ea typeface="Inter"/>
                          <a:cs typeface="Inter"/>
                          <a:sym typeface="Inter"/>
                        </a:rPr>
                        <a:t>+37,36%</a:t>
                      </a:r>
                      <a:endParaRPr sz="1100" u="none" cap="none" strike="noStrike"/>
                    </a:p>
                  </a:txBody>
                  <a:tcPr marT="109525" marB="109525" marR="109525" marL="109525" anchor="ctr">
                    <a:lnL cap="flat" cmpd="sng" w="12700">
                      <a:solidFill>
                        <a:srgbClr val="F8FAFC"/>
                      </a:solidFill>
                      <a:prstDash val="solid"/>
                      <a:round/>
                      <a:headEnd len="sm" w="sm" type="none"/>
                      <a:tailEnd len="sm" w="sm" type="none"/>
                    </a:lnL>
                    <a:lnR cap="flat" cmpd="sng" w="12700">
                      <a:solidFill>
                        <a:srgbClr val="F8FAFC"/>
                      </a:solidFill>
                      <a:prstDash val="solid"/>
                      <a:round/>
                      <a:headEnd len="sm" w="sm" type="none"/>
                      <a:tailEnd len="sm" w="sm" type="none"/>
                    </a:lnR>
                    <a:lnT cap="flat" cmpd="sng" w="12700">
                      <a:solidFill>
                        <a:srgbClr val="0F1B2B"/>
                      </a:solidFill>
                      <a:prstDash val="solid"/>
                      <a:round/>
                      <a:headEnd len="sm" w="sm" type="none"/>
                      <a:tailEnd len="sm" w="sm" type="none"/>
                    </a:lnT>
                    <a:lnB cap="flat" cmpd="sng" w="12700">
                      <a:solidFill>
                        <a:srgbClr val="0F1B2B"/>
                      </a:solidFill>
                      <a:prstDash val="solid"/>
                      <a:round/>
                      <a:headEnd len="sm" w="sm" type="none"/>
                      <a:tailEnd len="sm" w="sm" type="none"/>
                    </a:lnB>
                  </a:tcPr>
                </a:tc>
                <a:tc>
                  <a:txBody>
                    <a:bodyPr/>
                    <a:lstStyle/>
                    <a:p>
                      <a:pPr indent="0" lvl="0" marL="0" marR="0" rtl="0" algn="r">
                        <a:lnSpc>
                          <a:spcPct val="119988"/>
                        </a:lnSpc>
                        <a:spcBef>
                          <a:spcPts val="0"/>
                        </a:spcBef>
                        <a:spcAft>
                          <a:spcPts val="0"/>
                        </a:spcAft>
                        <a:buNone/>
                      </a:pPr>
                      <a:r>
                        <a:rPr lang="en-US" sz="1801" u="none" cap="none" strike="noStrike">
                          <a:solidFill>
                            <a:srgbClr val="2B3542"/>
                          </a:solidFill>
                          <a:latin typeface="Inter"/>
                          <a:ea typeface="Inter"/>
                          <a:cs typeface="Inter"/>
                          <a:sym typeface="Inter"/>
                        </a:rPr>
                        <a:t>Elastis Tinggi</a:t>
                      </a:r>
                      <a:endParaRPr sz="1100" u="none" cap="none" strike="noStrike"/>
                    </a:p>
                  </a:txBody>
                  <a:tcPr marT="109525" marB="109525" marR="109525" marL="109525" anchor="ctr">
                    <a:lnL cap="flat" cmpd="sng" w="12700">
                      <a:solidFill>
                        <a:srgbClr val="F8FAFC"/>
                      </a:solidFill>
                      <a:prstDash val="solid"/>
                      <a:round/>
                      <a:headEnd len="sm" w="sm" type="none"/>
                      <a:tailEnd len="sm" w="sm" type="none"/>
                    </a:lnL>
                    <a:lnR cap="flat" cmpd="sng" w="12700">
                      <a:solidFill>
                        <a:srgbClr val="F8FAFC"/>
                      </a:solidFill>
                      <a:prstDash val="solid"/>
                      <a:round/>
                      <a:headEnd len="sm" w="sm" type="none"/>
                      <a:tailEnd len="sm" w="sm" type="none"/>
                    </a:lnR>
                    <a:lnT cap="flat" cmpd="sng" w="12700">
                      <a:solidFill>
                        <a:srgbClr val="0F1B2B"/>
                      </a:solidFill>
                      <a:prstDash val="solid"/>
                      <a:round/>
                      <a:headEnd len="sm" w="sm" type="none"/>
                      <a:tailEnd len="sm" w="sm" type="none"/>
                    </a:lnT>
                    <a:lnB cap="flat" cmpd="sng" w="12700">
                      <a:solidFill>
                        <a:srgbClr val="0F1B2B"/>
                      </a:solidFill>
                      <a:prstDash val="solid"/>
                      <a:round/>
                      <a:headEnd len="sm" w="sm" type="none"/>
                      <a:tailEnd len="sm" w="sm" type="none"/>
                    </a:lnB>
                  </a:tcPr>
                </a:tc>
              </a:tr>
              <a:tr h="493675">
                <a:tc>
                  <a:txBody>
                    <a:bodyPr/>
                    <a:lstStyle/>
                    <a:p>
                      <a:pPr indent="0" lvl="0" marL="0" marR="0" rtl="0" algn="l">
                        <a:lnSpc>
                          <a:spcPct val="119988"/>
                        </a:lnSpc>
                        <a:spcBef>
                          <a:spcPts val="0"/>
                        </a:spcBef>
                        <a:spcAft>
                          <a:spcPts val="0"/>
                        </a:spcAft>
                        <a:buNone/>
                      </a:pPr>
                      <a:r>
                        <a:rPr b="1" lang="en-US" sz="1801" u="none" cap="none" strike="noStrike">
                          <a:solidFill>
                            <a:srgbClr val="2B3542"/>
                          </a:solidFill>
                          <a:latin typeface="Inter"/>
                          <a:ea typeface="Inter"/>
                          <a:cs typeface="Inter"/>
                          <a:sym typeface="Inter"/>
                        </a:rPr>
                        <a:t>Beverages</a:t>
                      </a:r>
                      <a:endParaRPr sz="1100" u="none" cap="none" strike="noStrike"/>
                    </a:p>
                  </a:txBody>
                  <a:tcPr marT="109525" marB="109525" marR="109525" marL="109525" anchor="ctr">
                    <a:lnL cap="flat" cmpd="sng" w="12700">
                      <a:solidFill>
                        <a:srgbClr val="F8FAFC"/>
                      </a:solidFill>
                      <a:prstDash val="solid"/>
                      <a:round/>
                      <a:headEnd len="sm" w="sm" type="none"/>
                      <a:tailEnd len="sm" w="sm" type="none"/>
                    </a:lnL>
                    <a:lnR cap="flat" cmpd="sng" w="12700">
                      <a:solidFill>
                        <a:srgbClr val="F8FAFC"/>
                      </a:solidFill>
                      <a:prstDash val="solid"/>
                      <a:round/>
                      <a:headEnd len="sm" w="sm" type="none"/>
                      <a:tailEnd len="sm" w="sm" type="none"/>
                    </a:lnR>
                    <a:lnT cap="flat" cmpd="sng" w="12700">
                      <a:solidFill>
                        <a:srgbClr val="0F1B2B"/>
                      </a:solidFill>
                      <a:prstDash val="solid"/>
                      <a:round/>
                      <a:headEnd len="sm" w="sm" type="none"/>
                      <a:tailEnd len="sm" w="sm" type="none"/>
                    </a:lnT>
                    <a:lnB cap="flat" cmpd="sng" w="12700">
                      <a:solidFill>
                        <a:srgbClr val="0F1B2B"/>
                      </a:solidFill>
                      <a:prstDash val="solid"/>
                      <a:round/>
                      <a:headEnd len="sm" w="sm" type="none"/>
                      <a:tailEnd len="sm" w="sm" type="none"/>
                    </a:lnB>
                  </a:tcPr>
                </a:tc>
                <a:tc>
                  <a:txBody>
                    <a:bodyPr/>
                    <a:lstStyle/>
                    <a:p>
                      <a:pPr indent="0" lvl="0" marL="0" marR="0" rtl="0" algn="r">
                        <a:lnSpc>
                          <a:spcPct val="119988"/>
                        </a:lnSpc>
                        <a:spcBef>
                          <a:spcPts val="0"/>
                        </a:spcBef>
                        <a:spcAft>
                          <a:spcPts val="0"/>
                        </a:spcAft>
                        <a:buNone/>
                      </a:pPr>
                      <a:r>
                        <a:rPr lang="en-US" sz="1801" u="none" cap="none" strike="noStrike">
                          <a:solidFill>
                            <a:srgbClr val="2B3542"/>
                          </a:solidFill>
                          <a:latin typeface="Inter"/>
                          <a:ea typeface="Inter"/>
                          <a:cs typeface="Inter"/>
                          <a:sym typeface="Inter"/>
                        </a:rPr>
                        <a:t>+19,61%</a:t>
                      </a:r>
                      <a:endParaRPr sz="1100" u="none" cap="none" strike="noStrike"/>
                    </a:p>
                  </a:txBody>
                  <a:tcPr marT="109525" marB="109525" marR="109525" marL="109525" anchor="ctr">
                    <a:lnL cap="flat" cmpd="sng" w="12700">
                      <a:solidFill>
                        <a:srgbClr val="F8FAFC"/>
                      </a:solidFill>
                      <a:prstDash val="solid"/>
                      <a:round/>
                      <a:headEnd len="sm" w="sm" type="none"/>
                      <a:tailEnd len="sm" w="sm" type="none"/>
                    </a:lnL>
                    <a:lnR cap="flat" cmpd="sng" w="12700">
                      <a:solidFill>
                        <a:srgbClr val="F8FAFC"/>
                      </a:solidFill>
                      <a:prstDash val="solid"/>
                      <a:round/>
                      <a:headEnd len="sm" w="sm" type="none"/>
                      <a:tailEnd len="sm" w="sm" type="none"/>
                    </a:lnR>
                    <a:lnT cap="flat" cmpd="sng" w="12700">
                      <a:solidFill>
                        <a:srgbClr val="0F1B2B"/>
                      </a:solidFill>
                      <a:prstDash val="solid"/>
                      <a:round/>
                      <a:headEnd len="sm" w="sm" type="none"/>
                      <a:tailEnd len="sm" w="sm" type="none"/>
                    </a:lnT>
                    <a:lnB cap="flat" cmpd="sng" w="12700">
                      <a:solidFill>
                        <a:srgbClr val="0F1B2B"/>
                      </a:solidFill>
                      <a:prstDash val="solid"/>
                      <a:round/>
                      <a:headEnd len="sm" w="sm" type="none"/>
                      <a:tailEnd len="sm" w="sm" type="none"/>
                    </a:lnB>
                  </a:tcPr>
                </a:tc>
                <a:tc>
                  <a:txBody>
                    <a:bodyPr/>
                    <a:lstStyle/>
                    <a:p>
                      <a:pPr indent="0" lvl="0" marL="0" marR="0" rtl="0" algn="r">
                        <a:lnSpc>
                          <a:spcPct val="119988"/>
                        </a:lnSpc>
                        <a:spcBef>
                          <a:spcPts val="0"/>
                        </a:spcBef>
                        <a:spcAft>
                          <a:spcPts val="0"/>
                        </a:spcAft>
                        <a:buNone/>
                      </a:pPr>
                      <a:r>
                        <a:rPr lang="en-US" sz="1801" u="none" cap="none" strike="noStrike">
                          <a:solidFill>
                            <a:srgbClr val="2B3542"/>
                          </a:solidFill>
                          <a:latin typeface="Inter"/>
                          <a:ea typeface="Inter"/>
                          <a:cs typeface="Inter"/>
                          <a:sym typeface="Inter"/>
                        </a:rPr>
                        <a:t>Elastis Sedang</a:t>
                      </a:r>
                      <a:endParaRPr sz="1100" u="none" cap="none" strike="noStrike"/>
                    </a:p>
                  </a:txBody>
                  <a:tcPr marT="109525" marB="109525" marR="109525" marL="109525" anchor="ctr">
                    <a:lnL cap="flat" cmpd="sng" w="12700">
                      <a:solidFill>
                        <a:srgbClr val="F8FAFC"/>
                      </a:solidFill>
                      <a:prstDash val="solid"/>
                      <a:round/>
                      <a:headEnd len="sm" w="sm" type="none"/>
                      <a:tailEnd len="sm" w="sm" type="none"/>
                    </a:lnL>
                    <a:lnR cap="flat" cmpd="sng" w="12700">
                      <a:solidFill>
                        <a:srgbClr val="F8FAFC"/>
                      </a:solidFill>
                      <a:prstDash val="solid"/>
                      <a:round/>
                      <a:headEnd len="sm" w="sm" type="none"/>
                      <a:tailEnd len="sm" w="sm" type="none"/>
                    </a:lnR>
                    <a:lnT cap="flat" cmpd="sng" w="12700">
                      <a:solidFill>
                        <a:srgbClr val="0F1B2B"/>
                      </a:solidFill>
                      <a:prstDash val="solid"/>
                      <a:round/>
                      <a:headEnd len="sm" w="sm" type="none"/>
                      <a:tailEnd len="sm" w="sm" type="none"/>
                    </a:lnT>
                    <a:lnB cap="flat" cmpd="sng" w="12700">
                      <a:solidFill>
                        <a:srgbClr val="0F1B2B"/>
                      </a:solidFill>
                      <a:prstDash val="solid"/>
                      <a:round/>
                      <a:headEnd len="sm" w="sm" type="none"/>
                      <a:tailEnd len="sm" w="sm" type="none"/>
                    </a:lnB>
                  </a:tcPr>
                </a:tc>
              </a:tr>
              <a:tr h="493675">
                <a:tc>
                  <a:txBody>
                    <a:bodyPr/>
                    <a:lstStyle/>
                    <a:p>
                      <a:pPr indent="0" lvl="0" marL="0" marR="0" rtl="0" algn="l">
                        <a:lnSpc>
                          <a:spcPct val="119988"/>
                        </a:lnSpc>
                        <a:spcBef>
                          <a:spcPts val="0"/>
                        </a:spcBef>
                        <a:spcAft>
                          <a:spcPts val="0"/>
                        </a:spcAft>
                        <a:buNone/>
                      </a:pPr>
                      <a:r>
                        <a:rPr b="1" lang="en-US" sz="1801" u="none" cap="none" strike="noStrike">
                          <a:solidFill>
                            <a:srgbClr val="2B3542"/>
                          </a:solidFill>
                          <a:latin typeface="Inter"/>
                          <a:ea typeface="Inter"/>
                          <a:cs typeface="Inter"/>
                          <a:sym typeface="Inter"/>
                        </a:rPr>
                        <a:t>Snacks</a:t>
                      </a:r>
                      <a:endParaRPr sz="1100" u="none" cap="none" strike="noStrike"/>
                    </a:p>
                  </a:txBody>
                  <a:tcPr marT="109525" marB="109525" marR="109525" marL="109525" anchor="ctr">
                    <a:lnL cap="flat" cmpd="sng" w="12700">
                      <a:solidFill>
                        <a:srgbClr val="F8FAFC"/>
                      </a:solidFill>
                      <a:prstDash val="solid"/>
                      <a:round/>
                      <a:headEnd len="sm" w="sm" type="none"/>
                      <a:tailEnd len="sm" w="sm" type="none"/>
                    </a:lnL>
                    <a:lnR cap="flat" cmpd="sng" w="12700">
                      <a:solidFill>
                        <a:srgbClr val="F8FAFC"/>
                      </a:solidFill>
                      <a:prstDash val="solid"/>
                      <a:round/>
                      <a:headEnd len="sm" w="sm" type="none"/>
                      <a:tailEnd len="sm" w="sm" type="none"/>
                    </a:lnR>
                    <a:lnT cap="flat" cmpd="sng" w="12700">
                      <a:solidFill>
                        <a:srgbClr val="0F1B2B"/>
                      </a:solidFill>
                      <a:prstDash val="solid"/>
                      <a:round/>
                      <a:headEnd len="sm" w="sm" type="none"/>
                      <a:tailEnd len="sm" w="sm" type="none"/>
                    </a:lnT>
                    <a:lnB cap="flat" cmpd="sng" w="12700">
                      <a:solidFill>
                        <a:srgbClr val="0F1B2B"/>
                      </a:solidFill>
                      <a:prstDash val="solid"/>
                      <a:round/>
                      <a:headEnd len="sm" w="sm" type="none"/>
                      <a:tailEnd len="sm" w="sm" type="none"/>
                    </a:lnB>
                  </a:tcPr>
                </a:tc>
                <a:tc>
                  <a:txBody>
                    <a:bodyPr/>
                    <a:lstStyle/>
                    <a:p>
                      <a:pPr indent="0" lvl="0" marL="0" marR="0" rtl="0" algn="r">
                        <a:lnSpc>
                          <a:spcPct val="119988"/>
                        </a:lnSpc>
                        <a:spcBef>
                          <a:spcPts val="0"/>
                        </a:spcBef>
                        <a:spcAft>
                          <a:spcPts val="0"/>
                        </a:spcAft>
                        <a:buNone/>
                      </a:pPr>
                      <a:r>
                        <a:rPr lang="en-US" sz="1801" u="none" cap="none" strike="noStrike">
                          <a:solidFill>
                            <a:srgbClr val="C83A3A"/>
                          </a:solidFill>
                          <a:latin typeface="Inter"/>
                          <a:ea typeface="Inter"/>
                          <a:cs typeface="Inter"/>
                          <a:sym typeface="Inter"/>
                        </a:rPr>
                        <a:t>-1,18%</a:t>
                      </a:r>
                      <a:endParaRPr sz="1100" u="none" cap="none" strike="noStrike"/>
                    </a:p>
                  </a:txBody>
                  <a:tcPr marT="109525" marB="109525" marR="109525" marL="109525" anchor="ctr">
                    <a:lnL cap="flat" cmpd="sng" w="12700">
                      <a:solidFill>
                        <a:srgbClr val="F8FAFC"/>
                      </a:solidFill>
                      <a:prstDash val="solid"/>
                      <a:round/>
                      <a:headEnd len="sm" w="sm" type="none"/>
                      <a:tailEnd len="sm" w="sm" type="none"/>
                    </a:lnL>
                    <a:lnR cap="flat" cmpd="sng" w="12700">
                      <a:solidFill>
                        <a:srgbClr val="F8FAFC"/>
                      </a:solidFill>
                      <a:prstDash val="solid"/>
                      <a:round/>
                      <a:headEnd len="sm" w="sm" type="none"/>
                      <a:tailEnd len="sm" w="sm" type="none"/>
                    </a:lnR>
                    <a:lnT cap="flat" cmpd="sng" w="12700">
                      <a:solidFill>
                        <a:srgbClr val="0F1B2B"/>
                      </a:solidFill>
                      <a:prstDash val="solid"/>
                      <a:round/>
                      <a:headEnd len="sm" w="sm" type="none"/>
                      <a:tailEnd len="sm" w="sm" type="none"/>
                    </a:lnT>
                    <a:lnB cap="flat" cmpd="sng" w="12700">
                      <a:solidFill>
                        <a:srgbClr val="0F1B2B"/>
                      </a:solidFill>
                      <a:prstDash val="solid"/>
                      <a:round/>
                      <a:headEnd len="sm" w="sm" type="none"/>
                      <a:tailEnd len="sm" w="sm" type="none"/>
                    </a:lnB>
                  </a:tcPr>
                </a:tc>
                <a:tc>
                  <a:txBody>
                    <a:bodyPr/>
                    <a:lstStyle/>
                    <a:p>
                      <a:pPr indent="0" lvl="0" marL="0" marR="0" rtl="0" algn="r">
                        <a:lnSpc>
                          <a:spcPct val="119988"/>
                        </a:lnSpc>
                        <a:spcBef>
                          <a:spcPts val="0"/>
                        </a:spcBef>
                        <a:spcAft>
                          <a:spcPts val="0"/>
                        </a:spcAft>
                        <a:buNone/>
                      </a:pPr>
                      <a:r>
                        <a:rPr lang="en-US" sz="1801" u="none" cap="none" strike="noStrike">
                          <a:solidFill>
                            <a:srgbClr val="2B3542"/>
                          </a:solidFill>
                          <a:latin typeface="Inter"/>
                          <a:ea typeface="Inter"/>
                          <a:cs typeface="Inter"/>
                          <a:sym typeface="Inter"/>
                        </a:rPr>
                        <a:t>Inelastis</a:t>
                      </a:r>
                      <a:endParaRPr sz="1100" u="none" cap="none" strike="noStrike"/>
                    </a:p>
                  </a:txBody>
                  <a:tcPr marT="109525" marB="109525" marR="109525" marL="109525" anchor="ctr">
                    <a:lnL cap="flat" cmpd="sng" w="12700">
                      <a:solidFill>
                        <a:srgbClr val="F8FAFC"/>
                      </a:solidFill>
                      <a:prstDash val="solid"/>
                      <a:round/>
                      <a:headEnd len="sm" w="sm" type="none"/>
                      <a:tailEnd len="sm" w="sm" type="none"/>
                    </a:lnL>
                    <a:lnR cap="flat" cmpd="sng" w="12700">
                      <a:solidFill>
                        <a:srgbClr val="F8FAFC"/>
                      </a:solidFill>
                      <a:prstDash val="solid"/>
                      <a:round/>
                      <a:headEnd len="sm" w="sm" type="none"/>
                      <a:tailEnd len="sm" w="sm" type="none"/>
                    </a:lnR>
                    <a:lnT cap="flat" cmpd="sng" w="12700">
                      <a:solidFill>
                        <a:srgbClr val="0F1B2B"/>
                      </a:solidFill>
                      <a:prstDash val="solid"/>
                      <a:round/>
                      <a:headEnd len="sm" w="sm" type="none"/>
                      <a:tailEnd len="sm" w="sm" type="none"/>
                    </a:lnT>
                    <a:lnB cap="flat" cmpd="sng" w="12700">
                      <a:solidFill>
                        <a:srgbClr val="0F1B2B"/>
                      </a:solidFill>
                      <a:prstDash val="solid"/>
                      <a:round/>
                      <a:headEnd len="sm" w="sm" type="none"/>
                      <a:tailEnd len="sm" w="sm" type="none"/>
                    </a:lnB>
                  </a:tcPr>
                </a:tc>
              </a:tr>
              <a:tr h="493675">
                <a:tc>
                  <a:txBody>
                    <a:bodyPr/>
                    <a:lstStyle/>
                    <a:p>
                      <a:pPr indent="0" lvl="0" marL="0" marR="0" rtl="0" algn="l">
                        <a:lnSpc>
                          <a:spcPct val="119988"/>
                        </a:lnSpc>
                        <a:spcBef>
                          <a:spcPts val="0"/>
                        </a:spcBef>
                        <a:spcAft>
                          <a:spcPts val="0"/>
                        </a:spcAft>
                        <a:buNone/>
                      </a:pPr>
                      <a:r>
                        <a:rPr b="1" lang="en-US" sz="1801" u="none" cap="none" strike="noStrike">
                          <a:solidFill>
                            <a:srgbClr val="2B3542"/>
                          </a:solidFill>
                          <a:latin typeface="Inter"/>
                          <a:ea typeface="Inter"/>
                          <a:cs typeface="Inter"/>
                          <a:sym typeface="Inter"/>
                        </a:rPr>
                        <a:t>Dairy</a:t>
                      </a:r>
                      <a:endParaRPr sz="1100" u="none" cap="none" strike="noStrike"/>
                    </a:p>
                  </a:txBody>
                  <a:tcPr marT="109525" marB="109525" marR="109525" marL="109525" anchor="ctr">
                    <a:lnL cap="flat" cmpd="sng" w="12700">
                      <a:solidFill>
                        <a:srgbClr val="F8FAFC"/>
                      </a:solidFill>
                      <a:prstDash val="solid"/>
                      <a:round/>
                      <a:headEnd len="sm" w="sm" type="none"/>
                      <a:tailEnd len="sm" w="sm" type="none"/>
                    </a:lnL>
                    <a:lnR cap="flat" cmpd="sng" w="12700">
                      <a:solidFill>
                        <a:srgbClr val="F8FAFC"/>
                      </a:solidFill>
                      <a:prstDash val="solid"/>
                      <a:round/>
                      <a:headEnd len="sm" w="sm" type="none"/>
                      <a:tailEnd len="sm" w="sm" type="none"/>
                    </a:lnR>
                    <a:lnT cap="flat" cmpd="sng" w="12700">
                      <a:solidFill>
                        <a:srgbClr val="0F1B2B"/>
                      </a:solidFill>
                      <a:prstDash val="solid"/>
                      <a:round/>
                      <a:headEnd len="sm" w="sm" type="none"/>
                      <a:tailEnd len="sm" w="sm" type="none"/>
                    </a:lnT>
                    <a:lnB cap="flat" cmpd="sng" w="12700">
                      <a:solidFill>
                        <a:srgbClr val="F8FAFC"/>
                      </a:solidFill>
                      <a:prstDash val="solid"/>
                      <a:round/>
                      <a:headEnd len="sm" w="sm" type="none"/>
                      <a:tailEnd len="sm" w="sm" type="none"/>
                    </a:lnB>
                  </a:tcPr>
                </a:tc>
                <a:tc>
                  <a:txBody>
                    <a:bodyPr/>
                    <a:lstStyle/>
                    <a:p>
                      <a:pPr indent="0" lvl="0" marL="0" marR="0" rtl="0" algn="r">
                        <a:lnSpc>
                          <a:spcPct val="119988"/>
                        </a:lnSpc>
                        <a:spcBef>
                          <a:spcPts val="0"/>
                        </a:spcBef>
                        <a:spcAft>
                          <a:spcPts val="0"/>
                        </a:spcAft>
                        <a:buNone/>
                      </a:pPr>
                      <a:r>
                        <a:rPr lang="en-US" sz="1801" u="none" cap="none" strike="noStrike">
                          <a:solidFill>
                            <a:srgbClr val="C83A3A"/>
                          </a:solidFill>
                          <a:latin typeface="Inter"/>
                          <a:ea typeface="Inter"/>
                          <a:cs typeface="Inter"/>
                          <a:sym typeface="Inter"/>
                        </a:rPr>
                        <a:t>-2,68%</a:t>
                      </a:r>
                      <a:endParaRPr sz="1100" u="none" cap="none" strike="noStrike"/>
                    </a:p>
                  </a:txBody>
                  <a:tcPr marT="109525" marB="109525" marR="109525" marL="109525" anchor="ctr">
                    <a:lnL cap="flat" cmpd="sng" w="12700">
                      <a:solidFill>
                        <a:srgbClr val="F8FAFC"/>
                      </a:solidFill>
                      <a:prstDash val="solid"/>
                      <a:round/>
                      <a:headEnd len="sm" w="sm" type="none"/>
                      <a:tailEnd len="sm" w="sm" type="none"/>
                    </a:lnL>
                    <a:lnR cap="flat" cmpd="sng" w="12700">
                      <a:solidFill>
                        <a:srgbClr val="F8FAFC"/>
                      </a:solidFill>
                      <a:prstDash val="solid"/>
                      <a:round/>
                      <a:headEnd len="sm" w="sm" type="none"/>
                      <a:tailEnd len="sm" w="sm" type="none"/>
                    </a:lnR>
                    <a:lnT cap="flat" cmpd="sng" w="12700">
                      <a:solidFill>
                        <a:srgbClr val="0F1B2B"/>
                      </a:solidFill>
                      <a:prstDash val="solid"/>
                      <a:round/>
                      <a:headEnd len="sm" w="sm" type="none"/>
                      <a:tailEnd len="sm" w="sm" type="none"/>
                    </a:lnT>
                    <a:lnB cap="flat" cmpd="sng" w="12700">
                      <a:solidFill>
                        <a:srgbClr val="F8FAFC"/>
                      </a:solidFill>
                      <a:prstDash val="solid"/>
                      <a:round/>
                      <a:headEnd len="sm" w="sm" type="none"/>
                      <a:tailEnd len="sm" w="sm" type="none"/>
                    </a:lnB>
                  </a:tcPr>
                </a:tc>
                <a:tc>
                  <a:txBody>
                    <a:bodyPr/>
                    <a:lstStyle/>
                    <a:p>
                      <a:pPr indent="0" lvl="0" marL="0" marR="0" rtl="0" algn="r">
                        <a:lnSpc>
                          <a:spcPct val="119988"/>
                        </a:lnSpc>
                        <a:spcBef>
                          <a:spcPts val="0"/>
                        </a:spcBef>
                        <a:spcAft>
                          <a:spcPts val="0"/>
                        </a:spcAft>
                        <a:buNone/>
                      </a:pPr>
                      <a:r>
                        <a:rPr lang="en-US" sz="1801" u="none" cap="none" strike="noStrike">
                          <a:solidFill>
                            <a:srgbClr val="2B3542"/>
                          </a:solidFill>
                          <a:latin typeface="Inter"/>
                          <a:ea typeface="Inter"/>
                          <a:cs typeface="Inter"/>
                          <a:sym typeface="Inter"/>
                        </a:rPr>
                        <a:t>Margin Killer</a:t>
                      </a:r>
                      <a:endParaRPr sz="1100" u="none" cap="none" strike="noStrike"/>
                    </a:p>
                  </a:txBody>
                  <a:tcPr marT="109525" marB="109525" marR="109525" marL="109525" anchor="ctr">
                    <a:lnL cap="flat" cmpd="sng" w="12700">
                      <a:solidFill>
                        <a:srgbClr val="F8FAFC"/>
                      </a:solidFill>
                      <a:prstDash val="solid"/>
                      <a:round/>
                      <a:headEnd len="sm" w="sm" type="none"/>
                      <a:tailEnd len="sm" w="sm" type="none"/>
                    </a:lnL>
                    <a:lnR cap="flat" cmpd="sng" w="12700">
                      <a:solidFill>
                        <a:srgbClr val="F8FAFC"/>
                      </a:solidFill>
                      <a:prstDash val="solid"/>
                      <a:round/>
                      <a:headEnd len="sm" w="sm" type="none"/>
                      <a:tailEnd len="sm" w="sm" type="none"/>
                    </a:lnR>
                    <a:lnT cap="flat" cmpd="sng" w="12700">
                      <a:solidFill>
                        <a:srgbClr val="0F1B2B"/>
                      </a:solidFill>
                      <a:prstDash val="solid"/>
                      <a:round/>
                      <a:headEnd len="sm" w="sm" type="none"/>
                      <a:tailEnd len="sm" w="sm" type="none"/>
                    </a:lnT>
                    <a:lnB cap="flat" cmpd="sng" w="12700">
                      <a:solidFill>
                        <a:srgbClr val="F8FAFC"/>
                      </a:solidFill>
                      <a:prstDash val="solid"/>
                      <a:round/>
                      <a:headEnd len="sm" w="sm" type="none"/>
                      <a:tailEnd len="sm" w="sm" type="none"/>
                    </a:lnB>
                  </a:tcPr>
                </a:tc>
              </a:tr>
            </a:tbl>
          </a:graphicData>
        </a:graphic>
      </p:graphicFrame>
      <p:sp>
        <p:nvSpPr>
          <p:cNvPr id="412" name="Google Shape;412;p21"/>
          <p:cNvSpPr/>
          <p:nvPr/>
        </p:nvSpPr>
        <p:spPr>
          <a:xfrm>
            <a:off x="0" y="9723091"/>
            <a:ext cx="18301811" cy="14287"/>
          </a:xfrm>
          <a:custGeom>
            <a:rect b="b" l="l" r="r" t="t"/>
            <a:pathLst>
              <a:path extrusionOk="0" h="19050" w="24402414">
                <a:moveTo>
                  <a:pt x="0" y="0"/>
                </a:moveTo>
                <a:lnTo>
                  <a:pt x="24402414" y="0"/>
                </a:lnTo>
                <a:lnTo>
                  <a:pt x="24402414" y="19050"/>
                </a:lnTo>
                <a:lnTo>
                  <a:pt x="0" y="19050"/>
                </a:lnTo>
                <a:close/>
              </a:path>
            </a:pathLst>
          </a:custGeom>
          <a:solidFill>
            <a:srgbClr val="2B3542">
              <a:alpha val="3922"/>
            </a:srgbClr>
          </a:solidFill>
          <a:ln>
            <a:noFill/>
          </a:ln>
        </p:spPr>
      </p:sp>
      <p:grpSp>
        <p:nvGrpSpPr>
          <p:cNvPr id="413" name="Google Shape;413;p21"/>
          <p:cNvGrpSpPr/>
          <p:nvPr/>
        </p:nvGrpSpPr>
        <p:grpSpPr>
          <a:xfrm>
            <a:off x="293380" y="9612742"/>
            <a:ext cx="7167785" cy="521294"/>
            <a:chOff x="0" y="-28575"/>
            <a:chExt cx="9557046" cy="695058"/>
          </a:xfrm>
        </p:grpSpPr>
        <p:sp>
          <p:nvSpPr>
            <p:cNvPr id="414" name="Google Shape;414;p21"/>
            <p:cNvSpPr/>
            <p:nvPr/>
          </p:nvSpPr>
          <p:spPr>
            <a:xfrm>
              <a:off x="0" y="0"/>
              <a:ext cx="9557046" cy="666483"/>
            </a:xfrm>
            <a:custGeom>
              <a:rect b="b" l="l" r="r" t="t"/>
              <a:pathLst>
                <a:path extrusionOk="0" h="666483" w="9557046">
                  <a:moveTo>
                    <a:pt x="0" y="0"/>
                  </a:moveTo>
                  <a:lnTo>
                    <a:pt x="9557046" y="0"/>
                  </a:lnTo>
                  <a:lnTo>
                    <a:pt x="9557046" y="666483"/>
                  </a:lnTo>
                  <a:lnTo>
                    <a:pt x="0" y="666483"/>
                  </a:lnTo>
                  <a:close/>
                </a:path>
              </a:pathLst>
            </a:custGeom>
            <a:blipFill rotWithShape="1">
              <a:blip r:embed="rId3">
                <a:alphaModFix amt="0"/>
              </a:blip>
              <a:stretch>
                <a:fillRect b="-181075" l="0" r="17296" t="-181075"/>
              </a:stretch>
            </a:blipFill>
            <a:ln>
              <a:noFill/>
            </a:ln>
          </p:spPr>
        </p:sp>
        <p:sp>
          <p:nvSpPr>
            <p:cNvPr id="415" name="Google Shape;415;p21"/>
            <p:cNvSpPr txBox="1"/>
            <p:nvPr/>
          </p:nvSpPr>
          <p:spPr>
            <a:xfrm>
              <a:off x="0" y="-28575"/>
              <a:ext cx="9557042" cy="695052"/>
            </a:xfrm>
            <a:prstGeom prst="rect">
              <a:avLst/>
            </a:prstGeom>
            <a:noFill/>
            <a:ln>
              <a:noFill/>
            </a:ln>
          </p:spPr>
          <p:txBody>
            <a:bodyPr anchorCtr="0" anchor="ctr" bIns="0" lIns="0" spcFirstLastPara="1" rIns="0" wrap="square" tIns="0">
              <a:noAutofit/>
            </a:bodyPr>
            <a:lstStyle/>
            <a:p>
              <a:pPr indent="0" lvl="0" marL="0" marR="0" rtl="0" algn="l">
                <a:lnSpc>
                  <a:spcPct val="138008"/>
                </a:lnSpc>
                <a:spcBef>
                  <a:spcPts val="0"/>
                </a:spcBef>
                <a:spcAft>
                  <a:spcPts val="0"/>
                </a:spcAft>
                <a:buNone/>
              </a:pPr>
              <a:r>
                <a:rPr b="0" i="0" lang="en-US" spc="142" sz="1426" u="none" cap="none" strike="noStrike">
                  <a:solidFill>
                    <a:srgbClr val="2B3542"/>
                  </a:solidFill>
                  <a:latin typeface="Inter"/>
                  <a:ea typeface="Inter"/>
                  <a:cs typeface="Inter"/>
                  <a:sym typeface="Inter"/>
                </a:rPr>
                <a:t>GLOBAL FMCG SUPPLY CHAIN ANALYTICS — EXECUTIVE REPORT</a:t>
              </a:r>
              <a:endParaRPr/>
            </a:p>
          </p:txBody>
        </p:sp>
      </p:grpSp>
      <p:sp>
        <p:nvSpPr>
          <p:cNvPr id="416" name="Google Shape;416;p21"/>
          <p:cNvSpPr/>
          <p:nvPr/>
        </p:nvSpPr>
        <p:spPr>
          <a:xfrm>
            <a:off x="10118498" y="5471502"/>
            <a:ext cx="8169502" cy="4412600"/>
          </a:xfrm>
          <a:custGeom>
            <a:rect b="b" l="l" r="r" t="t"/>
            <a:pathLst>
              <a:path extrusionOk="0" h="4412600" w="8169502">
                <a:moveTo>
                  <a:pt x="0" y="0"/>
                </a:moveTo>
                <a:lnTo>
                  <a:pt x="8169502" y="0"/>
                </a:lnTo>
                <a:lnTo>
                  <a:pt x="8169502" y="4412600"/>
                </a:lnTo>
                <a:lnTo>
                  <a:pt x="0" y="4412600"/>
                </a:lnTo>
                <a:lnTo>
                  <a:pt x="0" y="0"/>
                </a:lnTo>
                <a:close/>
              </a:path>
            </a:pathLst>
          </a:custGeom>
          <a:blipFill rotWithShape="1">
            <a:blip r:embed="rId4">
              <a:alphaModFix/>
            </a:blip>
            <a:stretch>
              <a:fillRect b="-201423" l="-119217" r="0" t="-100619"/>
            </a:stretch>
          </a:blipFill>
          <a:ln>
            <a:noFill/>
          </a:ln>
        </p:spPr>
      </p:sp>
      <p:sp>
        <p:nvSpPr>
          <p:cNvPr id="417" name="Google Shape;417;p21"/>
          <p:cNvSpPr txBox="1"/>
          <p:nvPr/>
        </p:nvSpPr>
        <p:spPr>
          <a:xfrm>
            <a:off x="762581" y="753075"/>
            <a:ext cx="17539268" cy="226838"/>
          </a:xfrm>
          <a:prstGeom prst="rect">
            <a:avLst/>
          </a:prstGeom>
          <a:noFill/>
          <a:ln>
            <a:noFill/>
          </a:ln>
        </p:spPr>
        <p:txBody>
          <a:bodyPr anchorCtr="0" anchor="t" bIns="0" lIns="0" spcFirstLastPara="1" rIns="0" wrap="square" tIns="0">
            <a:spAutoFit/>
          </a:bodyPr>
          <a:lstStyle/>
          <a:p>
            <a:pPr indent="0" lvl="0" marL="0" marR="0" rtl="0" algn="l">
              <a:lnSpc>
                <a:spcPct val="119985"/>
              </a:lnSpc>
              <a:spcBef>
                <a:spcPts val="0"/>
              </a:spcBef>
              <a:spcAft>
                <a:spcPts val="0"/>
              </a:spcAft>
              <a:buNone/>
            </a:pPr>
            <a:r>
              <a:rPr b="0" i="0" lang="en-US" spc="199" sz="1426" u="none" cap="none" strike="noStrike">
                <a:solidFill>
                  <a:srgbClr val="1B2638"/>
                </a:solidFill>
                <a:latin typeface="Inter"/>
                <a:ea typeface="Inter"/>
                <a:cs typeface="Inter"/>
                <a:sym typeface="Inter"/>
              </a:rPr>
              <a:t>06 ELASTISITAS HARGA &amp; PROMOSI</a:t>
            </a:r>
            <a:endParaRPr/>
          </a:p>
        </p:txBody>
      </p:sp>
      <p:sp>
        <p:nvSpPr>
          <p:cNvPr id="418" name="Google Shape;418;p21"/>
          <p:cNvSpPr txBox="1"/>
          <p:nvPr/>
        </p:nvSpPr>
        <p:spPr>
          <a:xfrm>
            <a:off x="762581" y="1075230"/>
            <a:ext cx="11122563" cy="1087786"/>
          </a:xfrm>
          <a:prstGeom prst="rect">
            <a:avLst/>
          </a:prstGeom>
          <a:noFill/>
          <a:ln>
            <a:noFill/>
          </a:ln>
        </p:spPr>
        <p:txBody>
          <a:bodyPr anchorCtr="0" anchor="t" bIns="0" lIns="0" spcFirstLastPara="1" rIns="0" wrap="square" tIns="0">
            <a:spAutoFit/>
          </a:bodyPr>
          <a:lstStyle/>
          <a:p>
            <a:pPr indent="0" lvl="0" marL="0" marR="0" rtl="0" algn="l">
              <a:lnSpc>
                <a:spcPct val="111620"/>
              </a:lnSpc>
              <a:spcBef>
                <a:spcPts val="0"/>
              </a:spcBef>
              <a:spcAft>
                <a:spcPts val="0"/>
              </a:spcAft>
              <a:buNone/>
            </a:pPr>
            <a:r>
              <a:rPr b="0" i="0" lang="en-US" spc="-18" sz="3752" u="none" cap="none" strike="noStrike">
                <a:solidFill>
                  <a:srgbClr val="0F1B2B"/>
                </a:solidFill>
                <a:latin typeface="Arimo"/>
                <a:ea typeface="Arimo"/>
                <a:cs typeface="Arimo"/>
                <a:sym typeface="Arimo"/>
              </a:rPr>
              <a:t>Diskon 1,4% menghasilkan uplift yang tidak merata dan kebocoran $3,81M</a:t>
            </a:r>
            <a:endParaRPr/>
          </a:p>
        </p:txBody>
      </p:sp>
      <p:sp>
        <p:nvSpPr>
          <p:cNvPr id="419" name="Google Shape;419;p21"/>
          <p:cNvSpPr txBox="1"/>
          <p:nvPr/>
        </p:nvSpPr>
        <p:spPr>
          <a:xfrm>
            <a:off x="762574" y="2705300"/>
            <a:ext cx="4174200" cy="219600"/>
          </a:xfrm>
          <a:prstGeom prst="rect">
            <a:avLst/>
          </a:prstGeom>
          <a:noFill/>
          <a:ln>
            <a:noFill/>
          </a:ln>
        </p:spPr>
        <p:txBody>
          <a:bodyPr anchorCtr="0" anchor="t" bIns="0" lIns="0" spcFirstLastPara="1" rIns="0" wrap="square" tIns="0">
            <a:spAutoFit/>
          </a:bodyPr>
          <a:lstStyle/>
          <a:p>
            <a:pPr indent="0" lvl="0" marL="0" marR="0" rtl="0" algn="l">
              <a:lnSpc>
                <a:spcPct val="119985"/>
              </a:lnSpc>
              <a:spcBef>
                <a:spcPts val="0"/>
              </a:spcBef>
              <a:spcAft>
                <a:spcPts val="0"/>
              </a:spcAft>
              <a:buNone/>
            </a:pPr>
            <a:r>
              <a:rPr b="0" i="0" lang="en-US" spc="142" sz="1426" u="none" cap="none" strike="noStrike">
                <a:solidFill>
                  <a:srgbClr val="1B2638"/>
                </a:solidFill>
                <a:latin typeface="Inter"/>
                <a:ea typeface="Inter"/>
                <a:cs typeface="Inter"/>
                <a:sym typeface="Inter"/>
              </a:rPr>
              <a:t>EVALUASI EFEKTIVITAS PROMOSI</a:t>
            </a:r>
            <a:endParaRPr/>
          </a:p>
        </p:txBody>
      </p:sp>
      <p:sp>
        <p:nvSpPr>
          <p:cNvPr id="420" name="Google Shape;420;p21"/>
          <p:cNvSpPr txBox="1"/>
          <p:nvPr/>
        </p:nvSpPr>
        <p:spPr>
          <a:xfrm>
            <a:off x="762575" y="3156825"/>
            <a:ext cx="8980800" cy="3019200"/>
          </a:xfrm>
          <a:prstGeom prst="rect">
            <a:avLst/>
          </a:prstGeom>
          <a:noFill/>
          <a:ln>
            <a:noFill/>
          </a:ln>
        </p:spPr>
        <p:txBody>
          <a:bodyPr anchorCtr="0" anchor="t" bIns="0" lIns="0" spcFirstLastPara="1" rIns="0" wrap="square" tIns="0">
            <a:spAutoFit/>
          </a:bodyPr>
          <a:lstStyle/>
          <a:p>
            <a:pPr indent="-191429" lvl="1" marL="382857" marR="0" rtl="0" algn="l">
              <a:lnSpc>
                <a:spcPct val="138050"/>
              </a:lnSpc>
              <a:spcBef>
                <a:spcPts val="0"/>
              </a:spcBef>
              <a:spcAft>
                <a:spcPts val="0"/>
              </a:spcAft>
              <a:buClr>
                <a:srgbClr val="2B3542"/>
              </a:buClr>
              <a:buSzPts val="2113"/>
              <a:buFont typeface="Arial"/>
              <a:buChar char="•"/>
            </a:pPr>
            <a:r>
              <a:rPr b="0" i="0" lang="en-US" sz="2113" u="none" cap="none" strike="noStrike">
                <a:solidFill>
                  <a:srgbClr val="2B3542"/>
                </a:solidFill>
                <a:latin typeface="Inter"/>
                <a:ea typeface="Inter"/>
                <a:cs typeface="Inter"/>
                <a:sym typeface="Inter"/>
              </a:rPr>
              <a:t>Gross-to-net conversion: $159,81M gross sales menjadi $156,0M net sales; total discounts $3,81M atau 2,4%</a:t>
            </a:r>
            <a:endParaRPr/>
          </a:p>
          <a:p>
            <a:pPr indent="-191429" lvl="1" marL="382857" marR="0" rtl="0" algn="l">
              <a:lnSpc>
                <a:spcPct val="138050"/>
              </a:lnSpc>
              <a:spcBef>
                <a:spcPts val="0"/>
              </a:spcBef>
              <a:spcAft>
                <a:spcPts val="0"/>
              </a:spcAft>
              <a:buClr>
                <a:srgbClr val="2B3542"/>
              </a:buClr>
              <a:buSzPts val="2113"/>
              <a:buFont typeface="Arial"/>
              <a:buChar char="•"/>
            </a:pPr>
            <a:r>
              <a:rPr b="0" i="0" lang="en-US" sz="2113" u="none" cap="none" strike="noStrike">
                <a:solidFill>
                  <a:srgbClr val="2B3542"/>
                </a:solidFill>
                <a:latin typeface="Inter"/>
                <a:ea typeface="Inter"/>
                <a:cs typeface="Inter"/>
                <a:sym typeface="Inter"/>
              </a:rPr>
              <a:t>Promo uplift bervariasi: Home Care +37,36%, Beverages +19,61%, sementara Snacks -1,18% dan Dairy -2,68%</a:t>
            </a:r>
            <a:endParaRPr/>
          </a:p>
          <a:p>
            <a:pPr indent="-191429" lvl="1" marL="382857" marR="0" rtl="0" algn="l">
              <a:lnSpc>
                <a:spcPct val="138050"/>
              </a:lnSpc>
              <a:spcBef>
                <a:spcPts val="0"/>
              </a:spcBef>
              <a:spcAft>
                <a:spcPts val="0"/>
              </a:spcAft>
              <a:buClr>
                <a:srgbClr val="2B3542"/>
              </a:buClr>
              <a:buSzPts val="2113"/>
              <a:buFont typeface="Arial"/>
              <a:buChar char="•"/>
            </a:pPr>
            <a:r>
              <a:rPr b="0" i="0" lang="en-US" sz="2113" u="none" cap="none" strike="noStrike">
                <a:solidFill>
                  <a:srgbClr val="2B3542"/>
                </a:solidFill>
                <a:latin typeface="Inter"/>
                <a:ea typeface="Inter"/>
                <a:cs typeface="Inter"/>
                <a:sym typeface="Inter"/>
              </a:rPr>
              <a:t>Price elasticity chart memisahkan produk inelastis dan margin killers</a:t>
            </a:r>
            <a:endParaRPr/>
          </a:p>
          <a:p>
            <a:pPr indent="-191429" lvl="1" marL="382857" marR="0" rtl="0" algn="l">
              <a:lnSpc>
                <a:spcPct val="138050"/>
              </a:lnSpc>
              <a:spcBef>
                <a:spcPts val="0"/>
              </a:spcBef>
              <a:spcAft>
                <a:spcPts val="0"/>
              </a:spcAft>
              <a:buClr>
                <a:srgbClr val="2B3542"/>
              </a:buClr>
              <a:buSzPts val="2113"/>
              <a:buFont typeface="Arial"/>
              <a:buChar char="•"/>
            </a:pPr>
            <a:r>
              <a:rPr b="0" i="0" lang="en-US" sz="2113" u="none" cap="none" strike="noStrike">
                <a:solidFill>
                  <a:srgbClr val="2B3542"/>
                </a:solidFill>
                <a:latin typeface="Inter"/>
                <a:ea typeface="Inter"/>
                <a:cs typeface="Inter"/>
                <a:sym typeface="Inter"/>
              </a:rPr>
              <a:t>Promo ROI perlu dievaluasi per kategori, bukan dengan diskon flat</a:t>
            </a:r>
            <a:endParaRPr/>
          </a:p>
        </p:txBody>
      </p:sp>
      <p:sp>
        <p:nvSpPr>
          <p:cNvPr id="421" name="Google Shape;421;p21"/>
          <p:cNvSpPr txBox="1"/>
          <p:nvPr/>
        </p:nvSpPr>
        <p:spPr>
          <a:xfrm>
            <a:off x="1029481" y="6882584"/>
            <a:ext cx="8980684" cy="226838"/>
          </a:xfrm>
          <a:prstGeom prst="rect">
            <a:avLst/>
          </a:prstGeom>
          <a:noFill/>
          <a:ln>
            <a:noFill/>
          </a:ln>
        </p:spPr>
        <p:txBody>
          <a:bodyPr anchorCtr="0" anchor="t" bIns="0" lIns="0" spcFirstLastPara="1" rIns="0" wrap="square" tIns="0">
            <a:spAutoFit/>
          </a:bodyPr>
          <a:lstStyle/>
          <a:p>
            <a:pPr indent="0" lvl="0" marL="0" marR="0" rtl="0" algn="l">
              <a:lnSpc>
                <a:spcPct val="119985"/>
              </a:lnSpc>
              <a:spcBef>
                <a:spcPts val="0"/>
              </a:spcBef>
              <a:spcAft>
                <a:spcPts val="0"/>
              </a:spcAft>
              <a:buNone/>
            </a:pPr>
            <a:r>
              <a:rPr b="0" i="0" lang="en-US" spc="142" sz="1426" u="none" cap="none" strike="noStrike">
                <a:solidFill>
                  <a:srgbClr val="2B3542"/>
                </a:solidFill>
                <a:latin typeface="Inter"/>
                <a:ea typeface="Inter"/>
                <a:cs typeface="Inter"/>
                <a:sym typeface="Inter"/>
              </a:rPr>
              <a:t>KEBIJAKAN BARU</a:t>
            </a:r>
            <a:endParaRPr/>
          </a:p>
        </p:txBody>
      </p:sp>
      <p:sp>
        <p:nvSpPr>
          <p:cNvPr id="422" name="Google Shape;422;p21"/>
          <p:cNvSpPr txBox="1"/>
          <p:nvPr/>
        </p:nvSpPr>
        <p:spPr>
          <a:xfrm>
            <a:off x="1029481" y="7190422"/>
            <a:ext cx="8713784" cy="1182443"/>
          </a:xfrm>
          <a:prstGeom prst="rect">
            <a:avLst/>
          </a:prstGeom>
          <a:noFill/>
          <a:ln>
            <a:noFill/>
          </a:ln>
        </p:spPr>
        <p:txBody>
          <a:bodyPr anchorCtr="0" anchor="t" bIns="0" lIns="0" spcFirstLastPara="1" rIns="0" wrap="square" tIns="0">
            <a:spAutoFit/>
          </a:bodyPr>
          <a:lstStyle/>
          <a:p>
            <a:pPr indent="0" lvl="0" marL="0" marR="0" rtl="0" algn="l">
              <a:lnSpc>
                <a:spcPct val="138005"/>
              </a:lnSpc>
              <a:spcBef>
                <a:spcPts val="0"/>
              </a:spcBef>
              <a:spcAft>
                <a:spcPts val="0"/>
              </a:spcAft>
              <a:buNone/>
            </a:pPr>
            <a:r>
              <a:rPr b="0" i="0" lang="en-US" sz="2176" u="none" cap="none" strike="noStrike">
                <a:solidFill>
                  <a:srgbClr val="2B3542"/>
                </a:solidFill>
                <a:latin typeface="Inter"/>
                <a:ea typeface="Inter"/>
                <a:cs typeface="Inter"/>
                <a:sym typeface="Inter"/>
              </a:rPr>
              <a:t>Hentikan pemberian diskon promo otomatis pada kategori inelastis seperti Snacks dan Dairy; alokasikan anggaran diskon hanya pada kategori yang terbukti responsif elastis.</a:t>
            </a:r>
            <a:endParaRPr/>
          </a:p>
        </p:txBody>
      </p:sp>
      <p:sp>
        <p:nvSpPr>
          <p:cNvPr id="423" name="Google Shape;423;p21"/>
          <p:cNvSpPr txBox="1"/>
          <p:nvPr/>
        </p:nvSpPr>
        <p:spPr>
          <a:xfrm>
            <a:off x="10467556" y="2705291"/>
            <a:ext cx="2835176" cy="219075"/>
          </a:xfrm>
          <a:prstGeom prst="rect">
            <a:avLst/>
          </a:prstGeom>
          <a:noFill/>
          <a:ln>
            <a:noFill/>
          </a:ln>
        </p:spPr>
        <p:txBody>
          <a:bodyPr anchorCtr="0" anchor="t" bIns="0" lIns="0" spcFirstLastPara="1" rIns="0" wrap="square" tIns="0">
            <a:spAutoFit/>
          </a:bodyPr>
          <a:lstStyle/>
          <a:p>
            <a:pPr indent="0" lvl="0" marL="0" marR="0" rtl="0" algn="l">
              <a:lnSpc>
                <a:spcPct val="119985"/>
              </a:lnSpc>
              <a:spcBef>
                <a:spcPts val="0"/>
              </a:spcBef>
              <a:spcAft>
                <a:spcPts val="0"/>
              </a:spcAft>
              <a:buNone/>
            </a:pPr>
            <a:r>
              <a:rPr b="0" i="0" lang="en-US" spc="142" sz="1426" u="none" cap="none" strike="noStrike">
                <a:solidFill>
                  <a:srgbClr val="1B2638"/>
                </a:solidFill>
                <a:latin typeface="Inter"/>
                <a:ea typeface="Inter"/>
                <a:cs typeface="Inter"/>
                <a:sym typeface="Inter"/>
              </a:rPr>
              <a:t>MATRIKS UPLIFT KATEGORI</a:t>
            </a:r>
            <a:endParaRPr/>
          </a:p>
        </p:txBody>
      </p:sp>
      <p:sp>
        <p:nvSpPr>
          <p:cNvPr id="424" name="Google Shape;424;p21"/>
          <p:cNvSpPr txBox="1"/>
          <p:nvPr/>
        </p:nvSpPr>
        <p:spPr>
          <a:xfrm>
            <a:off x="762581" y="8690724"/>
            <a:ext cx="8231285" cy="478744"/>
          </a:xfrm>
          <a:prstGeom prst="rect">
            <a:avLst/>
          </a:prstGeom>
          <a:noFill/>
          <a:ln>
            <a:noFill/>
          </a:ln>
        </p:spPr>
        <p:txBody>
          <a:bodyPr anchorCtr="0" anchor="t" bIns="0" lIns="0" spcFirstLastPara="1" rIns="0" wrap="square" tIns="0">
            <a:spAutoFit/>
          </a:bodyPr>
          <a:lstStyle/>
          <a:p>
            <a:pPr indent="0" lvl="0" marL="0" marR="0" rtl="0" algn="l">
              <a:lnSpc>
                <a:spcPct val="134361"/>
              </a:lnSpc>
              <a:spcBef>
                <a:spcPts val="0"/>
              </a:spcBef>
              <a:spcAft>
                <a:spcPts val="0"/>
              </a:spcAft>
              <a:buNone/>
            </a:pPr>
            <a:r>
              <a:rPr b="0" i="0" lang="en-US" spc="85" sz="1426" u="none" cap="none" strike="noStrike">
                <a:solidFill>
                  <a:srgbClr val="66625A"/>
                </a:solidFill>
                <a:latin typeface="Inter"/>
                <a:ea typeface="Inter"/>
                <a:cs typeface="Inter"/>
                <a:sym typeface="Inter"/>
              </a:rPr>
              <a:t>SUMBER: POWER BI PROMOTION &amp; PRICING ANALYTICS PAGE; KALKULASI GROSS-TO-NET FMCG 2021–2023</a:t>
            </a:r>
            <a:endParaRPr/>
          </a:p>
        </p:txBody>
      </p:sp>
      <p:grpSp>
        <p:nvGrpSpPr>
          <p:cNvPr id="425" name="Google Shape;425;p21"/>
          <p:cNvGrpSpPr/>
          <p:nvPr/>
        </p:nvGrpSpPr>
        <p:grpSpPr>
          <a:xfrm>
            <a:off x="15480401" y="64663"/>
            <a:ext cx="4516946" cy="1127273"/>
            <a:chOff x="0" y="-241102"/>
            <a:chExt cx="6022595" cy="1503032"/>
          </a:xfrm>
        </p:grpSpPr>
        <p:grpSp>
          <p:nvGrpSpPr>
            <p:cNvPr id="426" name="Google Shape;426;p21"/>
            <p:cNvGrpSpPr/>
            <p:nvPr/>
          </p:nvGrpSpPr>
          <p:grpSpPr>
            <a:xfrm>
              <a:off x="0" y="-241102"/>
              <a:ext cx="6022595" cy="1503032"/>
              <a:chOff x="0" y="-47625"/>
              <a:chExt cx="1189648" cy="296895"/>
            </a:xfrm>
          </p:grpSpPr>
          <p:sp>
            <p:nvSpPr>
              <p:cNvPr id="427" name="Google Shape;427;p21"/>
              <p:cNvSpPr/>
              <p:nvPr/>
            </p:nvSpPr>
            <p:spPr>
              <a:xfrm>
                <a:off x="0" y="0"/>
                <a:ext cx="1189648" cy="249270"/>
              </a:xfrm>
              <a:custGeom>
                <a:rect b="b" l="l" r="r" t="t"/>
                <a:pathLst>
                  <a:path extrusionOk="0" h="249270" w="1189648">
                    <a:moveTo>
                      <a:pt x="87413" y="0"/>
                    </a:moveTo>
                    <a:lnTo>
                      <a:pt x="1102236" y="0"/>
                    </a:lnTo>
                    <a:cubicBezTo>
                      <a:pt x="1125419" y="0"/>
                      <a:pt x="1147653" y="9210"/>
                      <a:pt x="1164046" y="25603"/>
                    </a:cubicBezTo>
                    <a:cubicBezTo>
                      <a:pt x="1180439" y="41996"/>
                      <a:pt x="1189648" y="64229"/>
                      <a:pt x="1189648" y="87413"/>
                    </a:cubicBezTo>
                    <a:lnTo>
                      <a:pt x="1189648" y="161858"/>
                    </a:lnTo>
                    <a:cubicBezTo>
                      <a:pt x="1189648" y="185041"/>
                      <a:pt x="1180439" y="207275"/>
                      <a:pt x="1164046" y="223668"/>
                    </a:cubicBezTo>
                    <a:cubicBezTo>
                      <a:pt x="1147653" y="240061"/>
                      <a:pt x="1125419" y="249270"/>
                      <a:pt x="1102236" y="249270"/>
                    </a:cubicBezTo>
                    <a:lnTo>
                      <a:pt x="87413" y="249270"/>
                    </a:lnTo>
                    <a:cubicBezTo>
                      <a:pt x="64229" y="249270"/>
                      <a:pt x="41996" y="240061"/>
                      <a:pt x="25603" y="223668"/>
                    </a:cubicBezTo>
                    <a:cubicBezTo>
                      <a:pt x="9210" y="207275"/>
                      <a:pt x="0" y="185041"/>
                      <a:pt x="0" y="161858"/>
                    </a:cubicBezTo>
                    <a:lnTo>
                      <a:pt x="0" y="87413"/>
                    </a:lnTo>
                    <a:cubicBezTo>
                      <a:pt x="0" y="64229"/>
                      <a:pt x="9210" y="41996"/>
                      <a:pt x="25603" y="25603"/>
                    </a:cubicBezTo>
                    <a:cubicBezTo>
                      <a:pt x="41996" y="9210"/>
                      <a:pt x="64229" y="0"/>
                      <a:pt x="87413" y="0"/>
                    </a:cubicBezTo>
                    <a:close/>
                  </a:path>
                </a:pathLst>
              </a:custGeom>
              <a:solidFill>
                <a:srgbClr val="FE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 name="Google Shape;428;p21"/>
              <p:cNvSpPr txBox="1"/>
              <p:nvPr/>
            </p:nvSpPr>
            <p:spPr>
              <a:xfrm>
                <a:off x="0" y="-47625"/>
                <a:ext cx="1189648" cy="296895"/>
              </a:xfrm>
              <a:prstGeom prst="rect">
                <a:avLst/>
              </a:prstGeom>
              <a:noFill/>
              <a:ln>
                <a:noFill/>
              </a:ln>
            </p:spPr>
            <p:txBody>
              <a:bodyPr anchorCtr="0" anchor="ctr" bIns="50800" lIns="50800" spcFirstLastPara="1" rIns="50800" wrap="square" tIns="50800">
                <a:noAutofit/>
              </a:bodyPr>
              <a:lstStyle/>
              <a:p>
                <a:pPr indent="0" lvl="0" marL="0" marR="0" rtl="0" algn="ctr">
                  <a:lnSpc>
                    <a:spcPct val="155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429" name="Google Shape;429;p21"/>
            <p:cNvSpPr/>
            <p:nvPr/>
          </p:nvSpPr>
          <p:spPr>
            <a:xfrm>
              <a:off x="483631" y="226255"/>
              <a:ext cx="2676306" cy="809419"/>
            </a:xfrm>
            <a:custGeom>
              <a:rect b="b" l="l" r="r" t="t"/>
              <a:pathLst>
                <a:path extrusionOk="0" h="809419" w="2676306">
                  <a:moveTo>
                    <a:pt x="0" y="0"/>
                  </a:moveTo>
                  <a:lnTo>
                    <a:pt x="2676305" y="0"/>
                  </a:lnTo>
                  <a:lnTo>
                    <a:pt x="2676305" y="809420"/>
                  </a:lnTo>
                  <a:lnTo>
                    <a:pt x="0" y="809420"/>
                  </a:lnTo>
                  <a:lnTo>
                    <a:pt x="0" y="0"/>
                  </a:lnTo>
                  <a:close/>
                </a:path>
              </a:pathLst>
            </a:custGeom>
            <a:blipFill rotWithShape="1">
              <a:blip r:embed="rId5">
                <a:alphaModFix/>
              </a:blip>
              <a:stretch>
                <a:fillRect b="0" l="0" r="0" t="0"/>
              </a:stretch>
            </a:blipFill>
            <a:ln>
              <a:noFill/>
            </a:ln>
          </p:spPr>
        </p:sp>
      </p:gr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433" name="Shape 433"/>
        <p:cNvGrpSpPr/>
        <p:nvPr/>
      </p:nvGrpSpPr>
      <p:grpSpPr>
        <a:xfrm>
          <a:off x="0" y="0"/>
          <a:ext cx="0" cy="0"/>
          <a:chOff x="0" y="0"/>
          <a:chExt cx="0" cy="0"/>
        </a:xfrm>
      </p:grpSpPr>
      <p:sp>
        <p:nvSpPr>
          <p:cNvPr id="434" name="Google Shape;434;p22"/>
          <p:cNvSpPr/>
          <p:nvPr/>
        </p:nvSpPr>
        <p:spPr>
          <a:xfrm>
            <a:off x="762581" y="1887874"/>
            <a:ext cx="16776573" cy="28575"/>
          </a:xfrm>
          <a:custGeom>
            <a:rect b="b" l="l" r="r" t="t"/>
            <a:pathLst>
              <a:path extrusionOk="0" h="38100" w="22368763">
                <a:moveTo>
                  <a:pt x="0" y="19050"/>
                </a:moveTo>
                <a:cubicBezTo>
                  <a:pt x="0" y="8509"/>
                  <a:pt x="8509" y="0"/>
                  <a:pt x="19050" y="0"/>
                </a:cubicBezTo>
                <a:lnTo>
                  <a:pt x="22349713" y="0"/>
                </a:lnTo>
                <a:cubicBezTo>
                  <a:pt x="22360254" y="0"/>
                  <a:pt x="22368763" y="8509"/>
                  <a:pt x="22368763" y="19050"/>
                </a:cubicBezTo>
                <a:cubicBezTo>
                  <a:pt x="22368763" y="29591"/>
                  <a:pt x="22360254" y="38100"/>
                  <a:pt x="22349713" y="38100"/>
                </a:cubicBezTo>
                <a:lnTo>
                  <a:pt x="19050" y="38100"/>
                </a:lnTo>
                <a:cubicBezTo>
                  <a:pt x="8509" y="38100"/>
                  <a:pt x="0" y="29591"/>
                  <a:pt x="0" y="19050"/>
                </a:cubicBezTo>
                <a:close/>
              </a:path>
            </a:pathLst>
          </a:custGeom>
          <a:solidFill>
            <a:srgbClr val="14253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 name="Google Shape;435;p22"/>
          <p:cNvSpPr/>
          <p:nvPr/>
        </p:nvSpPr>
        <p:spPr>
          <a:xfrm>
            <a:off x="0" y="9723091"/>
            <a:ext cx="18301811" cy="14287"/>
          </a:xfrm>
          <a:custGeom>
            <a:rect b="b" l="l" r="r" t="t"/>
            <a:pathLst>
              <a:path extrusionOk="0" h="19050" w="24402414">
                <a:moveTo>
                  <a:pt x="0" y="0"/>
                </a:moveTo>
                <a:lnTo>
                  <a:pt x="24402414" y="0"/>
                </a:lnTo>
                <a:lnTo>
                  <a:pt x="24402414" y="19050"/>
                </a:lnTo>
                <a:lnTo>
                  <a:pt x="0" y="19050"/>
                </a:lnTo>
                <a:close/>
              </a:path>
            </a:pathLst>
          </a:custGeom>
          <a:solidFill>
            <a:srgbClr val="2B3542">
              <a:alpha val="3922"/>
            </a:srgbClr>
          </a:solidFill>
          <a:ln>
            <a:noFill/>
          </a:ln>
        </p:spPr>
      </p:sp>
      <p:grpSp>
        <p:nvGrpSpPr>
          <p:cNvPr id="436" name="Google Shape;436;p22"/>
          <p:cNvGrpSpPr/>
          <p:nvPr/>
        </p:nvGrpSpPr>
        <p:grpSpPr>
          <a:xfrm>
            <a:off x="293380" y="9612742"/>
            <a:ext cx="7167785" cy="521294"/>
            <a:chOff x="0" y="-28575"/>
            <a:chExt cx="9557046" cy="695058"/>
          </a:xfrm>
        </p:grpSpPr>
        <p:sp>
          <p:nvSpPr>
            <p:cNvPr id="437" name="Google Shape;437;p22"/>
            <p:cNvSpPr/>
            <p:nvPr/>
          </p:nvSpPr>
          <p:spPr>
            <a:xfrm>
              <a:off x="0" y="0"/>
              <a:ext cx="9557046" cy="666483"/>
            </a:xfrm>
            <a:custGeom>
              <a:rect b="b" l="l" r="r" t="t"/>
              <a:pathLst>
                <a:path extrusionOk="0" h="666483" w="9557046">
                  <a:moveTo>
                    <a:pt x="0" y="0"/>
                  </a:moveTo>
                  <a:lnTo>
                    <a:pt x="9557046" y="0"/>
                  </a:lnTo>
                  <a:lnTo>
                    <a:pt x="9557046" y="666483"/>
                  </a:lnTo>
                  <a:lnTo>
                    <a:pt x="0" y="666483"/>
                  </a:lnTo>
                  <a:close/>
                </a:path>
              </a:pathLst>
            </a:custGeom>
            <a:blipFill rotWithShape="1">
              <a:blip r:embed="rId3">
                <a:alphaModFix amt="0"/>
              </a:blip>
              <a:stretch>
                <a:fillRect b="-181075" l="0" r="17296" t="-181075"/>
              </a:stretch>
            </a:blipFill>
            <a:ln>
              <a:noFill/>
            </a:ln>
          </p:spPr>
        </p:sp>
        <p:sp>
          <p:nvSpPr>
            <p:cNvPr id="438" name="Google Shape;438;p22"/>
            <p:cNvSpPr txBox="1"/>
            <p:nvPr/>
          </p:nvSpPr>
          <p:spPr>
            <a:xfrm>
              <a:off x="0" y="-28575"/>
              <a:ext cx="9557042" cy="695052"/>
            </a:xfrm>
            <a:prstGeom prst="rect">
              <a:avLst/>
            </a:prstGeom>
            <a:noFill/>
            <a:ln>
              <a:noFill/>
            </a:ln>
          </p:spPr>
          <p:txBody>
            <a:bodyPr anchorCtr="0" anchor="ctr" bIns="0" lIns="0" spcFirstLastPara="1" rIns="0" wrap="square" tIns="0">
              <a:noAutofit/>
            </a:bodyPr>
            <a:lstStyle/>
            <a:p>
              <a:pPr indent="0" lvl="0" marL="0" marR="0" rtl="0" algn="l">
                <a:lnSpc>
                  <a:spcPct val="138008"/>
                </a:lnSpc>
                <a:spcBef>
                  <a:spcPts val="0"/>
                </a:spcBef>
                <a:spcAft>
                  <a:spcPts val="0"/>
                </a:spcAft>
                <a:buNone/>
              </a:pPr>
              <a:r>
                <a:rPr b="0" i="0" lang="en-US" spc="142" sz="1426" u="none" cap="none" strike="noStrike">
                  <a:solidFill>
                    <a:srgbClr val="2B3542"/>
                  </a:solidFill>
                  <a:latin typeface="Inter"/>
                  <a:ea typeface="Inter"/>
                  <a:cs typeface="Inter"/>
                  <a:sym typeface="Inter"/>
                </a:rPr>
                <a:t>GLOBAL FMCG SUPPLY CHAIN ANALYTICS — EXECUTIVE REPORT</a:t>
              </a:r>
              <a:endParaRPr/>
            </a:p>
          </p:txBody>
        </p:sp>
      </p:grpSp>
      <p:sp>
        <p:nvSpPr>
          <p:cNvPr id="439" name="Google Shape;439;p22"/>
          <p:cNvSpPr/>
          <p:nvPr/>
        </p:nvSpPr>
        <p:spPr>
          <a:xfrm>
            <a:off x="9665573" y="2052819"/>
            <a:ext cx="7614317" cy="7581355"/>
          </a:xfrm>
          <a:custGeom>
            <a:rect b="b" l="l" r="r" t="t"/>
            <a:pathLst>
              <a:path extrusionOk="0" h="7581355" w="7614317">
                <a:moveTo>
                  <a:pt x="0" y="0"/>
                </a:moveTo>
                <a:lnTo>
                  <a:pt x="7614317" y="0"/>
                </a:lnTo>
                <a:lnTo>
                  <a:pt x="7614317" y="7581354"/>
                </a:lnTo>
                <a:lnTo>
                  <a:pt x="0" y="7581354"/>
                </a:lnTo>
                <a:lnTo>
                  <a:pt x="0" y="0"/>
                </a:lnTo>
                <a:close/>
              </a:path>
            </a:pathLst>
          </a:custGeom>
          <a:blipFill rotWithShape="1">
            <a:blip r:embed="rId4">
              <a:alphaModFix/>
            </a:blip>
            <a:stretch>
              <a:fillRect b="0" l="-286" r="-286" t="0"/>
            </a:stretch>
          </a:blipFill>
          <a:ln>
            <a:noFill/>
          </a:ln>
        </p:spPr>
      </p:sp>
      <p:sp>
        <p:nvSpPr>
          <p:cNvPr id="440" name="Google Shape;440;p22"/>
          <p:cNvSpPr txBox="1"/>
          <p:nvPr/>
        </p:nvSpPr>
        <p:spPr>
          <a:xfrm>
            <a:off x="762581" y="825374"/>
            <a:ext cx="12088002" cy="929150"/>
          </a:xfrm>
          <a:prstGeom prst="rect">
            <a:avLst/>
          </a:prstGeom>
          <a:noFill/>
          <a:ln>
            <a:noFill/>
          </a:ln>
        </p:spPr>
        <p:txBody>
          <a:bodyPr anchorCtr="0" anchor="t" bIns="0" lIns="0" spcFirstLastPara="1" rIns="0" wrap="square" tIns="0">
            <a:spAutoFit/>
          </a:bodyPr>
          <a:lstStyle/>
          <a:p>
            <a:pPr indent="0" lvl="0" marL="0" marR="0" rtl="0" algn="l">
              <a:lnSpc>
                <a:spcPct val="111584"/>
              </a:lnSpc>
              <a:spcBef>
                <a:spcPts val="0"/>
              </a:spcBef>
              <a:spcAft>
                <a:spcPts val="0"/>
              </a:spcAft>
              <a:buNone/>
            </a:pPr>
            <a:r>
              <a:rPr b="1" i="0" lang="en-US" spc="-15" sz="3168" u="none" cap="none" strike="noStrike">
                <a:solidFill>
                  <a:srgbClr val="0F1B2B"/>
                </a:solidFill>
                <a:latin typeface="Arimo"/>
                <a:ea typeface="Arimo"/>
                <a:cs typeface="Arimo"/>
                <a:sym typeface="Arimo"/>
              </a:rPr>
              <a:t>Peramalan Permintaan &amp; Eksekusi S&amp;OP (Predictive Demand Planning &amp; S&amp;OP Execution)</a:t>
            </a:r>
            <a:endParaRPr/>
          </a:p>
        </p:txBody>
      </p:sp>
      <p:sp>
        <p:nvSpPr>
          <p:cNvPr id="441" name="Google Shape;441;p22"/>
          <p:cNvSpPr txBox="1"/>
          <p:nvPr/>
        </p:nvSpPr>
        <p:spPr>
          <a:xfrm>
            <a:off x="762581" y="2202218"/>
            <a:ext cx="8148673" cy="1069966"/>
          </a:xfrm>
          <a:prstGeom prst="rect">
            <a:avLst/>
          </a:prstGeom>
          <a:noFill/>
          <a:ln>
            <a:noFill/>
          </a:ln>
        </p:spPr>
        <p:txBody>
          <a:bodyPr anchorCtr="0" anchor="t" bIns="0" lIns="0" spcFirstLastPara="1" rIns="0" wrap="square" tIns="0">
            <a:spAutoFit/>
          </a:bodyPr>
          <a:lstStyle/>
          <a:p>
            <a:pPr indent="0" lvl="0" marL="0" marR="0" rtl="0" algn="l">
              <a:lnSpc>
                <a:spcPct val="138034"/>
              </a:lnSpc>
              <a:spcBef>
                <a:spcPts val="0"/>
              </a:spcBef>
              <a:spcAft>
                <a:spcPts val="0"/>
              </a:spcAft>
              <a:buNone/>
            </a:pPr>
            <a:r>
              <a:rPr b="0" i="0" lang="en-US" sz="2035" u="none" cap="none" strike="noStrike">
                <a:solidFill>
                  <a:srgbClr val="2B3542"/>
                </a:solidFill>
                <a:latin typeface="Inter"/>
                <a:ea typeface="Inter"/>
                <a:cs typeface="Inter"/>
                <a:sym typeface="Inter"/>
              </a:rPr>
              <a:t>Mengevaluasi proyeksi baseline demand, distribusi status stok gudang (understock vs overstock), serta keandalan supplier untuk mengotomatisasi rencana pembelian (procurement action plan).</a:t>
            </a:r>
            <a:endParaRPr/>
          </a:p>
        </p:txBody>
      </p:sp>
      <p:sp>
        <p:nvSpPr>
          <p:cNvPr id="442" name="Google Shape;442;p22"/>
          <p:cNvSpPr txBox="1"/>
          <p:nvPr/>
        </p:nvSpPr>
        <p:spPr>
          <a:xfrm>
            <a:off x="762581" y="3919884"/>
            <a:ext cx="8148673" cy="4632878"/>
          </a:xfrm>
          <a:prstGeom prst="rect">
            <a:avLst/>
          </a:prstGeom>
          <a:noFill/>
          <a:ln>
            <a:noFill/>
          </a:ln>
        </p:spPr>
        <p:txBody>
          <a:bodyPr anchorCtr="0" anchor="t" bIns="0" lIns="0" spcFirstLastPara="1" rIns="0" wrap="square" tIns="0">
            <a:spAutoFit/>
          </a:bodyPr>
          <a:lstStyle/>
          <a:p>
            <a:pPr indent="-219736" lvl="1" marL="439473" marR="0" rtl="0" algn="l">
              <a:lnSpc>
                <a:spcPct val="138034"/>
              </a:lnSpc>
              <a:spcBef>
                <a:spcPts val="0"/>
              </a:spcBef>
              <a:spcAft>
                <a:spcPts val="0"/>
              </a:spcAft>
              <a:buClr>
                <a:srgbClr val="2B3542"/>
              </a:buClr>
              <a:buSzPts val="2035"/>
              <a:buFont typeface="Arial"/>
              <a:buChar char="•"/>
            </a:pPr>
            <a:r>
              <a:rPr b="0" i="0" lang="en-US" sz="2035" u="none" cap="none" strike="noStrike">
                <a:solidFill>
                  <a:srgbClr val="2B3542"/>
                </a:solidFill>
                <a:latin typeface="Inter"/>
                <a:ea typeface="Inter"/>
                <a:cs typeface="Inter"/>
                <a:sym typeface="Inter"/>
              </a:rPr>
              <a:t>Mitigasi Risiko Stockout &amp; Overstock: Lebih dari 50–60% SKU berada dalam status Understock, yang menjadi akar penyebab hilangnya potensi penjualan (lost sales senilai $4.9M), sementara $76.0M tertahan pada beban biaya simpan (holding cost).</a:t>
            </a:r>
            <a:endParaRPr/>
          </a:p>
          <a:p>
            <a:pPr indent="-219736" lvl="1" marL="439473" marR="0" rtl="0" algn="l">
              <a:lnSpc>
                <a:spcPct val="138034"/>
              </a:lnSpc>
              <a:spcBef>
                <a:spcPts val="0"/>
              </a:spcBef>
              <a:spcAft>
                <a:spcPts val="0"/>
              </a:spcAft>
              <a:buClr>
                <a:srgbClr val="2B3542"/>
              </a:buClr>
              <a:buSzPts val="2035"/>
              <a:buFont typeface="Arial"/>
              <a:buChar char="•"/>
            </a:pPr>
            <a:r>
              <a:rPr b="0" i="0" lang="en-US" sz="2035" u="none" cap="none" strike="noStrike">
                <a:solidFill>
                  <a:srgbClr val="2B3542"/>
                </a:solidFill>
                <a:latin typeface="Inter"/>
                <a:ea typeface="Inter"/>
                <a:cs typeface="Inter"/>
                <a:sym typeface="Inter"/>
              </a:rPr>
              <a:t>Analisis Performa Supplier: Memetakan keandalan vendor melalui analisis Lead Time (~6,5 hari) vs Service Level (OTIF %) di angka ~97% guna mengidentifikasi titik risiko rantai pasok.</a:t>
            </a:r>
            <a:endParaRPr/>
          </a:p>
          <a:p>
            <a:pPr indent="-219736" lvl="1" marL="439473" marR="0" rtl="0" algn="l">
              <a:lnSpc>
                <a:spcPct val="138034"/>
              </a:lnSpc>
              <a:spcBef>
                <a:spcPts val="0"/>
              </a:spcBef>
              <a:spcAft>
                <a:spcPts val="0"/>
              </a:spcAft>
              <a:buClr>
                <a:srgbClr val="2B3542"/>
              </a:buClr>
              <a:buSzPts val="2035"/>
              <a:buFont typeface="Arial"/>
              <a:buChar char="•"/>
            </a:pPr>
            <a:r>
              <a:rPr b="0" i="0" lang="en-US" sz="2035" u="none" cap="none" strike="noStrike">
                <a:solidFill>
                  <a:srgbClr val="2B3542"/>
                </a:solidFill>
                <a:latin typeface="Inter"/>
                <a:ea typeface="Inter"/>
                <a:cs typeface="Inter"/>
                <a:sym typeface="Inter"/>
              </a:rPr>
              <a:t>Automasi Rencana Pembelian (Action Plan): Memanfaatkan tabel rekomendasi kuota Suggested PO Units secara taktis untuk menyelaraskan keputusan operasional logistik dan pengadaan barang secara akurat.</a:t>
            </a:r>
            <a:endParaRPr/>
          </a:p>
          <a:p>
            <a:pPr indent="0" lvl="0" marL="0" marR="0" rtl="0" algn="l">
              <a:lnSpc>
                <a:spcPct val="138034"/>
              </a:lnSpc>
              <a:spcBef>
                <a:spcPts val="0"/>
              </a:spcBef>
              <a:spcAft>
                <a:spcPts val="0"/>
              </a:spcAft>
              <a:buNone/>
            </a:pPr>
            <a:r>
              <a:t/>
            </a:r>
            <a:endParaRPr b="0" i="0" sz="2035" u="none" cap="none" strike="noStrike">
              <a:solidFill>
                <a:srgbClr val="2B3542"/>
              </a:solidFill>
              <a:latin typeface="Inter"/>
              <a:ea typeface="Inter"/>
              <a:cs typeface="Inter"/>
              <a:sym typeface="Inter"/>
            </a:endParaRPr>
          </a:p>
        </p:txBody>
      </p:sp>
      <p:grpSp>
        <p:nvGrpSpPr>
          <p:cNvPr id="443" name="Google Shape;443;p22"/>
          <p:cNvGrpSpPr/>
          <p:nvPr/>
        </p:nvGrpSpPr>
        <p:grpSpPr>
          <a:xfrm>
            <a:off x="15480401" y="-98573"/>
            <a:ext cx="4516946" cy="1127273"/>
            <a:chOff x="0" y="-241102"/>
            <a:chExt cx="6022595" cy="1503032"/>
          </a:xfrm>
        </p:grpSpPr>
        <p:grpSp>
          <p:nvGrpSpPr>
            <p:cNvPr id="444" name="Google Shape;444;p22"/>
            <p:cNvGrpSpPr/>
            <p:nvPr/>
          </p:nvGrpSpPr>
          <p:grpSpPr>
            <a:xfrm>
              <a:off x="0" y="-241102"/>
              <a:ext cx="6022595" cy="1503032"/>
              <a:chOff x="0" y="-47625"/>
              <a:chExt cx="1189648" cy="296895"/>
            </a:xfrm>
          </p:grpSpPr>
          <p:sp>
            <p:nvSpPr>
              <p:cNvPr id="445" name="Google Shape;445;p22"/>
              <p:cNvSpPr/>
              <p:nvPr/>
            </p:nvSpPr>
            <p:spPr>
              <a:xfrm>
                <a:off x="0" y="0"/>
                <a:ext cx="1189648" cy="249270"/>
              </a:xfrm>
              <a:custGeom>
                <a:rect b="b" l="l" r="r" t="t"/>
                <a:pathLst>
                  <a:path extrusionOk="0" h="249270" w="1189648">
                    <a:moveTo>
                      <a:pt x="87413" y="0"/>
                    </a:moveTo>
                    <a:lnTo>
                      <a:pt x="1102236" y="0"/>
                    </a:lnTo>
                    <a:cubicBezTo>
                      <a:pt x="1125419" y="0"/>
                      <a:pt x="1147653" y="9210"/>
                      <a:pt x="1164046" y="25603"/>
                    </a:cubicBezTo>
                    <a:cubicBezTo>
                      <a:pt x="1180439" y="41996"/>
                      <a:pt x="1189648" y="64229"/>
                      <a:pt x="1189648" y="87413"/>
                    </a:cubicBezTo>
                    <a:lnTo>
                      <a:pt x="1189648" y="161858"/>
                    </a:lnTo>
                    <a:cubicBezTo>
                      <a:pt x="1189648" y="185041"/>
                      <a:pt x="1180439" y="207275"/>
                      <a:pt x="1164046" y="223668"/>
                    </a:cubicBezTo>
                    <a:cubicBezTo>
                      <a:pt x="1147653" y="240061"/>
                      <a:pt x="1125419" y="249270"/>
                      <a:pt x="1102236" y="249270"/>
                    </a:cubicBezTo>
                    <a:lnTo>
                      <a:pt x="87413" y="249270"/>
                    </a:lnTo>
                    <a:cubicBezTo>
                      <a:pt x="64229" y="249270"/>
                      <a:pt x="41996" y="240061"/>
                      <a:pt x="25603" y="223668"/>
                    </a:cubicBezTo>
                    <a:cubicBezTo>
                      <a:pt x="9210" y="207275"/>
                      <a:pt x="0" y="185041"/>
                      <a:pt x="0" y="161858"/>
                    </a:cubicBezTo>
                    <a:lnTo>
                      <a:pt x="0" y="87413"/>
                    </a:lnTo>
                    <a:cubicBezTo>
                      <a:pt x="0" y="64229"/>
                      <a:pt x="9210" y="41996"/>
                      <a:pt x="25603" y="25603"/>
                    </a:cubicBezTo>
                    <a:cubicBezTo>
                      <a:pt x="41996" y="9210"/>
                      <a:pt x="64229" y="0"/>
                      <a:pt x="87413" y="0"/>
                    </a:cubicBezTo>
                    <a:close/>
                  </a:path>
                </a:pathLst>
              </a:custGeom>
              <a:solidFill>
                <a:srgbClr val="FE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 name="Google Shape;446;p22"/>
              <p:cNvSpPr txBox="1"/>
              <p:nvPr/>
            </p:nvSpPr>
            <p:spPr>
              <a:xfrm>
                <a:off x="0" y="-47625"/>
                <a:ext cx="1189648" cy="296895"/>
              </a:xfrm>
              <a:prstGeom prst="rect">
                <a:avLst/>
              </a:prstGeom>
              <a:noFill/>
              <a:ln>
                <a:noFill/>
              </a:ln>
            </p:spPr>
            <p:txBody>
              <a:bodyPr anchorCtr="0" anchor="ctr" bIns="50800" lIns="50800" spcFirstLastPara="1" rIns="50800" wrap="square" tIns="50800">
                <a:noAutofit/>
              </a:bodyPr>
              <a:lstStyle/>
              <a:p>
                <a:pPr indent="0" lvl="0" marL="0" marR="0" rtl="0" algn="ctr">
                  <a:lnSpc>
                    <a:spcPct val="155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447" name="Google Shape;447;p22"/>
            <p:cNvSpPr/>
            <p:nvPr/>
          </p:nvSpPr>
          <p:spPr>
            <a:xfrm>
              <a:off x="483631" y="226255"/>
              <a:ext cx="2676306" cy="809419"/>
            </a:xfrm>
            <a:custGeom>
              <a:rect b="b" l="l" r="r" t="t"/>
              <a:pathLst>
                <a:path extrusionOk="0" h="809419" w="2676306">
                  <a:moveTo>
                    <a:pt x="0" y="0"/>
                  </a:moveTo>
                  <a:lnTo>
                    <a:pt x="2676305" y="0"/>
                  </a:lnTo>
                  <a:lnTo>
                    <a:pt x="2676305" y="809420"/>
                  </a:lnTo>
                  <a:lnTo>
                    <a:pt x="0" y="809420"/>
                  </a:lnTo>
                  <a:lnTo>
                    <a:pt x="0" y="0"/>
                  </a:lnTo>
                  <a:close/>
                </a:path>
              </a:pathLst>
            </a:custGeom>
            <a:blipFill rotWithShape="1">
              <a:blip r:embed="rId5">
                <a:alphaModFix/>
              </a:blip>
              <a:stretch>
                <a:fillRect b="0" l="0" r="0" t="0"/>
              </a:stretch>
            </a:blipFill>
            <a:ln>
              <a:noFill/>
            </a:ln>
          </p:spPr>
        </p:sp>
      </p:gr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455" name="Shape 455"/>
        <p:cNvGrpSpPr/>
        <p:nvPr/>
      </p:nvGrpSpPr>
      <p:grpSpPr>
        <a:xfrm>
          <a:off x="0" y="0"/>
          <a:ext cx="0" cy="0"/>
          <a:chOff x="0" y="0"/>
          <a:chExt cx="0" cy="0"/>
        </a:xfrm>
      </p:grpSpPr>
      <p:sp>
        <p:nvSpPr>
          <p:cNvPr id="456" name="Google Shape;456;p23"/>
          <p:cNvSpPr txBox="1"/>
          <p:nvPr/>
        </p:nvSpPr>
        <p:spPr>
          <a:xfrm>
            <a:off x="762581" y="753075"/>
            <a:ext cx="17539268" cy="226838"/>
          </a:xfrm>
          <a:prstGeom prst="rect">
            <a:avLst/>
          </a:prstGeom>
          <a:noFill/>
          <a:ln>
            <a:noFill/>
          </a:ln>
        </p:spPr>
        <p:txBody>
          <a:bodyPr anchorCtr="0" anchor="t" bIns="0" lIns="0" spcFirstLastPara="1" rIns="0" wrap="square" tIns="0">
            <a:spAutoFit/>
          </a:bodyPr>
          <a:lstStyle/>
          <a:p>
            <a:pPr indent="0" lvl="0" marL="0" marR="0" rtl="0" algn="l">
              <a:lnSpc>
                <a:spcPct val="119985"/>
              </a:lnSpc>
              <a:spcBef>
                <a:spcPts val="0"/>
              </a:spcBef>
              <a:spcAft>
                <a:spcPts val="0"/>
              </a:spcAft>
              <a:buNone/>
            </a:pPr>
            <a:r>
              <a:rPr b="0" i="0" lang="en-US" spc="199" sz="1426" u="none" cap="none" strike="noStrike">
                <a:solidFill>
                  <a:srgbClr val="1B2638"/>
                </a:solidFill>
                <a:latin typeface="Inter"/>
                <a:ea typeface="Inter"/>
                <a:cs typeface="Inter"/>
                <a:sym typeface="Inter"/>
              </a:rPr>
              <a:t>07 PREDICTIVE BASELINE &amp; DISTRIBUSI STOK</a:t>
            </a:r>
            <a:endParaRPr/>
          </a:p>
        </p:txBody>
      </p:sp>
      <p:sp>
        <p:nvSpPr>
          <p:cNvPr id="457" name="Google Shape;457;p23"/>
          <p:cNvSpPr txBox="1"/>
          <p:nvPr/>
        </p:nvSpPr>
        <p:spPr>
          <a:xfrm>
            <a:off x="762581" y="1075230"/>
            <a:ext cx="16776687" cy="533819"/>
          </a:xfrm>
          <a:prstGeom prst="rect">
            <a:avLst/>
          </a:prstGeom>
          <a:noFill/>
          <a:ln>
            <a:noFill/>
          </a:ln>
        </p:spPr>
        <p:txBody>
          <a:bodyPr anchorCtr="0" anchor="t" bIns="0" lIns="0" spcFirstLastPara="1" rIns="0" wrap="square" tIns="0">
            <a:spAutoFit/>
          </a:bodyPr>
          <a:lstStyle/>
          <a:p>
            <a:pPr indent="0" lvl="0" marL="0" marR="0" rtl="0" algn="l">
              <a:lnSpc>
                <a:spcPct val="111620"/>
              </a:lnSpc>
              <a:spcBef>
                <a:spcPts val="0"/>
              </a:spcBef>
              <a:spcAft>
                <a:spcPts val="0"/>
              </a:spcAft>
              <a:buNone/>
            </a:pPr>
            <a:r>
              <a:rPr b="0" i="0" lang="en-US" spc="-18" sz="3752" u="none" cap="none" strike="noStrike">
                <a:solidFill>
                  <a:srgbClr val="0F1B2B"/>
                </a:solidFill>
                <a:latin typeface="Arimo"/>
                <a:ea typeface="Arimo"/>
                <a:cs typeface="Arimo"/>
                <a:sym typeface="Arimo"/>
              </a:rPr>
              <a:t>Forecast baseline membantu S&amp;OP membaca volatilitas sebelum 2024</a:t>
            </a:r>
            <a:endParaRPr/>
          </a:p>
        </p:txBody>
      </p:sp>
      <p:sp>
        <p:nvSpPr>
          <p:cNvPr id="458" name="Google Shape;458;p23"/>
          <p:cNvSpPr/>
          <p:nvPr/>
        </p:nvSpPr>
        <p:spPr>
          <a:xfrm>
            <a:off x="762581" y="1887874"/>
            <a:ext cx="16776573" cy="28575"/>
          </a:xfrm>
          <a:custGeom>
            <a:rect b="b" l="l" r="r" t="t"/>
            <a:pathLst>
              <a:path extrusionOk="0" h="38100" w="22368763">
                <a:moveTo>
                  <a:pt x="0" y="19050"/>
                </a:moveTo>
                <a:cubicBezTo>
                  <a:pt x="0" y="8509"/>
                  <a:pt x="8509" y="0"/>
                  <a:pt x="19050" y="0"/>
                </a:cubicBezTo>
                <a:lnTo>
                  <a:pt x="22349713" y="0"/>
                </a:lnTo>
                <a:cubicBezTo>
                  <a:pt x="22360254" y="0"/>
                  <a:pt x="22368763" y="8509"/>
                  <a:pt x="22368763" y="19050"/>
                </a:cubicBezTo>
                <a:cubicBezTo>
                  <a:pt x="22368763" y="29591"/>
                  <a:pt x="22360254" y="38100"/>
                  <a:pt x="22349713" y="38100"/>
                </a:cubicBezTo>
                <a:lnTo>
                  <a:pt x="19050" y="38100"/>
                </a:lnTo>
                <a:cubicBezTo>
                  <a:pt x="8509" y="38100"/>
                  <a:pt x="0" y="29591"/>
                  <a:pt x="0" y="19050"/>
                </a:cubicBezTo>
                <a:close/>
              </a:path>
            </a:pathLst>
          </a:custGeom>
          <a:solidFill>
            <a:srgbClr val="14253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 name="Google Shape;459;p23"/>
          <p:cNvSpPr txBox="1"/>
          <p:nvPr/>
        </p:nvSpPr>
        <p:spPr>
          <a:xfrm>
            <a:off x="762581" y="2171471"/>
            <a:ext cx="5916315" cy="219075"/>
          </a:xfrm>
          <a:prstGeom prst="rect">
            <a:avLst/>
          </a:prstGeom>
          <a:noFill/>
          <a:ln>
            <a:noFill/>
          </a:ln>
        </p:spPr>
        <p:txBody>
          <a:bodyPr anchorCtr="0" anchor="t" bIns="0" lIns="0" spcFirstLastPara="1" rIns="0" wrap="square" tIns="0">
            <a:spAutoFit/>
          </a:bodyPr>
          <a:lstStyle/>
          <a:p>
            <a:pPr indent="0" lvl="0" marL="0" marR="0" rtl="0" algn="l">
              <a:lnSpc>
                <a:spcPct val="119985"/>
              </a:lnSpc>
              <a:spcBef>
                <a:spcPts val="0"/>
              </a:spcBef>
              <a:spcAft>
                <a:spcPts val="0"/>
              </a:spcAft>
              <a:buNone/>
            </a:pPr>
            <a:r>
              <a:rPr b="0" i="0" lang="en-US" spc="142" sz="1426" u="none" cap="none" strike="noStrike">
                <a:solidFill>
                  <a:srgbClr val="1B2638"/>
                </a:solidFill>
                <a:latin typeface="Inter"/>
                <a:ea typeface="Inter"/>
                <a:cs typeface="Inter"/>
                <a:sym typeface="Inter"/>
              </a:rPr>
              <a:t>DIAGNOSIS PERMINTAAN DAN KETIDAKSEIMBANGAN SKU</a:t>
            </a:r>
            <a:endParaRPr/>
          </a:p>
        </p:txBody>
      </p:sp>
      <p:sp>
        <p:nvSpPr>
          <p:cNvPr id="460" name="Google Shape;460;p23"/>
          <p:cNvSpPr txBox="1"/>
          <p:nvPr/>
        </p:nvSpPr>
        <p:spPr>
          <a:xfrm>
            <a:off x="762600" y="2762178"/>
            <a:ext cx="9247500" cy="2646000"/>
          </a:xfrm>
          <a:prstGeom prst="rect">
            <a:avLst/>
          </a:prstGeom>
          <a:noFill/>
          <a:ln>
            <a:noFill/>
          </a:ln>
        </p:spPr>
        <p:txBody>
          <a:bodyPr anchorCtr="0" anchor="t" bIns="0" lIns="0" spcFirstLastPara="1" rIns="0" wrap="square" tIns="0">
            <a:spAutoFit/>
          </a:bodyPr>
          <a:lstStyle/>
          <a:p>
            <a:pPr indent="-197118" lvl="1" marL="394236" marR="0" rtl="0" algn="l">
              <a:lnSpc>
                <a:spcPct val="138005"/>
              </a:lnSpc>
              <a:spcBef>
                <a:spcPts val="0"/>
              </a:spcBef>
              <a:spcAft>
                <a:spcPts val="0"/>
              </a:spcAft>
              <a:buClr>
                <a:srgbClr val="2B3542"/>
              </a:buClr>
              <a:buSzPts val="2176"/>
              <a:buFont typeface="Arial"/>
              <a:buChar char="•"/>
            </a:pPr>
            <a:r>
              <a:rPr b="0" i="0" lang="en-US" sz="2176" u="none" cap="none" strike="noStrike">
                <a:solidFill>
                  <a:srgbClr val="2B3542"/>
                </a:solidFill>
                <a:latin typeface="Inter"/>
                <a:ea typeface="Inter"/>
                <a:cs typeface="Inter"/>
                <a:sym typeface="Inter"/>
              </a:rPr>
              <a:t>Baseline demand dibandingkan dengan actual sales untuk meredam volatilitas perencanaan</a:t>
            </a:r>
            <a:endParaRPr/>
          </a:p>
          <a:p>
            <a:pPr indent="-197118" lvl="1" marL="394236" marR="0" rtl="0" algn="l">
              <a:lnSpc>
                <a:spcPct val="138005"/>
              </a:lnSpc>
              <a:spcBef>
                <a:spcPts val="0"/>
              </a:spcBef>
              <a:spcAft>
                <a:spcPts val="0"/>
              </a:spcAft>
              <a:buClr>
                <a:srgbClr val="2B3542"/>
              </a:buClr>
              <a:buSzPts val="2176"/>
              <a:buFont typeface="Arial"/>
              <a:buChar char="•"/>
            </a:pPr>
            <a:r>
              <a:rPr b="0" i="0" lang="en-US" sz="2176" u="none" cap="none" strike="noStrike">
                <a:solidFill>
                  <a:srgbClr val="2B3542"/>
                </a:solidFill>
                <a:latin typeface="Inter"/>
                <a:ea typeface="Inter"/>
                <a:cs typeface="Inter"/>
                <a:sym typeface="Inter"/>
              </a:rPr>
              <a:t>Distribusi status stok: Optimal sekitar 15%, Overstock sekitar 23–33%, Understock sekitar 50–60%</a:t>
            </a:r>
            <a:endParaRPr/>
          </a:p>
          <a:p>
            <a:pPr indent="-197118" lvl="1" marL="394236" marR="0" rtl="0" algn="l">
              <a:lnSpc>
                <a:spcPct val="138005"/>
              </a:lnSpc>
              <a:spcBef>
                <a:spcPts val="0"/>
              </a:spcBef>
              <a:spcAft>
                <a:spcPts val="0"/>
              </a:spcAft>
              <a:buClr>
                <a:srgbClr val="2B3542"/>
              </a:buClr>
              <a:buSzPts val="2176"/>
              <a:buFont typeface="Arial"/>
              <a:buChar char="•"/>
            </a:pPr>
            <a:r>
              <a:rPr b="0" i="0" lang="en-US" sz="2176" u="none" cap="none" strike="noStrike">
                <a:solidFill>
                  <a:srgbClr val="2B3542"/>
                </a:solidFill>
                <a:latin typeface="Inter"/>
                <a:ea typeface="Inter"/>
                <a:cs typeface="Inter"/>
                <a:sym typeface="Inter"/>
              </a:rPr>
              <a:t>Gunakan chart distribusi SKU sebagai titik masuk prioritas intervensi</a:t>
            </a:r>
            <a:endParaRPr/>
          </a:p>
        </p:txBody>
      </p:sp>
      <p:sp>
        <p:nvSpPr>
          <p:cNvPr id="461" name="Google Shape;461;p23"/>
          <p:cNvSpPr/>
          <p:nvPr/>
        </p:nvSpPr>
        <p:spPr>
          <a:xfrm>
            <a:off x="762581" y="6682397"/>
            <a:ext cx="9247537" cy="1838230"/>
          </a:xfrm>
          <a:custGeom>
            <a:rect b="b" l="l" r="r" t="t"/>
            <a:pathLst>
              <a:path extrusionOk="0" h="2450973" w="12330049">
                <a:moveTo>
                  <a:pt x="0" y="0"/>
                </a:moveTo>
                <a:lnTo>
                  <a:pt x="12330049" y="0"/>
                </a:lnTo>
                <a:lnTo>
                  <a:pt x="12330049" y="2450973"/>
                </a:lnTo>
                <a:lnTo>
                  <a:pt x="0" y="2450973"/>
                </a:lnTo>
                <a:close/>
              </a:path>
            </a:pathLst>
          </a:custGeom>
          <a:solidFill>
            <a:srgbClr val="EDF2F7"/>
          </a:solidFill>
          <a:ln>
            <a:noFill/>
          </a:ln>
        </p:spPr>
      </p:sp>
      <p:sp>
        <p:nvSpPr>
          <p:cNvPr id="462" name="Google Shape;462;p23"/>
          <p:cNvSpPr/>
          <p:nvPr/>
        </p:nvSpPr>
        <p:spPr>
          <a:xfrm>
            <a:off x="762581" y="6682397"/>
            <a:ext cx="9247537" cy="57150"/>
          </a:xfrm>
          <a:custGeom>
            <a:rect b="b" l="l" r="r" t="t"/>
            <a:pathLst>
              <a:path extrusionOk="0" h="76200" w="12330049">
                <a:moveTo>
                  <a:pt x="0" y="0"/>
                </a:moveTo>
                <a:lnTo>
                  <a:pt x="12330049" y="0"/>
                </a:lnTo>
                <a:lnTo>
                  <a:pt x="12330049" y="76200"/>
                </a:lnTo>
                <a:lnTo>
                  <a:pt x="0" y="76200"/>
                </a:lnTo>
                <a:close/>
              </a:path>
            </a:pathLst>
          </a:custGeom>
          <a:solidFill>
            <a:srgbClr val="0CC0DF"/>
          </a:solidFill>
          <a:ln>
            <a:noFill/>
          </a:ln>
        </p:spPr>
      </p:sp>
      <p:sp>
        <p:nvSpPr>
          <p:cNvPr id="463" name="Google Shape;463;p23"/>
          <p:cNvSpPr txBox="1"/>
          <p:nvPr/>
        </p:nvSpPr>
        <p:spPr>
          <a:xfrm>
            <a:off x="1029481" y="6882584"/>
            <a:ext cx="8980684" cy="226838"/>
          </a:xfrm>
          <a:prstGeom prst="rect">
            <a:avLst/>
          </a:prstGeom>
          <a:noFill/>
          <a:ln>
            <a:noFill/>
          </a:ln>
        </p:spPr>
        <p:txBody>
          <a:bodyPr anchorCtr="0" anchor="t" bIns="0" lIns="0" spcFirstLastPara="1" rIns="0" wrap="square" tIns="0">
            <a:spAutoFit/>
          </a:bodyPr>
          <a:lstStyle/>
          <a:p>
            <a:pPr indent="0" lvl="0" marL="0" marR="0" rtl="0" algn="l">
              <a:lnSpc>
                <a:spcPct val="119985"/>
              </a:lnSpc>
              <a:spcBef>
                <a:spcPts val="0"/>
              </a:spcBef>
              <a:spcAft>
                <a:spcPts val="0"/>
              </a:spcAft>
              <a:buNone/>
            </a:pPr>
            <a:r>
              <a:rPr b="0" i="0" lang="en-US" spc="142" sz="1426" u="none" cap="none" strike="noStrike">
                <a:solidFill>
                  <a:srgbClr val="2B3542"/>
                </a:solidFill>
                <a:latin typeface="Inter"/>
                <a:ea typeface="Inter"/>
                <a:cs typeface="Inter"/>
                <a:sym typeface="Inter"/>
              </a:rPr>
              <a:t>PRIORITAS INTERVENSI</a:t>
            </a:r>
            <a:endParaRPr/>
          </a:p>
        </p:txBody>
      </p:sp>
      <p:sp>
        <p:nvSpPr>
          <p:cNvPr id="464" name="Google Shape;464;p23"/>
          <p:cNvSpPr txBox="1"/>
          <p:nvPr/>
        </p:nvSpPr>
        <p:spPr>
          <a:xfrm>
            <a:off x="1029481" y="7190422"/>
            <a:ext cx="8713784" cy="1182443"/>
          </a:xfrm>
          <a:prstGeom prst="rect">
            <a:avLst/>
          </a:prstGeom>
          <a:noFill/>
          <a:ln>
            <a:noFill/>
          </a:ln>
        </p:spPr>
        <p:txBody>
          <a:bodyPr anchorCtr="0" anchor="t" bIns="0" lIns="0" spcFirstLastPara="1" rIns="0" wrap="square" tIns="0">
            <a:spAutoFit/>
          </a:bodyPr>
          <a:lstStyle/>
          <a:p>
            <a:pPr indent="0" lvl="0" marL="0" marR="0" rtl="0" algn="l">
              <a:lnSpc>
                <a:spcPct val="138005"/>
              </a:lnSpc>
              <a:spcBef>
                <a:spcPts val="0"/>
              </a:spcBef>
              <a:spcAft>
                <a:spcPts val="0"/>
              </a:spcAft>
              <a:buNone/>
            </a:pPr>
            <a:r>
              <a:rPr b="0" i="0" lang="en-US" sz="2176" u="none" cap="none" strike="noStrike">
                <a:solidFill>
                  <a:srgbClr val="2B3542"/>
                </a:solidFill>
                <a:latin typeface="Inter"/>
                <a:ea typeface="Inter"/>
                <a:cs typeface="Inter"/>
                <a:sym typeface="Inter"/>
              </a:rPr>
              <a:t>Mayoritas SKU (50–60%) berada dalam status Understock, menuntut percepatan siklus replenishment sebelum lonjakan musiman kuartal pertama 2024.</a:t>
            </a:r>
            <a:endParaRPr/>
          </a:p>
        </p:txBody>
      </p:sp>
      <p:sp>
        <p:nvSpPr>
          <p:cNvPr id="465" name="Google Shape;465;p23"/>
          <p:cNvSpPr txBox="1"/>
          <p:nvPr/>
        </p:nvSpPr>
        <p:spPr>
          <a:xfrm>
            <a:off x="10467556" y="2171471"/>
            <a:ext cx="3595886" cy="219075"/>
          </a:xfrm>
          <a:prstGeom prst="rect">
            <a:avLst/>
          </a:prstGeom>
          <a:noFill/>
          <a:ln>
            <a:noFill/>
          </a:ln>
        </p:spPr>
        <p:txBody>
          <a:bodyPr anchorCtr="0" anchor="t" bIns="0" lIns="0" spcFirstLastPara="1" rIns="0" wrap="square" tIns="0">
            <a:spAutoFit/>
          </a:bodyPr>
          <a:lstStyle/>
          <a:p>
            <a:pPr indent="0" lvl="0" marL="0" marR="0" rtl="0" algn="l">
              <a:lnSpc>
                <a:spcPct val="119985"/>
              </a:lnSpc>
              <a:spcBef>
                <a:spcPts val="0"/>
              </a:spcBef>
              <a:spcAft>
                <a:spcPts val="0"/>
              </a:spcAft>
              <a:buNone/>
            </a:pPr>
            <a:r>
              <a:rPr b="0" i="0" lang="en-US" spc="142" sz="1426" u="none" cap="none" strike="noStrike">
                <a:solidFill>
                  <a:srgbClr val="1B2638"/>
                </a:solidFill>
                <a:latin typeface="Inter"/>
                <a:ea typeface="Inter"/>
                <a:cs typeface="Inter"/>
                <a:sym typeface="Inter"/>
              </a:rPr>
              <a:t>ESTIMASI DISTRIBUSI STATUS SKU</a:t>
            </a:r>
            <a:endParaRPr/>
          </a:p>
        </p:txBody>
      </p:sp>
      <p:graphicFrame>
        <p:nvGraphicFramePr>
          <p:cNvPr id="466" name="Google Shape;466;p23"/>
          <p:cNvGraphicFramePr/>
          <p:nvPr/>
        </p:nvGraphicFramePr>
        <p:xfrm>
          <a:off x="10467556" y="2526992"/>
          <a:ext cx="3000000" cy="3000000"/>
        </p:xfrm>
        <a:graphic>
          <a:graphicData uri="http://schemas.openxmlformats.org/drawingml/2006/table">
            <a:tbl>
              <a:tblPr>
                <a:noFill/>
                <a:tableStyleId>{EA38B67D-69BF-4426-9D7D-43E40D648462}</a:tableStyleId>
              </a:tblPr>
              <a:tblGrid>
                <a:gridCol w="3152650"/>
                <a:gridCol w="1768075"/>
                <a:gridCol w="2114225"/>
              </a:tblGrid>
              <a:tr h="425475">
                <a:tc>
                  <a:txBody>
                    <a:bodyPr/>
                    <a:lstStyle/>
                    <a:p>
                      <a:pPr indent="0" lvl="0" marL="0" marR="0" rtl="0" algn="l">
                        <a:lnSpc>
                          <a:spcPct val="119985"/>
                        </a:lnSpc>
                        <a:spcBef>
                          <a:spcPts val="0"/>
                        </a:spcBef>
                        <a:spcAft>
                          <a:spcPts val="0"/>
                        </a:spcAft>
                        <a:buNone/>
                      </a:pPr>
                      <a:r>
                        <a:rPr lang="en-US" spc="114" sz="1426" u="none" cap="none" strike="noStrike">
                          <a:solidFill>
                            <a:srgbClr val="0F1B2B"/>
                          </a:solidFill>
                          <a:latin typeface="Inter"/>
                          <a:ea typeface="Inter"/>
                          <a:cs typeface="Inter"/>
                          <a:sym typeface="Inter"/>
                        </a:rPr>
                        <a:t>STATUS STOK</a:t>
                      </a:r>
                      <a:endParaRPr sz="1100" u="none" cap="none" strike="noStrike"/>
                    </a:p>
                  </a:txBody>
                  <a:tcPr marT="108350" marB="108350" marR="108350" marL="108350" anchor="ctr">
                    <a:lnL cap="flat" cmpd="sng" w="12700">
                      <a:solidFill>
                        <a:srgbClr val="F8FAFC"/>
                      </a:solidFill>
                      <a:prstDash val="solid"/>
                      <a:round/>
                      <a:headEnd len="sm" w="sm" type="none"/>
                      <a:tailEnd len="sm" w="sm" type="none"/>
                    </a:lnL>
                    <a:lnR cap="flat" cmpd="sng" w="12700">
                      <a:solidFill>
                        <a:srgbClr val="F8FAFC"/>
                      </a:solidFill>
                      <a:prstDash val="solid"/>
                      <a:round/>
                      <a:headEnd len="sm" w="sm" type="none"/>
                      <a:tailEnd len="sm" w="sm" type="none"/>
                    </a:lnR>
                    <a:lnT cap="flat" cmpd="sng" w="12700">
                      <a:solidFill>
                        <a:srgbClr val="F8FAFC"/>
                      </a:solidFill>
                      <a:prstDash val="solid"/>
                      <a:round/>
                      <a:headEnd len="sm" w="sm" type="none"/>
                      <a:tailEnd len="sm" w="sm" type="none"/>
                    </a:lnT>
                    <a:lnB cap="flat" cmpd="sng" w="12700">
                      <a:solidFill>
                        <a:srgbClr val="0F1B2B"/>
                      </a:solidFill>
                      <a:prstDash val="solid"/>
                      <a:round/>
                      <a:headEnd len="sm" w="sm" type="none"/>
                      <a:tailEnd len="sm" w="sm" type="none"/>
                    </a:lnB>
                  </a:tcPr>
                </a:tc>
                <a:tc>
                  <a:txBody>
                    <a:bodyPr/>
                    <a:lstStyle/>
                    <a:p>
                      <a:pPr indent="0" lvl="0" marL="0" marR="0" rtl="0" algn="r">
                        <a:lnSpc>
                          <a:spcPct val="119985"/>
                        </a:lnSpc>
                        <a:spcBef>
                          <a:spcPts val="0"/>
                        </a:spcBef>
                        <a:spcAft>
                          <a:spcPts val="0"/>
                        </a:spcAft>
                        <a:buNone/>
                      </a:pPr>
                      <a:r>
                        <a:rPr lang="en-US" spc="114" sz="1426" u="none" cap="none" strike="noStrike">
                          <a:solidFill>
                            <a:srgbClr val="0F1B2B"/>
                          </a:solidFill>
                          <a:latin typeface="Inter"/>
                          <a:ea typeface="Inter"/>
                          <a:cs typeface="Inter"/>
                          <a:sym typeface="Inter"/>
                        </a:rPr>
                        <a:t>PROPORSI SKU</a:t>
                      </a:r>
                      <a:endParaRPr sz="1100" u="none" cap="none" strike="noStrike"/>
                    </a:p>
                  </a:txBody>
                  <a:tcPr marT="108350" marB="108350" marR="108350" marL="108350" anchor="ctr">
                    <a:lnL cap="flat" cmpd="sng" w="12700">
                      <a:solidFill>
                        <a:srgbClr val="F8FAFC"/>
                      </a:solidFill>
                      <a:prstDash val="solid"/>
                      <a:round/>
                      <a:headEnd len="sm" w="sm" type="none"/>
                      <a:tailEnd len="sm" w="sm" type="none"/>
                    </a:lnL>
                    <a:lnR cap="flat" cmpd="sng" w="12700">
                      <a:solidFill>
                        <a:srgbClr val="F8FAFC"/>
                      </a:solidFill>
                      <a:prstDash val="solid"/>
                      <a:round/>
                      <a:headEnd len="sm" w="sm" type="none"/>
                      <a:tailEnd len="sm" w="sm" type="none"/>
                    </a:lnR>
                    <a:lnT cap="flat" cmpd="sng" w="12700">
                      <a:solidFill>
                        <a:srgbClr val="F8FAFC"/>
                      </a:solidFill>
                      <a:prstDash val="solid"/>
                      <a:round/>
                      <a:headEnd len="sm" w="sm" type="none"/>
                      <a:tailEnd len="sm" w="sm" type="none"/>
                    </a:lnT>
                    <a:lnB cap="flat" cmpd="sng" w="12700">
                      <a:solidFill>
                        <a:srgbClr val="0F1B2B"/>
                      </a:solidFill>
                      <a:prstDash val="solid"/>
                      <a:round/>
                      <a:headEnd len="sm" w="sm" type="none"/>
                      <a:tailEnd len="sm" w="sm" type="none"/>
                    </a:lnB>
                  </a:tcPr>
                </a:tc>
                <a:tc>
                  <a:txBody>
                    <a:bodyPr/>
                    <a:lstStyle/>
                    <a:p>
                      <a:pPr indent="0" lvl="0" marL="0" marR="0" rtl="0" algn="r">
                        <a:lnSpc>
                          <a:spcPct val="119985"/>
                        </a:lnSpc>
                        <a:spcBef>
                          <a:spcPts val="0"/>
                        </a:spcBef>
                        <a:spcAft>
                          <a:spcPts val="0"/>
                        </a:spcAft>
                        <a:buNone/>
                      </a:pPr>
                      <a:r>
                        <a:rPr lang="en-US" spc="114" sz="1426" u="none" cap="none" strike="noStrike">
                          <a:solidFill>
                            <a:srgbClr val="0F1B2B"/>
                          </a:solidFill>
                          <a:latin typeface="Inter"/>
                          <a:ea typeface="Inter"/>
                          <a:cs typeface="Inter"/>
                          <a:sym typeface="Inter"/>
                        </a:rPr>
                        <a:t>TINDAKAN S&amp;OP</a:t>
                      </a:r>
                      <a:endParaRPr sz="1100" u="none" cap="none" strike="noStrike"/>
                    </a:p>
                  </a:txBody>
                  <a:tcPr marT="108350" marB="108350" marR="108350" marL="108350" anchor="ctr">
                    <a:lnL cap="flat" cmpd="sng" w="12700">
                      <a:solidFill>
                        <a:srgbClr val="F8FAFC"/>
                      </a:solidFill>
                      <a:prstDash val="solid"/>
                      <a:round/>
                      <a:headEnd len="sm" w="sm" type="none"/>
                      <a:tailEnd len="sm" w="sm" type="none"/>
                    </a:lnL>
                    <a:lnR cap="flat" cmpd="sng" w="12700">
                      <a:solidFill>
                        <a:srgbClr val="F8FAFC"/>
                      </a:solidFill>
                      <a:prstDash val="solid"/>
                      <a:round/>
                      <a:headEnd len="sm" w="sm" type="none"/>
                      <a:tailEnd len="sm" w="sm" type="none"/>
                    </a:lnR>
                    <a:lnT cap="flat" cmpd="sng" w="12700">
                      <a:solidFill>
                        <a:srgbClr val="F8FAFC"/>
                      </a:solidFill>
                      <a:prstDash val="solid"/>
                      <a:round/>
                      <a:headEnd len="sm" w="sm" type="none"/>
                      <a:tailEnd len="sm" w="sm" type="none"/>
                    </a:lnT>
                    <a:lnB cap="flat" cmpd="sng" w="12700">
                      <a:solidFill>
                        <a:srgbClr val="0F1B2B"/>
                      </a:solidFill>
                      <a:prstDash val="solid"/>
                      <a:round/>
                      <a:headEnd len="sm" w="sm" type="none"/>
                      <a:tailEnd len="sm" w="sm" type="none"/>
                    </a:lnB>
                  </a:tcPr>
                </a:tc>
              </a:tr>
              <a:tr h="811425">
                <a:tc>
                  <a:txBody>
                    <a:bodyPr/>
                    <a:lstStyle/>
                    <a:p>
                      <a:pPr indent="0" lvl="0" marL="0" marR="0" rtl="0" algn="l">
                        <a:lnSpc>
                          <a:spcPct val="119988"/>
                        </a:lnSpc>
                        <a:spcBef>
                          <a:spcPts val="0"/>
                        </a:spcBef>
                        <a:spcAft>
                          <a:spcPts val="0"/>
                        </a:spcAft>
                        <a:buNone/>
                      </a:pPr>
                      <a:r>
                        <a:rPr b="1" lang="en-US" sz="1801" u="none" cap="none" strike="noStrike">
                          <a:solidFill>
                            <a:srgbClr val="2B3542"/>
                          </a:solidFill>
                          <a:latin typeface="Inter"/>
                          <a:ea typeface="Inter"/>
                          <a:cs typeface="Inter"/>
                          <a:sym typeface="Inter"/>
                        </a:rPr>
                        <a:t>Understock</a:t>
                      </a:r>
                      <a:endParaRPr sz="1100" u="none" cap="none" strike="noStrike"/>
                    </a:p>
                  </a:txBody>
                  <a:tcPr marT="108350" marB="108350" marR="108350" marL="108350" anchor="ctr">
                    <a:lnL cap="flat" cmpd="sng" w="12700">
                      <a:solidFill>
                        <a:srgbClr val="F8FAFC"/>
                      </a:solidFill>
                      <a:prstDash val="solid"/>
                      <a:round/>
                      <a:headEnd len="sm" w="sm" type="none"/>
                      <a:tailEnd len="sm" w="sm" type="none"/>
                    </a:lnL>
                    <a:lnR cap="flat" cmpd="sng" w="12700">
                      <a:solidFill>
                        <a:srgbClr val="F8FAFC"/>
                      </a:solidFill>
                      <a:prstDash val="solid"/>
                      <a:round/>
                      <a:headEnd len="sm" w="sm" type="none"/>
                      <a:tailEnd len="sm" w="sm" type="none"/>
                    </a:lnR>
                    <a:lnT cap="flat" cmpd="sng" w="12700">
                      <a:solidFill>
                        <a:srgbClr val="0F1B2B"/>
                      </a:solidFill>
                      <a:prstDash val="solid"/>
                      <a:round/>
                      <a:headEnd len="sm" w="sm" type="none"/>
                      <a:tailEnd len="sm" w="sm" type="none"/>
                    </a:lnT>
                    <a:lnB cap="flat" cmpd="sng" w="12700">
                      <a:solidFill>
                        <a:srgbClr val="0F1B2B"/>
                      </a:solidFill>
                      <a:prstDash val="solid"/>
                      <a:round/>
                      <a:headEnd len="sm" w="sm" type="none"/>
                      <a:tailEnd len="sm" w="sm" type="none"/>
                    </a:lnB>
                  </a:tcPr>
                </a:tc>
                <a:tc>
                  <a:txBody>
                    <a:bodyPr/>
                    <a:lstStyle/>
                    <a:p>
                      <a:pPr indent="0" lvl="0" marL="0" marR="0" rtl="0" algn="r">
                        <a:lnSpc>
                          <a:spcPct val="119988"/>
                        </a:lnSpc>
                        <a:spcBef>
                          <a:spcPts val="0"/>
                        </a:spcBef>
                        <a:spcAft>
                          <a:spcPts val="0"/>
                        </a:spcAft>
                        <a:buNone/>
                      </a:pPr>
                      <a:r>
                        <a:rPr lang="en-US" sz="1801" u="none" cap="none" strike="noStrike">
                          <a:solidFill>
                            <a:srgbClr val="2B3542"/>
                          </a:solidFill>
                          <a:latin typeface="Inter"/>
                          <a:ea typeface="Inter"/>
                          <a:cs typeface="Inter"/>
                          <a:sym typeface="Inter"/>
                        </a:rPr>
                        <a:t>50%–60%</a:t>
                      </a:r>
                      <a:endParaRPr sz="1100" u="none" cap="none" strike="noStrike"/>
                    </a:p>
                  </a:txBody>
                  <a:tcPr marT="108350" marB="108350" marR="108350" marL="108350" anchor="ctr">
                    <a:lnL cap="flat" cmpd="sng" w="12700">
                      <a:solidFill>
                        <a:srgbClr val="F8FAFC"/>
                      </a:solidFill>
                      <a:prstDash val="solid"/>
                      <a:round/>
                      <a:headEnd len="sm" w="sm" type="none"/>
                      <a:tailEnd len="sm" w="sm" type="none"/>
                    </a:lnL>
                    <a:lnR cap="flat" cmpd="sng" w="12700">
                      <a:solidFill>
                        <a:srgbClr val="F8FAFC"/>
                      </a:solidFill>
                      <a:prstDash val="solid"/>
                      <a:round/>
                      <a:headEnd len="sm" w="sm" type="none"/>
                      <a:tailEnd len="sm" w="sm" type="none"/>
                    </a:lnR>
                    <a:lnT cap="flat" cmpd="sng" w="12700">
                      <a:solidFill>
                        <a:srgbClr val="0F1B2B"/>
                      </a:solidFill>
                      <a:prstDash val="solid"/>
                      <a:round/>
                      <a:headEnd len="sm" w="sm" type="none"/>
                      <a:tailEnd len="sm" w="sm" type="none"/>
                    </a:lnT>
                    <a:lnB cap="flat" cmpd="sng" w="12700">
                      <a:solidFill>
                        <a:srgbClr val="0F1B2B"/>
                      </a:solidFill>
                      <a:prstDash val="solid"/>
                      <a:round/>
                      <a:headEnd len="sm" w="sm" type="none"/>
                      <a:tailEnd len="sm" w="sm" type="none"/>
                    </a:lnB>
                  </a:tcPr>
                </a:tc>
                <a:tc>
                  <a:txBody>
                    <a:bodyPr/>
                    <a:lstStyle/>
                    <a:p>
                      <a:pPr indent="0" lvl="0" marL="0" marR="0" rtl="0" algn="r">
                        <a:lnSpc>
                          <a:spcPct val="119988"/>
                        </a:lnSpc>
                        <a:spcBef>
                          <a:spcPts val="0"/>
                        </a:spcBef>
                        <a:spcAft>
                          <a:spcPts val="0"/>
                        </a:spcAft>
                        <a:buNone/>
                      </a:pPr>
                      <a:r>
                        <a:rPr lang="en-US" sz="1801" u="none" cap="none" strike="noStrike">
                          <a:solidFill>
                            <a:srgbClr val="2B3542"/>
                          </a:solidFill>
                          <a:latin typeface="Inter"/>
                          <a:ea typeface="Inter"/>
                          <a:cs typeface="Inter"/>
                          <a:sym typeface="Inter"/>
                        </a:rPr>
                        <a:t>Percepat PO / ROP</a:t>
                      </a:r>
                      <a:endParaRPr sz="1100" u="none" cap="none" strike="noStrike"/>
                    </a:p>
                  </a:txBody>
                  <a:tcPr marT="108350" marB="108350" marR="108350" marL="108350" anchor="ctr">
                    <a:lnL cap="flat" cmpd="sng" w="12700">
                      <a:solidFill>
                        <a:srgbClr val="F8FAFC"/>
                      </a:solidFill>
                      <a:prstDash val="solid"/>
                      <a:round/>
                      <a:headEnd len="sm" w="sm" type="none"/>
                      <a:tailEnd len="sm" w="sm" type="none"/>
                    </a:lnL>
                    <a:lnR cap="flat" cmpd="sng" w="12700">
                      <a:solidFill>
                        <a:srgbClr val="F8FAFC"/>
                      </a:solidFill>
                      <a:prstDash val="solid"/>
                      <a:round/>
                      <a:headEnd len="sm" w="sm" type="none"/>
                      <a:tailEnd len="sm" w="sm" type="none"/>
                    </a:lnR>
                    <a:lnT cap="flat" cmpd="sng" w="12700">
                      <a:solidFill>
                        <a:srgbClr val="0F1B2B"/>
                      </a:solidFill>
                      <a:prstDash val="solid"/>
                      <a:round/>
                      <a:headEnd len="sm" w="sm" type="none"/>
                      <a:tailEnd len="sm" w="sm" type="none"/>
                    </a:lnT>
                    <a:lnB cap="flat" cmpd="sng" w="12700">
                      <a:solidFill>
                        <a:srgbClr val="0F1B2B"/>
                      </a:solidFill>
                      <a:prstDash val="solid"/>
                      <a:round/>
                      <a:headEnd len="sm" w="sm" type="none"/>
                      <a:tailEnd len="sm" w="sm" type="none"/>
                    </a:lnB>
                  </a:tcPr>
                </a:tc>
              </a:tr>
              <a:tr h="811425">
                <a:tc>
                  <a:txBody>
                    <a:bodyPr/>
                    <a:lstStyle/>
                    <a:p>
                      <a:pPr indent="0" lvl="0" marL="0" marR="0" rtl="0" algn="l">
                        <a:lnSpc>
                          <a:spcPct val="119988"/>
                        </a:lnSpc>
                        <a:spcBef>
                          <a:spcPts val="0"/>
                        </a:spcBef>
                        <a:spcAft>
                          <a:spcPts val="0"/>
                        </a:spcAft>
                        <a:buNone/>
                      </a:pPr>
                      <a:r>
                        <a:rPr b="1" lang="en-US" sz="1801" u="none" cap="none" strike="noStrike">
                          <a:solidFill>
                            <a:srgbClr val="2B3542"/>
                          </a:solidFill>
                          <a:latin typeface="Inter"/>
                          <a:ea typeface="Inter"/>
                          <a:cs typeface="Inter"/>
                          <a:sym typeface="Inter"/>
                        </a:rPr>
                        <a:t>Overstock</a:t>
                      </a:r>
                      <a:endParaRPr sz="1100" u="none" cap="none" strike="noStrike"/>
                    </a:p>
                  </a:txBody>
                  <a:tcPr marT="108350" marB="108350" marR="108350" marL="108350" anchor="ctr">
                    <a:lnL cap="flat" cmpd="sng" w="12700">
                      <a:solidFill>
                        <a:srgbClr val="F8FAFC"/>
                      </a:solidFill>
                      <a:prstDash val="solid"/>
                      <a:round/>
                      <a:headEnd len="sm" w="sm" type="none"/>
                      <a:tailEnd len="sm" w="sm" type="none"/>
                    </a:lnL>
                    <a:lnR cap="flat" cmpd="sng" w="12700">
                      <a:solidFill>
                        <a:srgbClr val="F8FAFC"/>
                      </a:solidFill>
                      <a:prstDash val="solid"/>
                      <a:round/>
                      <a:headEnd len="sm" w="sm" type="none"/>
                      <a:tailEnd len="sm" w="sm" type="none"/>
                    </a:lnR>
                    <a:lnT cap="flat" cmpd="sng" w="12700">
                      <a:solidFill>
                        <a:srgbClr val="0F1B2B"/>
                      </a:solidFill>
                      <a:prstDash val="solid"/>
                      <a:round/>
                      <a:headEnd len="sm" w="sm" type="none"/>
                      <a:tailEnd len="sm" w="sm" type="none"/>
                    </a:lnT>
                    <a:lnB cap="flat" cmpd="sng" w="12700">
                      <a:solidFill>
                        <a:srgbClr val="0F1B2B"/>
                      </a:solidFill>
                      <a:prstDash val="solid"/>
                      <a:round/>
                      <a:headEnd len="sm" w="sm" type="none"/>
                      <a:tailEnd len="sm" w="sm" type="none"/>
                    </a:lnB>
                  </a:tcPr>
                </a:tc>
                <a:tc>
                  <a:txBody>
                    <a:bodyPr/>
                    <a:lstStyle/>
                    <a:p>
                      <a:pPr indent="0" lvl="0" marL="0" marR="0" rtl="0" algn="r">
                        <a:lnSpc>
                          <a:spcPct val="119988"/>
                        </a:lnSpc>
                        <a:spcBef>
                          <a:spcPts val="0"/>
                        </a:spcBef>
                        <a:spcAft>
                          <a:spcPts val="0"/>
                        </a:spcAft>
                        <a:buNone/>
                      </a:pPr>
                      <a:r>
                        <a:rPr lang="en-US" sz="1801" u="none" cap="none" strike="noStrike">
                          <a:solidFill>
                            <a:srgbClr val="2B3542"/>
                          </a:solidFill>
                          <a:latin typeface="Inter"/>
                          <a:ea typeface="Inter"/>
                          <a:cs typeface="Inter"/>
                          <a:sym typeface="Inter"/>
                        </a:rPr>
                        <a:t>23%–33%</a:t>
                      </a:r>
                      <a:endParaRPr sz="1100" u="none" cap="none" strike="noStrike"/>
                    </a:p>
                  </a:txBody>
                  <a:tcPr marT="108350" marB="108350" marR="108350" marL="108350" anchor="ctr">
                    <a:lnL cap="flat" cmpd="sng" w="12700">
                      <a:solidFill>
                        <a:srgbClr val="F8FAFC"/>
                      </a:solidFill>
                      <a:prstDash val="solid"/>
                      <a:round/>
                      <a:headEnd len="sm" w="sm" type="none"/>
                      <a:tailEnd len="sm" w="sm" type="none"/>
                    </a:lnL>
                    <a:lnR cap="flat" cmpd="sng" w="12700">
                      <a:solidFill>
                        <a:srgbClr val="F8FAFC"/>
                      </a:solidFill>
                      <a:prstDash val="solid"/>
                      <a:round/>
                      <a:headEnd len="sm" w="sm" type="none"/>
                      <a:tailEnd len="sm" w="sm" type="none"/>
                    </a:lnR>
                    <a:lnT cap="flat" cmpd="sng" w="12700">
                      <a:solidFill>
                        <a:srgbClr val="0F1B2B"/>
                      </a:solidFill>
                      <a:prstDash val="solid"/>
                      <a:round/>
                      <a:headEnd len="sm" w="sm" type="none"/>
                      <a:tailEnd len="sm" w="sm" type="none"/>
                    </a:lnT>
                    <a:lnB cap="flat" cmpd="sng" w="12700">
                      <a:solidFill>
                        <a:srgbClr val="0F1B2B"/>
                      </a:solidFill>
                      <a:prstDash val="solid"/>
                      <a:round/>
                      <a:headEnd len="sm" w="sm" type="none"/>
                      <a:tailEnd len="sm" w="sm" type="none"/>
                    </a:lnB>
                  </a:tcPr>
                </a:tc>
                <a:tc>
                  <a:txBody>
                    <a:bodyPr/>
                    <a:lstStyle/>
                    <a:p>
                      <a:pPr indent="0" lvl="0" marL="0" marR="0" rtl="0" algn="r">
                        <a:lnSpc>
                          <a:spcPct val="119988"/>
                        </a:lnSpc>
                        <a:spcBef>
                          <a:spcPts val="0"/>
                        </a:spcBef>
                        <a:spcAft>
                          <a:spcPts val="0"/>
                        </a:spcAft>
                        <a:buNone/>
                      </a:pPr>
                      <a:r>
                        <a:rPr lang="en-US" sz="1801" u="none" cap="none" strike="noStrike">
                          <a:solidFill>
                            <a:srgbClr val="2B3542"/>
                          </a:solidFill>
                          <a:latin typeface="Inter"/>
                          <a:ea typeface="Inter"/>
                          <a:cs typeface="Inter"/>
                          <a:sym typeface="Inter"/>
                        </a:rPr>
                        <a:t>Rem Order / Clearance</a:t>
                      </a:r>
                      <a:endParaRPr sz="1100" u="none" cap="none" strike="noStrike"/>
                    </a:p>
                  </a:txBody>
                  <a:tcPr marT="108350" marB="108350" marR="108350" marL="108350" anchor="ctr">
                    <a:lnL cap="flat" cmpd="sng" w="12700">
                      <a:solidFill>
                        <a:srgbClr val="F8FAFC"/>
                      </a:solidFill>
                      <a:prstDash val="solid"/>
                      <a:round/>
                      <a:headEnd len="sm" w="sm" type="none"/>
                      <a:tailEnd len="sm" w="sm" type="none"/>
                    </a:lnL>
                    <a:lnR cap="flat" cmpd="sng" w="12700">
                      <a:solidFill>
                        <a:srgbClr val="F8FAFC"/>
                      </a:solidFill>
                      <a:prstDash val="solid"/>
                      <a:round/>
                      <a:headEnd len="sm" w="sm" type="none"/>
                      <a:tailEnd len="sm" w="sm" type="none"/>
                    </a:lnR>
                    <a:lnT cap="flat" cmpd="sng" w="12700">
                      <a:solidFill>
                        <a:srgbClr val="0F1B2B"/>
                      </a:solidFill>
                      <a:prstDash val="solid"/>
                      <a:round/>
                      <a:headEnd len="sm" w="sm" type="none"/>
                      <a:tailEnd len="sm" w="sm" type="none"/>
                    </a:lnT>
                    <a:lnB cap="flat" cmpd="sng" w="12700">
                      <a:solidFill>
                        <a:srgbClr val="0F1B2B"/>
                      </a:solidFill>
                      <a:prstDash val="solid"/>
                      <a:round/>
                      <a:headEnd len="sm" w="sm" type="none"/>
                      <a:tailEnd len="sm" w="sm" type="none"/>
                    </a:lnB>
                  </a:tcPr>
                </a:tc>
              </a:tr>
              <a:tr h="811425">
                <a:tc>
                  <a:txBody>
                    <a:bodyPr/>
                    <a:lstStyle/>
                    <a:p>
                      <a:pPr indent="0" lvl="0" marL="0" marR="0" rtl="0" algn="l">
                        <a:lnSpc>
                          <a:spcPct val="119988"/>
                        </a:lnSpc>
                        <a:spcBef>
                          <a:spcPts val="0"/>
                        </a:spcBef>
                        <a:spcAft>
                          <a:spcPts val="0"/>
                        </a:spcAft>
                        <a:buNone/>
                      </a:pPr>
                      <a:r>
                        <a:rPr b="1" lang="en-US" sz="1801" u="none" cap="none" strike="noStrike">
                          <a:solidFill>
                            <a:srgbClr val="2B3542"/>
                          </a:solidFill>
                          <a:latin typeface="Inter"/>
                          <a:ea typeface="Inter"/>
                          <a:cs typeface="Inter"/>
                          <a:sym typeface="Inter"/>
                        </a:rPr>
                        <a:t>Optimal</a:t>
                      </a:r>
                      <a:endParaRPr sz="1100" u="none" cap="none" strike="noStrike"/>
                    </a:p>
                  </a:txBody>
                  <a:tcPr marT="108350" marB="108350" marR="108350" marL="108350" anchor="ctr">
                    <a:lnL cap="flat" cmpd="sng" w="12700">
                      <a:solidFill>
                        <a:srgbClr val="F8FAFC"/>
                      </a:solidFill>
                      <a:prstDash val="solid"/>
                      <a:round/>
                      <a:headEnd len="sm" w="sm" type="none"/>
                      <a:tailEnd len="sm" w="sm" type="none"/>
                    </a:lnL>
                    <a:lnR cap="flat" cmpd="sng" w="12700">
                      <a:solidFill>
                        <a:srgbClr val="F8FAFC"/>
                      </a:solidFill>
                      <a:prstDash val="solid"/>
                      <a:round/>
                      <a:headEnd len="sm" w="sm" type="none"/>
                      <a:tailEnd len="sm" w="sm" type="none"/>
                    </a:lnR>
                    <a:lnT cap="flat" cmpd="sng" w="12700">
                      <a:solidFill>
                        <a:srgbClr val="0F1B2B"/>
                      </a:solidFill>
                      <a:prstDash val="solid"/>
                      <a:round/>
                      <a:headEnd len="sm" w="sm" type="none"/>
                      <a:tailEnd len="sm" w="sm" type="none"/>
                    </a:lnT>
                    <a:lnB cap="flat" cmpd="sng" w="12700">
                      <a:solidFill>
                        <a:srgbClr val="F8FAFC"/>
                      </a:solidFill>
                      <a:prstDash val="solid"/>
                      <a:round/>
                      <a:headEnd len="sm" w="sm" type="none"/>
                      <a:tailEnd len="sm" w="sm" type="none"/>
                    </a:lnB>
                  </a:tcPr>
                </a:tc>
                <a:tc>
                  <a:txBody>
                    <a:bodyPr/>
                    <a:lstStyle/>
                    <a:p>
                      <a:pPr indent="0" lvl="0" marL="0" marR="0" rtl="0" algn="r">
                        <a:lnSpc>
                          <a:spcPct val="119988"/>
                        </a:lnSpc>
                        <a:spcBef>
                          <a:spcPts val="0"/>
                        </a:spcBef>
                        <a:spcAft>
                          <a:spcPts val="0"/>
                        </a:spcAft>
                        <a:buNone/>
                      </a:pPr>
                      <a:r>
                        <a:rPr lang="en-US" sz="1801" u="none" cap="none" strike="noStrike">
                          <a:solidFill>
                            <a:srgbClr val="2B3542"/>
                          </a:solidFill>
                          <a:latin typeface="Inter"/>
                          <a:ea typeface="Inter"/>
                          <a:cs typeface="Inter"/>
                          <a:sym typeface="Inter"/>
                        </a:rPr>
                        <a:t>~15%</a:t>
                      </a:r>
                      <a:endParaRPr sz="1100" u="none" cap="none" strike="noStrike"/>
                    </a:p>
                  </a:txBody>
                  <a:tcPr marT="108350" marB="108350" marR="108350" marL="108350" anchor="ctr">
                    <a:lnL cap="flat" cmpd="sng" w="12700">
                      <a:solidFill>
                        <a:srgbClr val="F8FAFC"/>
                      </a:solidFill>
                      <a:prstDash val="solid"/>
                      <a:round/>
                      <a:headEnd len="sm" w="sm" type="none"/>
                      <a:tailEnd len="sm" w="sm" type="none"/>
                    </a:lnL>
                    <a:lnR cap="flat" cmpd="sng" w="12700">
                      <a:solidFill>
                        <a:srgbClr val="F8FAFC"/>
                      </a:solidFill>
                      <a:prstDash val="solid"/>
                      <a:round/>
                      <a:headEnd len="sm" w="sm" type="none"/>
                      <a:tailEnd len="sm" w="sm" type="none"/>
                    </a:lnR>
                    <a:lnT cap="flat" cmpd="sng" w="12700">
                      <a:solidFill>
                        <a:srgbClr val="0F1B2B"/>
                      </a:solidFill>
                      <a:prstDash val="solid"/>
                      <a:round/>
                      <a:headEnd len="sm" w="sm" type="none"/>
                      <a:tailEnd len="sm" w="sm" type="none"/>
                    </a:lnT>
                    <a:lnB cap="flat" cmpd="sng" w="12700">
                      <a:solidFill>
                        <a:srgbClr val="F8FAFC"/>
                      </a:solidFill>
                      <a:prstDash val="solid"/>
                      <a:round/>
                      <a:headEnd len="sm" w="sm" type="none"/>
                      <a:tailEnd len="sm" w="sm" type="none"/>
                    </a:lnB>
                  </a:tcPr>
                </a:tc>
                <a:tc>
                  <a:txBody>
                    <a:bodyPr/>
                    <a:lstStyle/>
                    <a:p>
                      <a:pPr indent="0" lvl="0" marL="0" marR="0" rtl="0" algn="r">
                        <a:lnSpc>
                          <a:spcPct val="119988"/>
                        </a:lnSpc>
                        <a:spcBef>
                          <a:spcPts val="0"/>
                        </a:spcBef>
                        <a:spcAft>
                          <a:spcPts val="0"/>
                        </a:spcAft>
                        <a:buNone/>
                      </a:pPr>
                      <a:r>
                        <a:rPr lang="en-US" sz="1801" u="none" cap="none" strike="noStrike">
                          <a:solidFill>
                            <a:srgbClr val="2B3542"/>
                          </a:solidFill>
                          <a:latin typeface="Inter"/>
                          <a:ea typeface="Inter"/>
                          <a:cs typeface="Inter"/>
                          <a:sym typeface="Inter"/>
                        </a:rPr>
                        <a:t>Pertahankan Buffer</a:t>
                      </a:r>
                      <a:endParaRPr sz="1100" u="none" cap="none" strike="noStrike"/>
                    </a:p>
                  </a:txBody>
                  <a:tcPr marT="108350" marB="108350" marR="108350" marL="108350" anchor="ctr">
                    <a:lnL cap="flat" cmpd="sng" w="12700">
                      <a:solidFill>
                        <a:srgbClr val="F8FAFC"/>
                      </a:solidFill>
                      <a:prstDash val="solid"/>
                      <a:round/>
                      <a:headEnd len="sm" w="sm" type="none"/>
                      <a:tailEnd len="sm" w="sm" type="none"/>
                    </a:lnL>
                    <a:lnR cap="flat" cmpd="sng" w="12700">
                      <a:solidFill>
                        <a:srgbClr val="F8FAFC"/>
                      </a:solidFill>
                      <a:prstDash val="solid"/>
                      <a:round/>
                      <a:headEnd len="sm" w="sm" type="none"/>
                      <a:tailEnd len="sm" w="sm" type="none"/>
                    </a:lnR>
                    <a:lnT cap="flat" cmpd="sng" w="12700">
                      <a:solidFill>
                        <a:srgbClr val="0F1B2B"/>
                      </a:solidFill>
                      <a:prstDash val="solid"/>
                      <a:round/>
                      <a:headEnd len="sm" w="sm" type="none"/>
                      <a:tailEnd len="sm" w="sm" type="none"/>
                    </a:lnT>
                    <a:lnB cap="flat" cmpd="sng" w="12700">
                      <a:solidFill>
                        <a:srgbClr val="F8FAFC"/>
                      </a:solidFill>
                      <a:prstDash val="solid"/>
                      <a:round/>
                      <a:headEnd len="sm" w="sm" type="none"/>
                      <a:tailEnd len="sm" w="sm" type="none"/>
                    </a:lnB>
                  </a:tcPr>
                </a:tc>
              </a:tr>
            </a:tbl>
          </a:graphicData>
        </a:graphic>
      </p:graphicFrame>
      <p:sp>
        <p:nvSpPr>
          <p:cNvPr id="467" name="Google Shape;467;p23"/>
          <p:cNvSpPr txBox="1"/>
          <p:nvPr/>
        </p:nvSpPr>
        <p:spPr>
          <a:xfrm>
            <a:off x="631851" y="8928272"/>
            <a:ext cx="7071703" cy="279254"/>
          </a:xfrm>
          <a:prstGeom prst="rect">
            <a:avLst/>
          </a:prstGeom>
          <a:noFill/>
          <a:ln>
            <a:noFill/>
          </a:ln>
        </p:spPr>
        <p:txBody>
          <a:bodyPr anchorCtr="0" anchor="t" bIns="0" lIns="0" spcFirstLastPara="1" rIns="0" wrap="square" tIns="0">
            <a:spAutoFit/>
          </a:bodyPr>
          <a:lstStyle/>
          <a:p>
            <a:pPr indent="0" lvl="0" marL="0" marR="0" rtl="0" algn="l">
              <a:lnSpc>
                <a:spcPct val="129568"/>
              </a:lnSpc>
              <a:spcBef>
                <a:spcPts val="0"/>
              </a:spcBef>
              <a:spcAft>
                <a:spcPts val="0"/>
              </a:spcAft>
              <a:buNone/>
            </a:pPr>
            <a:r>
              <a:rPr b="0" i="0" lang="en-US" spc="15" sz="1576" u="none" cap="none" strike="noStrike">
                <a:solidFill>
                  <a:srgbClr val="66625A"/>
                </a:solidFill>
                <a:latin typeface="Inter"/>
                <a:ea typeface="Inter"/>
                <a:cs typeface="Inter"/>
                <a:sym typeface="Inter"/>
              </a:rPr>
              <a:t>Akurasi Baseline Permintaan: 67,3% · Model Prediktif 2024</a:t>
            </a:r>
            <a:endParaRPr/>
          </a:p>
        </p:txBody>
      </p:sp>
      <p:sp>
        <p:nvSpPr>
          <p:cNvPr id="468" name="Google Shape;468;p23"/>
          <p:cNvSpPr/>
          <p:nvPr/>
        </p:nvSpPr>
        <p:spPr>
          <a:xfrm>
            <a:off x="0" y="9723091"/>
            <a:ext cx="18301811" cy="14287"/>
          </a:xfrm>
          <a:custGeom>
            <a:rect b="b" l="l" r="r" t="t"/>
            <a:pathLst>
              <a:path extrusionOk="0" h="19050" w="24402414">
                <a:moveTo>
                  <a:pt x="0" y="0"/>
                </a:moveTo>
                <a:lnTo>
                  <a:pt x="24402414" y="0"/>
                </a:lnTo>
                <a:lnTo>
                  <a:pt x="24402414" y="19050"/>
                </a:lnTo>
                <a:lnTo>
                  <a:pt x="0" y="19050"/>
                </a:lnTo>
                <a:close/>
              </a:path>
            </a:pathLst>
          </a:custGeom>
          <a:solidFill>
            <a:srgbClr val="2B3542">
              <a:alpha val="3922"/>
            </a:srgbClr>
          </a:solidFill>
          <a:ln>
            <a:noFill/>
          </a:ln>
        </p:spPr>
      </p:sp>
      <p:grpSp>
        <p:nvGrpSpPr>
          <p:cNvPr id="469" name="Google Shape;469;p23"/>
          <p:cNvGrpSpPr/>
          <p:nvPr/>
        </p:nvGrpSpPr>
        <p:grpSpPr>
          <a:xfrm>
            <a:off x="293380" y="9612742"/>
            <a:ext cx="7167785" cy="521294"/>
            <a:chOff x="0" y="-28575"/>
            <a:chExt cx="9557046" cy="695058"/>
          </a:xfrm>
        </p:grpSpPr>
        <p:sp>
          <p:nvSpPr>
            <p:cNvPr id="470" name="Google Shape;470;p23"/>
            <p:cNvSpPr/>
            <p:nvPr/>
          </p:nvSpPr>
          <p:spPr>
            <a:xfrm>
              <a:off x="0" y="0"/>
              <a:ext cx="9557046" cy="666483"/>
            </a:xfrm>
            <a:custGeom>
              <a:rect b="b" l="l" r="r" t="t"/>
              <a:pathLst>
                <a:path extrusionOk="0" h="666483" w="9557046">
                  <a:moveTo>
                    <a:pt x="0" y="0"/>
                  </a:moveTo>
                  <a:lnTo>
                    <a:pt x="9557046" y="0"/>
                  </a:lnTo>
                  <a:lnTo>
                    <a:pt x="9557046" y="666483"/>
                  </a:lnTo>
                  <a:lnTo>
                    <a:pt x="0" y="666483"/>
                  </a:lnTo>
                  <a:close/>
                </a:path>
              </a:pathLst>
            </a:custGeom>
            <a:blipFill rotWithShape="1">
              <a:blip r:embed="rId3">
                <a:alphaModFix amt="0"/>
              </a:blip>
              <a:stretch>
                <a:fillRect b="-181075" l="0" r="17296" t="-181075"/>
              </a:stretch>
            </a:blipFill>
            <a:ln>
              <a:noFill/>
            </a:ln>
          </p:spPr>
        </p:sp>
        <p:sp>
          <p:nvSpPr>
            <p:cNvPr id="471" name="Google Shape;471;p23"/>
            <p:cNvSpPr txBox="1"/>
            <p:nvPr/>
          </p:nvSpPr>
          <p:spPr>
            <a:xfrm>
              <a:off x="0" y="-28575"/>
              <a:ext cx="9557042" cy="695052"/>
            </a:xfrm>
            <a:prstGeom prst="rect">
              <a:avLst/>
            </a:prstGeom>
            <a:noFill/>
            <a:ln>
              <a:noFill/>
            </a:ln>
          </p:spPr>
          <p:txBody>
            <a:bodyPr anchorCtr="0" anchor="ctr" bIns="0" lIns="0" spcFirstLastPara="1" rIns="0" wrap="square" tIns="0">
              <a:noAutofit/>
            </a:bodyPr>
            <a:lstStyle/>
            <a:p>
              <a:pPr indent="0" lvl="0" marL="0" marR="0" rtl="0" algn="l">
                <a:lnSpc>
                  <a:spcPct val="138008"/>
                </a:lnSpc>
                <a:spcBef>
                  <a:spcPts val="0"/>
                </a:spcBef>
                <a:spcAft>
                  <a:spcPts val="0"/>
                </a:spcAft>
                <a:buNone/>
              </a:pPr>
              <a:r>
                <a:rPr b="0" i="0" lang="en-US" spc="142" sz="1426" u="none" cap="none" strike="noStrike">
                  <a:solidFill>
                    <a:srgbClr val="2B3542"/>
                  </a:solidFill>
                  <a:latin typeface="Inter"/>
                  <a:ea typeface="Inter"/>
                  <a:cs typeface="Inter"/>
                  <a:sym typeface="Inter"/>
                </a:rPr>
                <a:t>GLOBAL FMCG SUPPLY CHAIN ANALYTICS — EXECUTIVE REPORT</a:t>
              </a:r>
              <a:endParaRPr/>
            </a:p>
          </p:txBody>
        </p:sp>
      </p:grpSp>
      <p:sp>
        <p:nvSpPr>
          <p:cNvPr id="472" name="Google Shape;472;p23"/>
          <p:cNvSpPr/>
          <p:nvPr/>
        </p:nvSpPr>
        <p:spPr>
          <a:xfrm>
            <a:off x="10657772" y="5448532"/>
            <a:ext cx="6601528" cy="4306008"/>
          </a:xfrm>
          <a:custGeom>
            <a:rect b="b" l="l" r="r" t="t"/>
            <a:pathLst>
              <a:path extrusionOk="0" h="4306008" w="6601528">
                <a:moveTo>
                  <a:pt x="0" y="0"/>
                </a:moveTo>
                <a:lnTo>
                  <a:pt x="6601528" y="0"/>
                </a:lnTo>
                <a:lnTo>
                  <a:pt x="6601528" y="4306008"/>
                </a:lnTo>
                <a:lnTo>
                  <a:pt x="0" y="4306008"/>
                </a:lnTo>
                <a:lnTo>
                  <a:pt x="0" y="0"/>
                </a:lnTo>
                <a:close/>
              </a:path>
            </a:pathLst>
          </a:custGeom>
          <a:blipFill rotWithShape="1">
            <a:blip r:embed="rId4">
              <a:alphaModFix/>
            </a:blip>
            <a:stretch>
              <a:fillRect b="-75959" l="-120702" r="0" t="-160934"/>
            </a:stretch>
          </a:blipFill>
          <a:ln>
            <a:noFill/>
          </a:ln>
        </p:spPr>
      </p:sp>
      <p:grpSp>
        <p:nvGrpSpPr>
          <p:cNvPr id="473" name="Google Shape;473;p23"/>
          <p:cNvGrpSpPr/>
          <p:nvPr/>
        </p:nvGrpSpPr>
        <p:grpSpPr>
          <a:xfrm>
            <a:off x="15480401" y="-80619"/>
            <a:ext cx="4516946" cy="1127273"/>
            <a:chOff x="0" y="-241102"/>
            <a:chExt cx="6022595" cy="1503032"/>
          </a:xfrm>
        </p:grpSpPr>
        <p:grpSp>
          <p:nvGrpSpPr>
            <p:cNvPr id="474" name="Google Shape;474;p23"/>
            <p:cNvGrpSpPr/>
            <p:nvPr/>
          </p:nvGrpSpPr>
          <p:grpSpPr>
            <a:xfrm>
              <a:off x="0" y="-241102"/>
              <a:ext cx="6022595" cy="1503032"/>
              <a:chOff x="0" y="-47625"/>
              <a:chExt cx="1189648" cy="296895"/>
            </a:xfrm>
          </p:grpSpPr>
          <p:sp>
            <p:nvSpPr>
              <p:cNvPr id="475" name="Google Shape;475;p23"/>
              <p:cNvSpPr/>
              <p:nvPr/>
            </p:nvSpPr>
            <p:spPr>
              <a:xfrm>
                <a:off x="0" y="0"/>
                <a:ext cx="1189648" cy="249270"/>
              </a:xfrm>
              <a:custGeom>
                <a:rect b="b" l="l" r="r" t="t"/>
                <a:pathLst>
                  <a:path extrusionOk="0" h="249270" w="1189648">
                    <a:moveTo>
                      <a:pt x="87413" y="0"/>
                    </a:moveTo>
                    <a:lnTo>
                      <a:pt x="1102236" y="0"/>
                    </a:lnTo>
                    <a:cubicBezTo>
                      <a:pt x="1125419" y="0"/>
                      <a:pt x="1147653" y="9210"/>
                      <a:pt x="1164046" y="25603"/>
                    </a:cubicBezTo>
                    <a:cubicBezTo>
                      <a:pt x="1180439" y="41996"/>
                      <a:pt x="1189648" y="64229"/>
                      <a:pt x="1189648" y="87413"/>
                    </a:cubicBezTo>
                    <a:lnTo>
                      <a:pt x="1189648" y="161858"/>
                    </a:lnTo>
                    <a:cubicBezTo>
                      <a:pt x="1189648" y="185041"/>
                      <a:pt x="1180439" y="207275"/>
                      <a:pt x="1164046" y="223668"/>
                    </a:cubicBezTo>
                    <a:cubicBezTo>
                      <a:pt x="1147653" y="240061"/>
                      <a:pt x="1125419" y="249270"/>
                      <a:pt x="1102236" y="249270"/>
                    </a:cubicBezTo>
                    <a:lnTo>
                      <a:pt x="87413" y="249270"/>
                    </a:lnTo>
                    <a:cubicBezTo>
                      <a:pt x="64229" y="249270"/>
                      <a:pt x="41996" y="240061"/>
                      <a:pt x="25603" y="223668"/>
                    </a:cubicBezTo>
                    <a:cubicBezTo>
                      <a:pt x="9210" y="207275"/>
                      <a:pt x="0" y="185041"/>
                      <a:pt x="0" y="161858"/>
                    </a:cubicBezTo>
                    <a:lnTo>
                      <a:pt x="0" y="87413"/>
                    </a:lnTo>
                    <a:cubicBezTo>
                      <a:pt x="0" y="64229"/>
                      <a:pt x="9210" y="41996"/>
                      <a:pt x="25603" y="25603"/>
                    </a:cubicBezTo>
                    <a:cubicBezTo>
                      <a:pt x="41996" y="9210"/>
                      <a:pt x="64229" y="0"/>
                      <a:pt x="87413" y="0"/>
                    </a:cubicBezTo>
                    <a:close/>
                  </a:path>
                </a:pathLst>
              </a:custGeom>
              <a:solidFill>
                <a:srgbClr val="FE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 name="Google Shape;476;p23"/>
              <p:cNvSpPr txBox="1"/>
              <p:nvPr/>
            </p:nvSpPr>
            <p:spPr>
              <a:xfrm>
                <a:off x="0" y="-47625"/>
                <a:ext cx="1189648" cy="296895"/>
              </a:xfrm>
              <a:prstGeom prst="rect">
                <a:avLst/>
              </a:prstGeom>
              <a:noFill/>
              <a:ln>
                <a:noFill/>
              </a:ln>
            </p:spPr>
            <p:txBody>
              <a:bodyPr anchorCtr="0" anchor="ctr" bIns="50800" lIns="50800" spcFirstLastPara="1" rIns="50800" wrap="square" tIns="50800">
                <a:noAutofit/>
              </a:bodyPr>
              <a:lstStyle/>
              <a:p>
                <a:pPr indent="0" lvl="0" marL="0" marR="0" rtl="0" algn="ctr">
                  <a:lnSpc>
                    <a:spcPct val="155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477" name="Google Shape;477;p23"/>
            <p:cNvSpPr/>
            <p:nvPr/>
          </p:nvSpPr>
          <p:spPr>
            <a:xfrm>
              <a:off x="483631" y="226255"/>
              <a:ext cx="2676306" cy="809419"/>
            </a:xfrm>
            <a:custGeom>
              <a:rect b="b" l="l" r="r" t="t"/>
              <a:pathLst>
                <a:path extrusionOk="0" h="809419" w="2676306">
                  <a:moveTo>
                    <a:pt x="0" y="0"/>
                  </a:moveTo>
                  <a:lnTo>
                    <a:pt x="2676305" y="0"/>
                  </a:lnTo>
                  <a:lnTo>
                    <a:pt x="2676305" y="809420"/>
                  </a:lnTo>
                  <a:lnTo>
                    <a:pt x="0" y="809420"/>
                  </a:lnTo>
                  <a:lnTo>
                    <a:pt x="0" y="0"/>
                  </a:lnTo>
                  <a:close/>
                </a:path>
              </a:pathLst>
            </a:custGeom>
            <a:blipFill rotWithShape="1">
              <a:blip r:embed="rId5">
                <a:alphaModFix/>
              </a:blip>
              <a:stretch>
                <a:fillRect b="0" l="0" r="0" t="0"/>
              </a:stretch>
            </a:blipFill>
            <a:ln>
              <a:noFill/>
            </a:ln>
          </p:spPr>
        </p:sp>
      </p:gr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485" name="Shape 485"/>
        <p:cNvGrpSpPr/>
        <p:nvPr/>
      </p:nvGrpSpPr>
      <p:grpSpPr>
        <a:xfrm>
          <a:off x="0" y="0"/>
          <a:ext cx="0" cy="0"/>
          <a:chOff x="0" y="0"/>
          <a:chExt cx="0" cy="0"/>
        </a:xfrm>
      </p:grpSpPr>
      <p:sp>
        <p:nvSpPr>
          <p:cNvPr id="486" name="Google Shape;486;p24"/>
          <p:cNvSpPr txBox="1"/>
          <p:nvPr/>
        </p:nvSpPr>
        <p:spPr>
          <a:xfrm>
            <a:off x="762581" y="753075"/>
            <a:ext cx="17539268" cy="226838"/>
          </a:xfrm>
          <a:prstGeom prst="rect">
            <a:avLst/>
          </a:prstGeom>
          <a:noFill/>
          <a:ln>
            <a:noFill/>
          </a:ln>
        </p:spPr>
        <p:txBody>
          <a:bodyPr anchorCtr="0" anchor="t" bIns="0" lIns="0" spcFirstLastPara="1" rIns="0" wrap="square" tIns="0">
            <a:spAutoFit/>
          </a:bodyPr>
          <a:lstStyle/>
          <a:p>
            <a:pPr indent="0" lvl="0" marL="0" marR="0" rtl="0" algn="l">
              <a:lnSpc>
                <a:spcPct val="119985"/>
              </a:lnSpc>
              <a:spcBef>
                <a:spcPts val="0"/>
              </a:spcBef>
              <a:spcAft>
                <a:spcPts val="0"/>
              </a:spcAft>
              <a:buNone/>
            </a:pPr>
            <a:r>
              <a:rPr b="0" i="0" lang="en-US" spc="199" sz="1426" u="none" cap="none" strike="noStrike">
                <a:solidFill>
                  <a:srgbClr val="1B2638"/>
                </a:solidFill>
                <a:latin typeface="Inter"/>
                <a:ea typeface="Inter"/>
                <a:cs typeface="Inter"/>
                <a:sym typeface="Inter"/>
              </a:rPr>
              <a:t>08 KINERJA PEMASOK &amp; PENGADAAN</a:t>
            </a:r>
            <a:endParaRPr/>
          </a:p>
        </p:txBody>
      </p:sp>
      <p:sp>
        <p:nvSpPr>
          <p:cNvPr id="487" name="Google Shape;487;p24"/>
          <p:cNvSpPr txBox="1"/>
          <p:nvPr/>
        </p:nvSpPr>
        <p:spPr>
          <a:xfrm>
            <a:off x="762581" y="1075230"/>
            <a:ext cx="16776687" cy="533819"/>
          </a:xfrm>
          <a:prstGeom prst="rect">
            <a:avLst/>
          </a:prstGeom>
          <a:noFill/>
          <a:ln>
            <a:noFill/>
          </a:ln>
        </p:spPr>
        <p:txBody>
          <a:bodyPr anchorCtr="0" anchor="t" bIns="0" lIns="0" spcFirstLastPara="1" rIns="0" wrap="square" tIns="0">
            <a:spAutoFit/>
          </a:bodyPr>
          <a:lstStyle/>
          <a:p>
            <a:pPr indent="0" lvl="0" marL="0" marR="0" rtl="0" algn="l">
              <a:lnSpc>
                <a:spcPct val="111620"/>
              </a:lnSpc>
              <a:spcBef>
                <a:spcPts val="0"/>
              </a:spcBef>
              <a:spcAft>
                <a:spcPts val="0"/>
              </a:spcAft>
              <a:buNone/>
            </a:pPr>
            <a:r>
              <a:rPr b="0" i="0" lang="en-US" spc="-18" sz="3752" u="none" cap="none" strike="noStrike">
                <a:solidFill>
                  <a:srgbClr val="0F1B2B"/>
                </a:solidFill>
                <a:latin typeface="Arimo"/>
                <a:ea typeface="Arimo"/>
                <a:cs typeface="Arimo"/>
                <a:sym typeface="Arimo"/>
              </a:rPr>
              <a:t>Supplier relatif andal, tetapi PO perlu dipandu oleh variasi lead time</a:t>
            </a:r>
            <a:endParaRPr/>
          </a:p>
        </p:txBody>
      </p:sp>
      <p:sp>
        <p:nvSpPr>
          <p:cNvPr id="488" name="Google Shape;488;p24"/>
          <p:cNvSpPr/>
          <p:nvPr/>
        </p:nvSpPr>
        <p:spPr>
          <a:xfrm>
            <a:off x="762581" y="1887874"/>
            <a:ext cx="16776573" cy="28575"/>
          </a:xfrm>
          <a:custGeom>
            <a:rect b="b" l="l" r="r" t="t"/>
            <a:pathLst>
              <a:path extrusionOk="0" h="38100" w="22368763">
                <a:moveTo>
                  <a:pt x="0" y="19050"/>
                </a:moveTo>
                <a:cubicBezTo>
                  <a:pt x="0" y="8509"/>
                  <a:pt x="8509" y="0"/>
                  <a:pt x="19050" y="0"/>
                </a:cubicBezTo>
                <a:lnTo>
                  <a:pt x="22349713" y="0"/>
                </a:lnTo>
                <a:cubicBezTo>
                  <a:pt x="22360254" y="0"/>
                  <a:pt x="22368763" y="8509"/>
                  <a:pt x="22368763" y="19050"/>
                </a:cubicBezTo>
                <a:cubicBezTo>
                  <a:pt x="22368763" y="29591"/>
                  <a:pt x="22360254" y="38100"/>
                  <a:pt x="22349713" y="38100"/>
                </a:cubicBezTo>
                <a:lnTo>
                  <a:pt x="19050" y="38100"/>
                </a:lnTo>
                <a:cubicBezTo>
                  <a:pt x="8509" y="38100"/>
                  <a:pt x="0" y="29591"/>
                  <a:pt x="0" y="19050"/>
                </a:cubicBezTo>
                <a:close/>
              </a:path>
            </a:pathLst>
          </a:custGeom>
          <a:solidFill>
            <a:srgbClr val="CEC6B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 name="Google Shape;489;p24"/>
          <p:cNvSpPr txBox="1"/>
          <p:nvPr/>
        </p:nvSpPr>
        <p:spPr>
          <a:xfrm>
            <a:off x="762574" y="2171475"/>
            <a:ext cx="5445000" cy="219600"/>
          </a:xfrm>
          <a:prstGeom prst="rect">
            <a:avLst/>
          </a:prstGeom>
          <a:noFill/>
          <a:ln>
            <a:noFill/>
          </a:ln>
        </p:spPr>
        <p:txBody>
          <a:bodyPr anchorCtr="0" anchor="t" bIns="0" lIns="0" spcFirstLastPara="1" rIns="0" wrap="square" tIns="0">
            <a:spAutoFit/>
          </a:bodyPr>
          <a:lstStyle/>
          <a:p>
            <a:pPr indent="0" lvl="0" marL="0" marR="0" rtl="0" algn="l">
              <a:lnSpc>
                <a:spcPct val="119985"/>
              </a:lnSpc>
              <a:spcBef>
                <a:spcPts val="0"/>
              </a:spcBef>
              <a:spcAft>
                <a:spcPts val="0"/>
              </a:spcAft>
              <a:buNone/>
            </a:pPr>
            <a:r>
              <a:rPr b="0" i="0" lang="en-US" spc="142" sz="1426" u="none" cap="none" strike="noStrike">
                <a:solidFill>
                  <a:srgbClr val="1B2638"/>
                </a:solidFill>
                <a:latin typeface="Inter"/>
                <a:ea typeface="Inter"/>
                <a:cs typeface="Inter"/>
                <a:sym typeface="Inter"/>
              </a:rPr>
              <a:t>MATRIKS PENGADAAN DAN ALOKASI MODAL</a:t>
            </a:r>
            <a:endParaRPr/>
          </a:p>
        </p:txBody>
      </p:sp>
      <p:sp>
        <p:nvSpPr>
          <p:cNvPr id="490" name="Google Shape;490;p24"/>
          <p:cNvSpPr txBox="1"/>
          <p:nvPr/>
        </p:nvSpPr>
        <p:spPr>
          <a:xfrm>
            <a:off x="762581" y="2488892"/>
            <a:ext cx="9247584" cy="2431637"/>
          </a:xfrm>
          <a:prstGeom prst="rect">
            <a:avLst/>
          </a:prstGeom>
          <a:noFill/>
          <a:ln>
            <a:noFill/>
          </a:ln>
        </p:spPr>
        <p:txBody>
          <a:bodyPr anchorCtr="0" anchor="t" bIns="0" lIns="0" spcFirstLastPara="1" rIns="0" wrap="square" tIns="0">
            <a:spAutoFit/>
          </a:bodyPr>
          <a:lstStyle/>
          <a:p>
            <a:pPr indent="-197118" lvl="1" marL="394236" marR="0" rtl="0" algn="l">
              <a:lnSpc>
                <a:spcPct val="138005"/>
              </a:lnSpc>
              <a:spcBef>
                <a:spcPts val="0"/>
              </a:spcBef>
              <a:spcAft>
                <a:spcPts val="0"/>
              </a:spcAft>
              <a:buClr>
                <a:srgbClr val="2B3542"/>
              </a:buClr>
              <a:buSzPts val="2176"/>
              <a:buFont typeface="Arial"/>
              <a:buChar char="•"/>
            </a:pPr>
            <a:r>
              <a:rPr b="0" i="0" lang="en-US" sz="2176" u="none" cap="none" strike="noStrike">
                <a:solidFill>
                  <a:srgbClr val="2B3542"/>
                </a:solidFill>
                <a:latin typeface="Inter"/>
                <a:ea typeface="Inter"/>
                <a:cs typeface="Inter"/>
                <a:sym typeface="Inter"/>
              </a:rPr>
              <a:t>Supplier performance scatter plot memetakan lead time sekitar 6,5 hari dengan OTIF sekitar 97%</a:t>
            </a:r>
            <a:endParaRPr/>
          </a:p>
          <a:p>
            <a:pPr indent="-197118" lvl="1" marL="394236" marR="0" rtl="0" algn="l">
              <a:lnSpc>
                <a:spcPct val="138005"/>
              </a:lnSpc>
              <a:spcBef>
                <a:spcPts val="0"/>
              </a:spcBef>
              <a:spcAft>
                <a:spcPts val="0"/>
              </a:spcAft>
              <a:buClr>
                <a:srgbClr val="2B3542"/>
              </a:buClr>
              <a:buSzPts val="2176"/>
              <a:buFont typeface="Arial"/>
              <a:buChar char="•"/>
            </a:pPr>
            <a:r>
              <a:rPr b="0" i="0" lang="en-US" sz="2176" u="none" cap="none" strike="noStrike">
                <a:solidFill>
                  <a:srgbClr val="2B3542"/>
                </a:solidFill>
                <a:latin typeface="Inter"/>
                <a:ea typeface="Inter"/>
                <a:cs typeface="Inter"/>
                <a:sym typeface="Inter"/>
              </a:rPr>
              <a:t>Suggested PO units berada di kisaran 23,8K–24,3K unit per supplier dan kategori</a:t>
            </a:r>
            <a:endParaRPr/>
          </a:p>
          <a:p>
            <a:pPr indent="-197118" lvl="1" marL="394236" marR="0" rtl="0" algn="l">
              <a:lnSpc>
                <a:spcPct val="138005"/>
              </a:lnSpc>
              <a:spcBef>
                <a:spcPts val="0"/>
              </a:spcBef>
              <a:spcAft>
                <a:spcPts val="0"/>
              </a:spcAft>
              <a:buClr>
                <a:srgbClr val="2B3542"/>
              </a:buClr>
              <a:buSzPts val="2176"/>
              <a:buFont typeface="Arial"/>
              <a:buChar char="•"/>
            </a:pPr>
            <a:r>
              <a:rPr b="0" i="0" lang="en-US" sz="2176" u="none" cap="none" strike="noStrike">
                <a:solidFill>
                  <a:srgbClr val="2B3542"/>
                </a:solidFill>
                <a:latin typeface="Inter"/>
                <a:ea typeface="Inter"/>
                <a:cs typeface="Inter"/>
                <a:sym typeface="Inter"/>
              </a:rPr>
              <a:t>Overstock terbesar berada pada Snacks $19,0M dan Personal Care $15,8M</a:t>
            </a:r>
            <a:endParaRPr/>
          </a:p>
        </p:txBody>
      </p:sp>
      <p:sp>
        <p:nvSpPr>
          <p:cNvPr id="491" name="Google Shape;491;p24"/>
          <p:cNvSpPr/>
          <p:nvPr/>
        </p:nvSpPr>
        <p:spPr>
          <a:xfrm>
            <a:off x="762581" y="6682397"/>
            <a:ext cx="9247537" cy="1838230"/>
          </a:xfrm>
          <a:custGeom>
            <a:rect b="b" l="l" r="r" t="t"/>
            <a:pathLst>
              <a:path extrusionOk="0" h="2450973" w="12330049">
                <a:moveTo>
                  <a:pt x="0" y="0"/>
                </a:moveTo>
                <a:lnTo>
                  <a:pt x="12330049" y="0"/>
                </a:lnTo>
                <a:lnTo>
                  <a:pt x="12330049" y="2450973"/>
                </a:lnTo>
                <a:lnTo>
                  <a:pt x="0" y="2450973"/>
                </a:lnTo>
                <a:close/>
              </a:path>
            </a:pathLst>
          </a:custGeom>
          <a:solidFill>
            <a:srgbClr val="EDF2F7"/>
          </a:solidFill>
          <a:ln>
            <a:noFill/>
          </a:ln>
        </p:spPr>
      </p:sp>
      <p:sp>
        <p:nvSpPr>
          <p:cNvPr id="492" name="Google Shape;492;p24"/>
          <p:cNvSpPr/>
          <p:nvPr/>
        </p:nvSpPr>
        <p:spPr>
          <a:xfrm>
            <a:off x="762581" y="6682397"/>
            <a:ext cx="9247537" cy="57150"/>
          </a:xfrm>
          <a:custGeom>
            <a:rect b="b" l="l" r="r" t="t"/>
            <a:pathLst>
              <a:path extrusionOk="0" h="76200" w="12330049">
                <a:moveTo>
                  <a:pt x="0" y="0"/>
                </a:moveTo>
                <a:lnTo>
                  <a:pt x="12330049" y="0"/>
                </a:lnTo>
                <a:lnTo>
                  <a:pt x="12330049" y="76200"/>
                </a:lnTo>
                <a:lnTo>
                  <a:pt x="0" y="76200"/>
                </a:lnTo>
                <a:close/>
              </a:path>
            </a:pathLst>
          </a:custGeom>
          <a:solidFill>
            <a:srgbClr val="0CC0DF"/>
          </a:solidFill>
          <a:ln>
            <a:noFill/>
          </a:ln>
        </p:spPr>
      </p:sp>
      <p:sp>
        <p:nvSpPr>
          <p:cNvPr id="493" name="Google Shape;493;p24"/>
          <p:cNvSpPr txBox="1"/>
          <p:nvPr/>
        </p:nvSpPr>
        <p:spPr>
          <a:xfrm>
            <a:off x="1029481" y="6882584"/>
            <a:ext cx="8980684" cy="226838"/>
          </a:xfrm>
          <a:prstGeom prst="rect">
            <a:avLst/>
          </a:prstGeom>
          <a:noFill/>
          <a:ln>
            <a:noFill/>
          </a:ln>
        </p:spPr>
        <p:txBody>
          <a:bodyPr anchorCtr="0" anchor="t" bIns="0" lIns="0" spcFirstLastPara="1" rIns="0" wrap="square" tIns="0">
            <a:spAutoFit/>
          </a:bodyPr>
          <a:lstStyle/>
          <a:p>
            <a:pPr indent="0" lvl="0" marL="0" marR="0" rtl="0" algn="l">
              <a:lnSpc>
                <a:spcPct val="119985"/>
              </a:lnSpc>
              <a:spcBef>
                <a:spcPts val="0"/>
              </a:spcBef>
              <a:spcAft>
                <a:spcPts val="0"/>
              </a:spcAft>
              <a:buNone/>
            </a:pPr>
            <a:r>
              <a:rPr b="0" i="0" lang="en-US" spc="142" sz="1426" u="none" cap="none" strike="noStrike">
                <a:solidFill>
                  <a:srgbClr val="2B3542"/>
                </a:solidFill>
                <a:latin typeface="Inter"/>
                <a:ea typeface="Inter"/>
                <a:cs typeface="Inter"/>
                <a:sym typeface="Inter"/>
              </a:rPr>
              <a:t>ARAH KEBIJAKAN PENGADAAN</a:t>
            </a:r>
            <a:endParaRPr/>
          </a:p>
        </p:txBody>
      </p:sp>
      <p:sp>
        <p:nvSpPr>
          <p:cNvPr id="494" name="Google Shape;494;p24"/>
          <p:cNvSpPr txBox="1"/>
          <p:nvPr/>
        </p:nvSpPr>
        <p:spPr>
          <a:xfrm>
            <a:off x="1029481" y="7190422"/>
            <a:ext cx="8713784" cy="1182443"/>
          </a:xfrm>
          <a:prstGeom prst="rect">
            <a:avLst/>
          </a:prstGeom>
          <a:noFill/>
          <a:ln>
            <a:noFill/>
          </a:ln>
        </p:spPr>
        <p:txBody>
          <a:bodyPr anchorCtr="0" anchor="t" bIns="0" lIns="0" spcFirstLastPara="1" rIns="0" wrap="square" tIns="0">
            <a:spAutoFit/>
          </a:bodyPr>
          <a:lstStyle/>
          <a:p>
            <a:pPr indent="0" lvl="0" marL="0" marR="0" rtl="0" algn="l">
              <a:lnSpc>
                <a:spcPct val="138005"/>
              </a:lnSpc>
              <a:spcBef>
                <a:spcPts val="0"/>
              </a:spcBef>
              <a:spcAft>
                <a:spcPts val="0"/>
              </a:spcAft>
              <a:buNone/>
            </a:pPr>
            <a:r>
              <a:rPr b="0" i="0" lang="en-US" sz="2176" u="none" cap="none" strike="noStrike">
                <a:solidFill>
                  <a:srgbClr val="2B3542"/>
                </a:solidFill>
                <a:latin typeface="Inter"/>
                <a:ea typeface="Inter"/>
                <a:cs typeface="Inter"/>
                <a:sym typeface="Inter"/>
              </a:rPr>
              <a:t>Meskipun OTIF tinggi (97%), sedikit deviasi pada lead time (6,44–6,69 hari) menyebabkan PO over-ordering bernilai jutaan dolar pada kategori Snacks dan Personal Care.</a:t>
            </a:r>
            <a:endParaRPr/>
          </a:p>
        </p:txBody>
      </p:sp>
      <p:sp>
        <p:nvSpPr>
          <p:cNvPr id="495" name="Google Shape;495;p24"/>
          <p:cNvSpPr txBox="1"/>
          <p:nvPr/>
        </p:nvSpPr>
        <p:spPr>
          <a:xfrm>
            <a:off x="10467556" y="2171471"/>
            <a:ext cx="4380210" cy="219075"/>
          </a:xfrm>
          <a:prstGeom prst="rect">
            <a:avLst/>
          </a:prstGeom>
          <a:noFill/>
          <a:ln>
            <a:noFill/>
          </a:ln>
        </p:spPr>
        <p:txBody>
          <a:bodyPr anchorCtr="0" anchor="t" bIns="0" lIns="0" spcFirstLastPara="1" rIns="0" wrap="square" tIns="0">
            <a:spAutoFit/>
          </a:bodyPr>
          <a:lstStyle/>
          <a:p>
            <a:pPr indent="0" lvl="0" marL="0" marR="0" rtl="0" algn="l">
              <a:lnSpc>
                <a:spcPct val="119985"/>
              </a:lnSpc>
              <a:spcBef>
                <a:spcPts val="0"/>
              </a:spcBef>
              <a:spcAft>
                <a:spcPts val="0"/>
              </a:spcAft>
              <a:buNone/>
            </a:pPr>
            <a:r>
              <a:rPr b="0" i="0" lang="en-US" spc="142" sz="1426" u="none" cap="none" strike="noStrike">
                <a:solidFill>
                  <a:srgbClr val="1B2638"/>
                </a:solidFill>
                <a:latin typeface="Inter"/>
                <a:ea typeface="Inter"/>
                <a:cs typeface="Inter"/>
                <a:sym typeface="Inter"/>
              </a:rPr>
              <a:t>KONSENTRASI OVERSTOCK PER KATEGORI</a:t>
            </a:r>
            <a:endParaRPr/>
          </a:p>
        </p:txBody>
      </p:sp>
      <p:graphicFrame>
        <p:nvGraphicFramePr>
          <p:cNvPr id="496" name="Google Shape;496;p24"/>
          <p:cNvGraphicFramePr/>
          <p:nvPr/>
        </p:nvGraphicFramePr>
        <p:xfrm>
          <a:off x="10467556" y="2526992"/>
          <a:ext cx="3000000" cy="3000000"/>
        </p:xfrm>
        <a:graphic>
          <a:graphicData uri="http://schemas.openxmlformats.org/drawingml/2006/table">
            <a:tbl>
              <a:tblPr>
                <a:noFill/>
                <a:tableStyleId>{EA38B67D-69BF-4426-9D7D-43E40D648462}</a:tableStyleId>
              </a:tblPr>
              <a:tblGrid>
                <a:gridCol w="3508300"/>
                <a:gridCol w="2119950"/>
                <a:gridCol w="1425775"/>
              </a:tblGrid>
              <a:tr h="639675">
                <a:tc>
                  <a:txBody>
                    <a:bodyPr/>
                    <a:lstStyle/>
                    <a:p>
                      <a:pPr indent="0" lvl="0" marL="0" marR="0" rtl="0" algn="l">
                        <a:lnSpc>
                          <a:spcPct val="119985"/>
                        </a:lnSpc>
                        <a:spcBef>
                          <a:spcPts val="0"/>
                        </a:spcBef>
                        <a:spcAft>
                          <a:spcPts val="0"/>
                        </a:spcAft>
                        <a:buNone/>
                      </a:pPr>
                      <a:r>
                        <a:rPr lang="en-US" spc="114" sz="1426" u="none" cap="none" strike="noStrike">
                          <a:solidFill>
                            <a:srgbClr val="0F1B2B"/>
                          </a:solidFill>
                          <a:latin typeface="Inter"/>
                          <a:ea typeface="Inter"/>
                          <a:cs typeface="Inter"/>
                          <a:sym typeface="Inter"/>
                        </a:rPr>
                        <a:t>KATEGORI PRODUK</a:t>
                      </a:r>
                      <a:endParaRPr sz="1100" u="none" cap="none" strike="noStrike"/>
                    </a:p>
                  </a:txBody>
                  <a:tcPr marT="109525" marB="109525" marR="109525" marL="109525" anchor="ctr">
                    <a:lnL cap="flat" cmpd="sng" w="12700">
                      <a:solidFill>
                        <a:srgbClr val="F8FAFC"/>
                      </a:solidFill>
                      <a:prstDash val="solid"/>
                      <a:round/>
                      <a:headEnd len="sm" w="sm" type="none"/>
                      <a:tailEnd len="sm" w="sm" type="none"/>
                    </a:lnL>
                    <a:lnR cap="flat" cmpd="sng" w="12700">
                      <a:solidFill>
                        <a:srgbClr val="F8FAFC"/>
                      </a:solidFill>
                      <a:prstDash val="solid"/>
                      <a:round/>
                      <a:headEnd len="sm" w="sm" type="none"/>
                      <a:tailEnd len="sm" w="sm" type="none"/>
                    </a:lnR>
                    <a:lnT cap="flat" cmpd="sng" w="12700">
                      <a:solidFill>
                        <a:srgbClr val="F8FAFC"/>
                      </a:solidFill>
                      <a:prstDash val="solid"/>
                      <a:round/>
                      <a:headEnd len="sm" w="sm" type="none"/>
                      <a:tailEnd len="sm" w="sm" type="none"/>
                    </a:lnT>
                    <a:lnB cap="flat" cmpd="sng" w="12700">
                      <a:solidFill>
                        <a:srgbClr val="0F1B2B"/>
                      </a:solidFill>
                      <a:prstDash val="solid"/>
                      <a:round/>
                      <a:headEnd len="sm" w="sm" type="none"/>
                      <a:tailEnd len="sm" w="sm" type="none"/>
                    </a:lnB>
                  </a:tcPr>
                </a:tc>
                <a:tc>
                  <a:txBody>
                    <a:bodyPr/>
                    <a:lstStyle/>
                    <a:p>
                      <a:pPr indent="0" lvl="0" marL="0" marR="0" rtl="0" algn="r">
                        <a:lnSpc>
                          <a:spcPct val="119985"/>
                        </a:lnSpc>
                        <a:spcBef>
                          <a:spcPts val="0"/>
                        </a:spcBef>
                        <a:spcAft>
                          <a:spcPts val="0"/>
                        </a:spcAft>
                        <a:buNone/>
                      </a:pPr>
                      <a:r>
                        <a:rPr lang="en-US" spc="114" sz="1426" u="none" cap="none" strike="noStrike">
                          <a:solidFill>
                            <a:srgbClr val="0F1B2B"/>
                          </a:solidFill>
                          <a:latin typeface="Inter"/>
                          <a:ea typeface="Inter"/>
                          <a:cs typeface="Inter"/>
                          <a:sym typeface="Inter"/>
                        </a:rPr>
                        <a:t>OVERSTOCK VALUE</a:t>
                      </a:r>
                      <a:endParaRPr sz="1100" u="none" cap="none" strike="noStrike"/>
                    </a:p>
                  </a:txBody>
                  <a:tcPr marT="109525" marB="109525" marR="109525" marL="109525" anchor="ctr">
                    <a:lnL cap="flat" cmpd="sng" w="12700">
                      <a:solidFill>
                        <a:srgbClr val="F8FAFC"/>
                      </a:solidFill>
                      <a:prstDash val="solid"/>
                      <a:round/>
                      <a:headEnd len="sm" w="sm" type="none"/>
                      <a:tailEnd len="sm" w="sm" type="none"/>
                    </a:lnL>
                    <a:lnR cap="flat" cmpd="sng" w="12700">
                      <a:solidFill>
                        <a:srgbClr val="F8FAFC"/>
                      </a:solidFill>
                      <a:prstDash val="solid"/>
                      <a:round/>
                      <a:headEnd len="sm" w="sm" type="none"/>
                      <a:tailEnd len="sm" w="sm" type="none"/>
                    </a:lnR>
                    <a:lnT cap="flat" cmpd="sng" w="12700">
                      <a:solidFill>
                        <a:srgbClr val="F8FAFC"/>
                      </a:solidFill>
                      <a:prstDash val="solid"/>
                      <a:round/>
                      <a:headEnd len="sm" w="sm" type="none"/>
                      <a:tailEnd len="sm" w="sm" type="none"/>
                    </a:lnT>
                    <a:lnB cap="flat" cmpd="sng" w="12700">
                      <a:solidFill>
                        <a:srgbClr val="0F1B2B"/>
                      </a:solidFill>
                      <a:prstDash val="solid"/>
                      <a:round/>
                      <a:headEnd len="sm" w="sm" type="none"/>
                      <a:tailEnd len="sm" w="sm" type="none"/>
                    </a:lnB>
                  </a:tcPr>
                </a:tc>
                <a:tc>
                  <a:txBody>
                    <a:bodyPr/>
                    <a:lstStyle/>
                    <a:p>
                      <a:pPr indent="0" lvl="0" marL="0" marR="0" rtl="0" algn="r">
                        <a:lnSpc>
                          <a:spcPct val="119985"/>
                        </a:lnSpc>
                        <a:spcBef>
                          <a:spcPts val="0"/>
                        </a:spcBef>
                        <a:spcAft>
                          <a:spcPts val="0"/>
                        </a:spcAft>
                        <a:buNone/>
                      </a:pPr>
                      <a:r>
                        <a:rPr lang="en-US" spc="114" sz="1426" u="none" cap="none" strike="noStrike">
                          <a:solidFill>
                            <a:srgbClr val="0F1B2B"/>
                          </a:solidFill>
                          <a:latin typeface="Inter"/>
                          <a:ea typeface="Inter"/>
                          <a:cs typeface="Inter"/>
                          <a:sym typeface="Inter"/>
                        </a:rPr>
                        <a:t>SHARE</a:t>
                      </a:r>
                      <a:endParaRPr sz="1100" u="none" cap="none" strike="noStrike"/>
                    </a:p>
                  </a:txBody>
                  <a:tcPr marT="109525" marB="109525" marR="109525" marL="109525" anchor="ctr">
                    <a:lnL cap="flat" cmpd="sng" w="12700">
                      <a:solidFill>
                        <a:srgbClr val="F8FAFC"/>
                      </a:solidFill>
                      <a:prstDash val="solid"/>
                      <a:round/>
                      <a:headEnd len="sm" w="sm" type="none"/>
                      <a:tailEnd len="sm" w="sm" type="none"/>
                    </a:lnL>
                    <a:lnR cap="flat" cmpd="sng" w="12700">
                      <a:solidFill>
                        <a:srgbClr val="F8FAFC"/>
                      </a:solidFill>
                      <a:prstDash val="solid"/>
                      <a:round/>
                      <a:headEnd len="sm" w="sm" type="none"/>
                      <a:tailEnd len="sm" w="sm" type="none"/>
                    </a:lnR>
                    <a:lnT cap="flat" cmpd="sng" w="12700">
                      <a:solidFill>
                        <a:srgbClr val="F8FAFC"/>
                      </a:solidFill>
                      <a:prstDash val="solid"/>
                      <a:round/>
                      <a:headEnd len="sm" w="sm" type="none"/>
                      <a:tailEnd len="sm" w="sm" type="none"/>
                    </a:lnT>
                    <a:lnB cap="flat" cmpd="sng" w="12700">
                      <a:solidFill>
                        <a:srgbClr val="0F1B2B"/>
                      </a:solidFill>
                      <a:prstDash val="solid"/>
                      <a:round/>
                      <a:headEnd len="sm" w="sm" type="none"/>
                      <a:tailEnd len="sm" w="sm" type="none"/>
                    </a:lnB>
                  </a:tcPr>
                </a:tc>
              </a:tr>
              <a:tr h="497825">
                <a:tc>
                  <a:txBody>
                    <a:bodyPr/>
                    <a:lstStyle/>
                    <a:p>
                      <a:pPr indent="0" lvl="0" marL="0" marR="0" rtl="0" algn="l">
                        <a:lnSpc>
                          <a:spcPct val="119988"/>
                        </a:lnSpc>
                        <a:spcBef>
                          <a:spcPts val="0"/>
                        </a:spcBef>
                        <a:spcAft>
                          <a:spcPts val="0"/>
                        </a:spcAft>
                        <a:buNone/>
                      </a:pPr>
                      <a:r>
                        <a:rPr b="1" lang="en-US" sz="1801" u="none" cap="none" strike="noStrike">
                          <a:solidFill>
                            <a:srgbClr val="2B3542"/>
                          </a:solidFill>
                          <a:latin typeface="Inter"/>
                          <a:ea typeface="Inter"/>
                          <a:cs typeface="Inter"/>
                          <a:sym typeface="Inter"/>
                        </a:rPr>
                        <a:t>Snacks</a:t>
                      </a:r>
                      <a:endParaRPr sz="1100" u="none" cap="none" strike="noStrike"/>
                    </a:p>
                  </a:txBody>
                  <a:tcPr marT="109525" marB="109525" marR="109525" marL="109525" anchor="ctr">
                    <a:lnL cap="flat" cmpd="sng" w="12700">
                      <a:solidFill>
                        <a:srgbClr val="F8FAFC"/>
                      </a:solidFill>
                      <a:prstDash val="solid"/>
                      <a:round/>
                      <a:headEnd len="sm" w="sm" type="none"/>
                      <a:tailEnd len="sm" w="sm" type="none"/>
                    </a:lnL>
                    <a:lnR cap="flat" cmpd="sng" w="12700">
                      <a:solidFill>
                        <a:srgbClr val="F8FAFC"/>
                      </a:solidFill>
                      <a:prstDash val="solid"/>
                      <a:round/>
                      <a:headEnd len="sm" w="sm" type="none"/>
                      <a:tailEnd len="sm" w="sm" type="none"/>
                    </a:lnR>
                    <a:lnT cap="flat" cmpd="sng" w="12700">
                      <a:solidFill>
                        <a:srgbClr val="0F1B2B"/>
                      </a:solidFill>
                      <a:prstDash val="solid"/>
                      <a:round/>
                      <a:headEnd len="sm" w="sm" type="none"/>
                      <a:tailEnd len="sm" w="sm" type="none"/>
                    </a:lnT>
                    <a:lnB cap="flat" cmpd="sng" w="12700">
                      <a:solidFill>
                        <a:srgbClr val="0F1B2B"/>
                      </a:solidFill>
                      <a:prstDash val="solid"/>
                      <a:round/>
                      <a:headEnd len="sm" w="sm" type="none"/>
                      <a:tailEnd len="sm" w="sm" type="none"/>
                    </a:lnB>
                  </a:tcPr>
                </a:tc>
                <a:tc>
                  <a:txBody>
                    <a:bodyPr/>
                    <a:lstStyle/>
                    <a:p>
                      <a:pPr indent="0" lvl="0" marL="0" marR="0" rtl="0" algn="r">
                        <a:lnSpc>
                          <a:spcPct val="119988"/>
                        </a:lnSpc>
                        <a:spcBef>
                          <a:spcPts val="0"/>
                        </a:spcBef>
                        <a:spcAft>
                          <a:spcPts val="0"/>
                        </a:spcAft>
                        <a:buNone/>
                      </a:pPr>
                      <a:r>
                        <a:rPr lang="en-US" sz="1801" u="none" cap="none" strike="noStrike">
                          <a:solidFill>
                            <a:srgbClr val="2B3542"/>
                          </a:solidFill>
                          <a:latin typeface="Inter"/>
                          <a:ea typeface="Inter"/>
                          <a:cs typeface="Inter"/>
                          <a:sym typeface="Inter"/>
                        </a:rPr>
                        <a:t>$19,0M</a:t>
                      </a:r>
                      <a:endParaRPr sz="1100" u="none" cap="none" strike="noStrike"/>
                    </a:p>
                  </a:txBody>
                  <a:tcPr marT="109525" marB="109525" marR="109525" marL="109525" anchor="ctr">
                    <a:lnL cap="flat" cmpd="sng" w="12700">
                      <a:solidFill>
                        <a:srgbClr val="F8FAFC"/>
                      </a:solidFill>
                      <a:prstDash val="solid"/>
                      <a:round/>
                      <a:headEnd len="sm" w="sm" type="none"/>
                      <a:tailEnd len="sm" w="sm" type="none"/>
                    </a:lnL>
                    <a:lnR cap="flat" cmpd="sng" w="12700">
                      <a:solidFill>
                        <a:srgbClr val="F8FAFC"/>
                      </a:solidFill>
                      <a:prstDash val="solid"/>
                      <a:round/>
                      <a:headEnd len="sm" w="sm" type="none"/>
                      <a:tailEnd len="sm" w="sm" type="none"/>
                    </a:lnR>
                    <a:lnT cap="flat" cmpd="sng" w="12700">
                      <a:solidFill>
                        <a:srgbClr val="0F1B2B"/>
                      </a:solidFill>
                      <a:prstDash val="solid"/>
                      <a:round/>
                      <a:headEnd len="sm" w="sm" type="none"/>
                      <a:tailEnd len="sm" w="sm" type="none"/>
                    </a:lnT>
                    <a:lnB cap="flat" cmpd="sng" w="12700">
                      <a:solidFill>
                        <a:srgbClr val="0F1B2B"/>
                      </a:solidFill>
                      <a:prstDash val="solid"/>
                      <a:round/>
                      <a:headEnd len="sm" w="sm" type="none"/>
                      <a:tailEnd len="sm" w="sm" type="none"/>
                    </a:lnB>
                  </a:tcPr>
                </a:tc>
                <a:tc>
                  <a:txBody>
                    <a:bodyPr/>
                    <a:lstStyle/>
                    <a:p>
                      <a:pPr indent="0" lvl="0" marL="0" marR="0" rtl="0" algn="r">
                        <a:lnSpc>
                          <a:spcPct val="119988"/>
                        </a:lnSpc>
                        <a:spcBef>
                          <a:spcPts val="0"/>
                        </a:spcBef>
                        <a:spcAft>
                          <a:spcPts val="0"/>
                        </a:spcAft>
                        <a:buNone/>
                      </a:pPr>
                      <a:r>
                        <a:rPr lang="en-US" sz="1801" u="none" cap="none" strike="noStrike">
                          <a:solidFill>
                            <a:srgbClr val="2B3542"/>
                          </a:solidFill>
                          <a:latin typeface="Inter"/>
                          <a:ea typeface="Inter"/>
                          <a:cs typeface="Inter"/>
                          <a:sym typeface="Inter"/>
                        </a:rPr>
                        <a:t>25,0%</a:t>
                      </a:r>
                      <a:endParaRPr sz="1100" u="none" cap="none" strike="noStrike"/>
                    </a:p>
                  </a:txBody>
                  <a:tcPr marT="109525" marB="109525" marR="109525" marL="109525" anchor="ctr">
                    <a:lnL cap="flat" cmpd="sng" w="12700">
                      <a:solidFill>
                        <a:srgbClr val="F8FAFC"/>
                      </a:solidFill>
                      <a:prstDash val="solid"/>
                      <a:round/>
                      <a:headEnd len="sm" w="sm" type="none"/>
                      <a:tailEnd len="sm" w="sm" type="none"/>
                    </a:lnL>
                    <a:lnR cap="flat" cmpd="sng" w="12700">
                      <a:solidFill>
                        <a:srgbClr val="F8FAFC"/>
                      </a:solidFill>
                      <a:prstDash val="solid"/>
                      <a:round/>
                      <a:headEnd len="sm" w="sm" type="none"/>
                      <a:tailEnd len="sm" w="sm" type="none"/>
                    </a:lnR>
                    <a:lnT cap="flat" cmpd="sng" w="12700">
                      <a:solidFill>
                        <a:srgbClr val="0F1B2B"/>
                      </a:solidFill>
                      <a:prstDash val="solid"/>
                      <a:round/>
                      <a:headEnd len="sm" w="sm" type="none"/>
                      <a:tailEnd len="sm" w="sm" type="none"/>
                    </a:lnT>
                    <a:lnB cap="flat" cmpd="sng" w="12700">
                      <a:solidFill>
                        <a:srgbClr val="0F1B2B"/>
                      </a:solidFill>
                      <a:prstDash val="solid"/>
                      <a:round/>
                      <a:headEnd len="sm" w="sm" type="none"/>
                      <a:tailEnd len="sm" w="sm" type="none"/>
                    </a:lnB>
                  </a:tcPr>
                </a:tc>
              </a:tr>
              <a:tr h="497825">
                <a:tc>
                  <a:txBody>
                    <a:bodyPr/>
                    <a:lstStyle/>
                    <a:p>
                      <a:pPr indent="0" lvl="0" marL="0" marR="0" rtl="0" algn="l">
                        <a:lnSpc>
                          <a:spcPct val="119988"/>
                        </a:lnSpc>
                        <a:spcBef>
                          <a:spcPts val="0"/>
                        </a:spcBef>
                        <a:spcAft>
                          <a:spcPts val="0"/>
                        </a:spcAft>
                        <a:buNone/>
                      </a:pPr>
                      <a:r>
                        <a:rPr b="1" lang="en-US" sz="1801" u="none" cap="none" strike="noStrike">
                          <a:solidFill>
                            <a:srgbClr val="2B3542"/>
                          </a:solidFill>
                          <a:latin typeface="Inter"/>
                          <a:ea typeface="Inter"/>
                          <a:cs typeface="Inter"/>
                          <a:sym typeface="Inter"/>
                        </a:rPr>
                        <a:t>Personal Care</a:t>
                      </a:r>
                      <a:endParaRPr sz="1100" u="none" cap="none" strike="noStrike"/>
                    </a:p>
                  </a:txBody>
                  <a:tcPr marT="109525" marB="109525" marR="109525" marL="109525" anchor="ctr">
                    <a:lnL cap="flat" cmpd="sng" w="12700">
                      <a:solidFill>
                        <a:srgbClr val="F8FAFC"/>
                      </a:solidFill>
                      <a:prstDash val="solid"/>
                      <a:round/>
                      <a:headEnd len="sm" w="sm" type="none"/>
                      <a:tailEnd len="sm" w="sm" type="none"/>
                    </a:lnL>
                    <a:lnR cap="flat" cmpd="sng" w="12700">
                      <a:solidFill>
                        <a:srgbClr val="F8FAFC"/>
                      </a:solidFill>
                      <a:prstDash val="solid"/>
                      <a:round/>
                      <a:headEnd len="sm" w="sm" type="none"/>
                      <a:tailEnd len="sm" w="sm" type="none"/>
                    </a:lnR>
                    <a:lnT cap="flat" cmpd="sng" w="12700">
                      <a:solidFill>
                        <a:srgbClr val="0F1B2B"/>
                      </a:solidFill>
                      <a:prstDash val="solid"/>
                      <a:round/>
                      <a:headEnd len="sm" w="sm" type="none"/>
                      <a:tailEnd len="sm" w="sm" type="none"/>
                    </a:lnT>
                    <a:lnB cap="flat" cmpd="sng" w="12700">
                      <a:solidFill>
                        <a:srgbClr val="0F1B2B"/>
                      </a:solidFill>
                      <a:prstDash val="solid"/>
                      <a:round/>
                      <a:headEnd len="sm" w="sm" type="none"/>
                      <a:tailEnd len="sm" w="sm" type="none"/>
                    </a:lnB>
                  </a:tcPr>
                </a:tc>
                <a:tc>
                  <a:txBody>
                    <a:bodyPr/>
                    <a:lstStyle/>
                    <a:p>
                      <a:pPr indent="0" lvl="0" marL="0" marR="0" rtl="0" algn="r">
                        <a:lnSpc>
                          <a:spcPct val="119988"/>
                        </a:lnSpc>
                        <a:spcBef>
                          <a:spcPts val="0"/>
                        </a:spcBef>
                        <a:spcAft>
                          <a:spcPts val="0"/>
                        </a:spcAft>
                        <a:buNone/>
                      </a:pPr>
                      <a:r>
                        <a:rPr lang="en-US" sz="1801" u="none" cap="none" strike="noStrike">
                          <a:solidFill>
                            <a:srgbClr val="2B3542"/>
                          </a:solidFill>
                          <a:latin typeface="Inter"/>
                          <a:ea typeface="Inter"/>
                          <a:cs typeface="Inter"/>
                          <a:sym typeface="Inter"/>
                        </a:rPr>
                        <a:t>$15,8M</a:t>
                      </a:r>
                      <a:endParaRPr sz="1100" u="none" cap="none" strike="noStrike"/>
                    </a:p>
                  </a:txBody>
                  <a:tcPr marT="109525" marB="109525" marR="109525" marL="109525" anchor="ctr">
                    <a:lnL cap="flat" cmpd="sng" w="12700">
                      <a:solidFill>
                        <a:srgbClr val="F8FAFC"/>
                      </a:solidFill>
                      <a:prstDash val="solid"/>
                      <a:round/>
                      <a:headEnd len="sm" w="sm" type="none"/>
                      <a:tailEnd len="sm" w="sm" type="none"/>
                    </a:lnL>
                    <a:lnR cap="flat" cmpd="sng" w="12700">
                      <a:solidFill>
                        <a:srgbClr val="F8FAFC"/>
                      </a:solidFill>
                      <a:prstDash val="solid"/>
                      <a:round/>
                      <a:headEnd len="sm" w="sm" type="none"/>
                      <a:tailEnd len="sm" w="sm" type="none"/>
                    </a:lnR>
                    <a:lnT cap="flat" cmpd="sng" w="12700">
                      <a:solidFill>
                        <a:srgbClr val="0F1B2B"/>
                      </a:solidFill>
                      <a:prstDash val="solid"/>
                      <a:round/>
                      <a:headEnd len="sm" w="sm" type="none"/>
                      <a:tailEnd len="sm" w="sm" type="none"/>
                    </a:lnT>
                    <a:lnB cap="flat" cmpd="sng" w="12700">
                      <a:solidFill>
                        <a:srgbClr val="0F1B2B"/>
                      </a:solidFill>
                      <a:prstDash val="solid"/>
                      <a:round/>
                      <a:headEnd len="sm" w="sm" type="none"/>
                      <a:tailEnd len="sm" w="sm" type="none"/>
                    </a:lnB>
                  </a:tcPr>
                </a:tc>
                <a:tc>
                  <a:txBody>
                    <a:bodyPr/>
                    <a:lstStyle/>
                    <a:p>
                      <a:pPr indent="0" lvl="0" marL="0" marR="0" rtl="0" algn="r">
                        <a:lnSpc>
                          <a:spcPct val="119988"/>
                        </a:lnSpc>
                        <a:spcBef>
                          <a:spcPts val="0"/>
                        </a:spcBef>
                        <a:spcAft>
                          <a:spcPts val="0"/>
                        </a:spcAft>
                        <a:buNone/>
                      </a:pPr>
                      <a:r>
                        <a:rPr lang="en-US" sz="1801" u="none" cap="none" strike="noStrike">
                          <a:solidFill>
                            <a:srgbClr val="2B3542"/>
                          </a:solidFill>
                          <a:latin typeface="Inter"/>
                          <a:ea typeface="Inter"/>
                          <a:cs typeface="Inter"/>
                          <a:sym typeface="Inter"/>
                        </a:rPr>
                        <a:t>20,8%</a:t>
                      </a:r>
                      <a:endParaRPr sz="1100" u="none" cap="none" strike="noStrike"/>
                    </a:p>
                  </a:txBody>
                  <a:tcPr marT="109525" marB="109525" marR="109525" marL="109525" anchor="ctr">
                    <a:lnL cap="flat" cmpd="sng" w="12700">
                      <a:solidFill>
                        <a:srgbClr val="F8FAFC"/>
                      </a:solidFill>
                      <a:prstDash val="solid"/>
                      <a:round/>
                      <a:headEnd len="sm" w="sm" type="none"/>
                      <a:tailEnd len="sm" w="sm" type="none"/>
                    </a:lnL>
                    <a:lnR cap="flat" cmpd="sng" w="12700">
                      <a:solidFill>
                        <a:srgbClr val="F8FAFC"/>
                      </a:solidFill>
                      <a:prstDash val="solid"/>
                      <a:round/>
                      <a:headEnd len="sm" w="sm" type="none"/>
                      <a:tailEnd len="sm" w="sm" type="none"/>
                    </a:lnR>
                    <a:lnT cap="flat" cmpd="sng" w="12700">
                      <a:solidFill>
                        <a:srgbClr val="0F1B2B"/>
                      </a:solidFill>
                      <a:prstDash val="solid"/>
                      <a:round/>
                      <a:headEnd len="sm" w="sm" type="none"/>
                      <a:tailEnd len="sm" w="sm" type="none"/>
                    </a:lnT>
                    <a:lnB cap="flat" cmpd="sng" w="12700">
                      <a:solidFill>
                        <a:srgbClr val="0F1B2B"/>
                      </a:solidFill>
                      <a:prstDash val="solid"/>
                      <a:round/>
                      <a:headEnd len="sm" w="sm" type="none"/>
                      <a:tailEnd len="sm" w="sm" type="none"/>
                    </a:lnB>
                  </a:tcPr>
                </a:tc>
              </a:tr>
              <a:tr h="497825">
                <a:tc>
                  <a:txBody>
                    <a:bodyPr/>
                    <a:lstStyle/>
                    <a:p>
                      <a:pPr indent="0" lvl="0" marL="0" marR="0" rtl="0" algn="l">
                        <a:lnSpc>
                          <a:spcPct val="119988"/>
                        </a:lnSpc>
                        <a:spcBef>
                          <a:spcPts val="0"/>
                        </a:spcBef>
                        <a:spcAft>
                          <a:spcPts val="0"/>
                        </a:spcAft>
                        <a:buNone/>
                      </a:pPr>
                      <a:r>
                        <a:rPr lang="en-US" sz="1801" u="none" cap="none" strike="noStrike">
                          <a:solidFill>
                            <a:srgbClr val="2B3542"/>
                          </a:solidFill>
                          <a:latin typeface="Inter"/>
                          <a:ea typeface="Inter"/>
                          <a:cs typeface="Inter"/>
                          <a:sym typeface="Inter"/>
                        </a:rPr>
                        <a:t>Kategori Lainnya</a:t>
                      </a:r>
                      <a:endParaRPr sz="1100" u="none" cap="none" strike="noStrike"/>
                    </a:p>
                  </a:txBody>
                  <a:tcPr marT="109525" marB="109525" marR="109525" marL="109525" anchor="ctr">
                    <a:lnL cap="flat" cmpd="sng" w="12700">
                      <a:solidFill>
                        <a:srgbClr val="F8FAFC"/>
                      </a:solidFill>
                      <a:prstDash val="solid"/>
                      <a:round/>
                      <a:headEnd len="sm" w="sm" type="none"/>
                      <a:tailEnd len="sm" w="sm" type="none"/>
                    </a:lnL>
                    <a:lnR cap="flat" cmpd="sng" w="12700">
                      <a:solidFill>
                        <a:srgbClr val="F8FAFC"/>
                      </a:solidFill>
                      <a:prstDash val="solid"/>
                      <a:round/>
                      <a:headEnd len="sm" w="sm" type="none"/>
                      <a:tailEnd len="sm" w="sm" type="none"/>
                    </a:lnR>
                    <a:lnT cap="flat" cmpd="sng" w="12700">
                      <a:solidFill>
                        <a:srgbClr val="0F1B2B"/>
                      </a:solidFill>
                      <a:prstDash val="solid"/>
                      <a:round/>
                      <a:headEnd len="sm" w="sm" type="none"/>
                      <a:tailEnd len="sm" w="sm" type="none"/>
                    </a:lnT>
                    <a:lnB cap="flat" cmpd="sng" w="12700">
                      <a:solidFill>
                        <a:srgbClr val="0F1B2B"/>
                      </a:solidFill>
                      <a:prstDash val="solid"/>
                      <a:round/>
                      <a:headEnd len="sm" w="sm" type="none"/>
                      <a:tailEnd len="sm" w="sm" type="none"/>
                    </a:lnB>
                  </a:tcPr>
                </a:tc>
                <a:tc>
                  <a:txBody>
                    <a:bodyPr/>
                    <a:lstStyle/>
                    <a:p>
                      <a:pPr indent="0" lvl="0" marL="0" marR="0" rtl="0" algn="r">
                        <a:lnSpc>
                          <a:spcPct val="119988"/>
                        </a:lnSpc>
                        <a:spcBef>
                          <a:spcPts val="0"/>
                        </a:spcBef>
                        <a:spcAft>
                          <a:spcPts val="0"/>
                        </a:spcAft>
                        <a:buNone/>
                      </a:pPr>
                      <a:r>
                        <a:rPr lang="en-US" sz="1801" u="none" cap="none" strike="noStrike">
                          <a:solidFill>
                            <a:srgbClr val="2B3542"/>
                          </a:solidFill>
                          <a:latin typeface="Inter"/>
                          <a:ea typeface="Inter"/>
                          <a:cs typeface="Inter"/>
                          <a:sym typeface="Inter"/>
                        </a:rPr>
                        <a:t>$41,2M</a:t>
                      </a:r>
                      <a:endParaRPr sz="1100" u="none" cap="none" strike="noStrike"/>
                    </a:p>
                  </a:txBody>
                  <a:tcPr marT="109525" marB="109525" marR="109525" marL="109525" anchor="ctr">
                    <a:lnL cap="flat" cmpd="sng" w="12700">
                      <a:solidFill>
                        <a:srgbClr val="F8FAFC"/>
                      </a:solidFill>
                      <a:prstDash val="solid"/>
                      <a:round/>
                      <a:headEnd len="sm" w="sm" type="none"/>
                      <a:tailEnd len="sm" w="sm" type="none"/>
                    </a:lnL>
                    <a:lnR cap="flat" cmpd="sng" w="12700">
                      <a:solidFill>
                        <a:srgbClr val="F8FAFC"/>
                      </a:solidFill>
                      <a:prstDash val="solid"/>
                      <a:round/>
                      <a:headEnd len="sm" w="sm" type="none"/>
                      <a:tailEnd len="sm" w="sm" type="none"/>
                    </a:lnR>
                    <a:lnT cap="flat" cmpd="sng" w="12700">
                      <a:solidFill>
                        <a:srgbClr val="0F1B2B"/>
                      </a:solidFill>
                      <a:prstDash val="solid"/>
                      <a:round/>
                      <a:headEnd len="sm" w="sm" type="none"/>
                      <a:tailEnd len="sm" w="sm" type="none"/>
                    </a:lnT>
                    <a:lnB cap="flat" cmpd="sng" w="12700">
                      <a:solidFill>
                        <a:srgbClr val="0F1B2B"/>
                      </a:solidFill>
                      <a:prstDash val="solid"/>
                      <a:round/>
                      <a:headEnd len="sm" w="sm" type="none"/>
                      <a:tailEnd len="sm" w="sm" type="none"/>
                    </a:lnB>
                  </a:tcPr>
                </a:tc>
                <a:tc>
                  <a:txBody>
                    <a:bodyPr/>
                    <a:lstStyle/>
                    <a:p>
                      <a:pPr indent="0" lvl="0" marL="0" marR="0" rtl="0" algn="r">
                        <a:lnSpc>
                          <a:spcPct val="119988"/>
                        </a:lnSpc>
                        <a:spcBef>
                          <a:spcPts val="0"/>
                        </a:spcBef>
                        <a:spcAft>
                          <a:spcPts val="0"/>
                        </a:spcAft>
                        <a:buNone/>
                      </a:pPr>
                      <a:r>
                        <a:rPr lang="en-US" sz="1801" u="none" cap="none" strike="noStrike">
                          <a:solidFill>
                            <a:srgbClr val="2B3542"/>
                          </a:solidFill>
                          <a:latin typeface="Inter"/>
                          <a:ea typeface="Inter"/>
                          <a:cs typeface="Inter"/>
                          <a:sym typeface="Inter"/>
                        </a:rPr>
                        <a:t>54,2%</a:t>
                      </a:r>
                      <a:endParaRPr sz="1100" u="none" cap="none" strike="noStrike"/>
                    </a:p>
                  </a:txBody>
                  <a:tcPr marT="109525" marB="109525" marR="109525" marL="109525" anchor="ctr">
                    <a:lnL cap="flat" cmpd="sng" w="12700">
                      <a:solidFill>
                        <a:srgbClr val="F8FAFC"/>
                      </a:solidFill>
                      <a:prstDash val="solid"/>
                      <a:round/>
                      <a:headEnd len="sm" w="sm" type="none"/>
                      <a:tailEnd len="sm" w="sm" type="none"/>
                    </a:lnL>
                    <a:lnR cap="flat" cmpd="sng" w="12700">
                      <a:solidFill>
                        <a:srgbClr val="F8FAFC"/>
                      </a:solidFill>
                      <a:prstDash val="solid"/>
                      <a:round/>
                      <a:headEnd len="sm" w="sm" type="none"/>
                      <a:tailEnd len="sm" w="sm" type="none"/>
                    </a:lnR>
                    <a:lnT cap="flat" cmpd="sng" w="12700">
                      <a:solidFill>
                        <a:srgbClr val="0F1B2B"/>
                      </a:solidFill>
                      <a:prstDash val="solid"/>
                      <a:round/>
                      <a:headEnd len="sm" w="sm" type="none"/>
                      <a:tailEnd len="sm" w="sm" type="none"/>
                    </a:lnT>
                    <a:lnB cap="flat" cmpd="sng" w="12700">
                      <a:solidFill>
                        <a:srgbClr val="0F1B2B"/>
                      </a:solidFill>
                      <a:prstDash val="solid"/>
                      <a:round/>
                      <a:headEnd len="sm" w="sm" type="none"/>
                      <a:tailEnd len="sm" w="sm" type="none"/>
                    </a:lnB>
                  </a:tcPr>
                </a:tc>
              </a:tr>
              <a:tr h="497825">
                <a:tc>
                  <a:txBody>
                    <a:bodyPr/>
                    <a:lstStyle/>
                    <a:p>
                      <a:pPr indent="0" lvl="0" marL="0" marR="0" rtl="0" algn="l">
                        <a:lnSpc>
                          <a:spcPct val="119988"/>
                        </a:lnSpc>
                        <a:spcBef>
                          <a:spcPts val="0"/>
                        </a:spcBef>
                        <a:spcAft>
                          <a:spcPts val="0"/>
                        </a:spcAft>
                        <a:buNone/>
                      </a:pPr>
                      <a:r>
                        <a:rPr b="1" lang="en-US" sz="1801" u="none" cap="none" strike="noStrike">
                          <a:solidFill>
                            <a:srgbClr val="2B3542"/>
                          </a:solidFill>
                          <a:latin typeface="Inter"/>
                          <a:ea typeface="Inter"/>
                          <a:cs typeface="Inter"/>
                          <a:sym typeface="Inter"/>
                        </a:rPr>
                        <a:t>Total Holding Cost</a:t>
                      </a:r>
                      <a:endParaRPr sz="1100" u="none" cap="none" strike="noStrike"/>
                    </a:p>
                  </a:txBody>
                  <a:tcPr marT="109525" marB="109525" marR="109525" marL="109525" anchor="ctr">
                    <a:lnL cap="flat" cmpd="sng" w="12700">
                      <a:solidFill>
                        <a:srgbClr val="F8FAFC"/>
                      </a:solidFill>
                      <a:prstDash val="solid"/>
                      <a:round/>
                      <a:headEnd len="sm" w="sm" type="none"/>
                      <a:tailEnd len="sm" w="sm" type="none"/>
                    </a:lnL>
                    <a:lnR cap="flat" cmpd="sng" w="12700">
                      <a:solidFill>
                        <a:srgbClr val="F8FAFC"/>
                      </a:solidFill>
                      <a:prstDash val="solid"/>
                      <a:round/>
                      <a:headEnd len="sm" w="sm" type="none"/>
                      <a:tailEnd len="sm" w="sm" type="none"/>
                    </a:lnR>
                    <a:lnT cap="flat" cmpd="sng" w="12700">
                      <a:solidFill>
                        <a:srgbClr val="0F1B2B"/>
                      </a:solidFill>
                      <a:prstDash val="solid"/>
                      <a:round/>
                      <a:headEnd len="sm" w="sm" type="none"/>
                      <a:tailEnd len="sm" w="sm" type="none"/>
                    </a:lnT>
                    <a:lnB cap="flat" cmpd="sng" w="12700">
                      <a:solidFill>
                        <a:srgbClr val="F8FAFC"/>
                      </a:solidFill>
                      <a:prstDash val="solid"/>
                      <a:round/>
                      <a:headEnd len="sm" w="sm" type="none"/>
                      <a:tailEnd len="sm" w="sm" type="none"/>
                    </a:lnB>
                  </a:tcPr>
                </a:tc>
                <a:tc>
                  <a:txBody>
                    <a:bodyPr/>
                    <a:lstStyle/>
                    <a:p>
                      <a:pPr indent="0" lvl="0" marL="0" marR="0" rtl="0" algn="r">
                        <a:lnSpc>
                          <a:spcPct val="119988"/>
                        </a:lnSpc>
                        <a:spcBef>
                          <a:spcPts val="0"/>
                        </a:spcBef>
                        <a:spcAft>
                          <a:spcPts val="0"/>
                        </a:spcAft>
                        <a:buNone/>
                      </a:pPr>
                      <a:r>
                        <a:rPr b="1" lang="en-US" sz="1801" u="none" cap="none" strike="noStrike">
                          <a:solidFill>
                            <a:srgbClr val="2B3542"/>
                          </a:solidFill>
                          <a:latin typeface="Inter"/>
                          <a:ea typeface="Inter"/>
                          <a:cs typeface="Inter"/>
                          <a:sym typeface="Inter"/>
                        </a:rPr>
                        <a:t>$76,0M</a:t>
                      </a:r>
                      <a:endParaRPr sz="1100" u="none" cap="none" strike="noStrike"/>
                    </a:p>
                  </a:txBody>
                  <a:tcPr marT="109525" marB="109525" marR="109525" marL="109525" anchor="ctr">
                    <a:lnL cap="flat" cmpd="sng" w="12700">
                      <a:solidFill>
                        <a:srgbClr val="F8FAFC"/>
                      </a:solidFill>
                      <a:prstDash val="solid"/>
                      <a:round/>
                      <a:headEnd len="sm" w="sm" type="none"/>
                      <a:tailEnd len="sm" w="sm" type="none"/>
                    </a:lnL>
                    <a:lnR cap="flat" cmpd="sng" w="12700">
                      <a:solidFill>
                        <a:srgbClr val="F8FAFC"/>
                      </a:solidFill>
                      <a:prstDash val="solid"/>
                      <a:round/>
                      <a:headEnd len="sm" w="sm" type="none"/>
                      <a:tailEnd len="sm" w="sm" type="none"/>
                    </a:lnR>
                    <a:lnT cap="flat" cmpd="sng" w="12700">
                      <a:solidFill>
                        <a:srgbClr val="0F1B2B"/>
                      </a:solidFill>
                      <a:prstDash val="solid"/>
                      <a:round/>
                      <a:headEnd len="sm" w="sm" type="none"/>
                      <a:tailEnd len="sm" w="sm" type="none"/>
                    </a:lnT>
                    <a:lnB cap="flat" cmpd="sng" w="12700">
                      <a:solidFill>
                        <a:srgbClr val="F8FAFC"/>
                      </a:solidFill>
                      <a:prstDash val="solid"/>
                      <a:round/>
                      <a:headEnd len="sm" w="sm" type="none"/>
                      <a:tailEnd len="sm" w="sm" type="none"/>
                    </a:lnB>
                  </a:tcPr>
                </a:tc>
                <a:tc>
                  <a:txBody>
                    <a:bodyPr/>
                    <a:lstStyle/>
                    <a:p>
                      <a:pPr indent="0" lvl="0" marL="0" marR="0" rtl="0" algn="r">
                        <a:lnSpc>
                          <a:spcPct val="119988"/>
                        </a:lnSpc>
                        <a:spcBef>
                          <a:spcPts val="0"/>
                        </a:spcBef>
                        <a:spcAft>
                          <a:spcPts val="0"/>
                        </a:spcAft>
                        <a:buNone/>
                      </a:pPr>
                      <a:r>
                        <a:rPr b="1" lang="en-US" sz="1801" u="none" cap="none" strike="noStrike">
                          <a:solidFill>
                            <a:srgbClr val="2B3542"/>
                          </a:solidFill>
                          <a:latin typeface="Inter"/>
                          <a:ea typeface="Inter"/>
                          <a:cs typeface="Inter"/>
                          <a:sym typeface="Inter"/>
                        </a:rPr>
                        <a:t>100%</a:t>
                      </a:r>
                      <a:endParaRPr sz="1100" u="none" cap="none" strike="noStrike"/>
                    </a:p>
                  </a:txBody>
                  <a:tcPr marT="109525" marB="109525" marR="109525" marL="109525" anchor="ctr">
                    <a:lnL cap="flat" cmpd="sng" w="12700">
                      <a:solidFill>
                        <a:srgbClr val="F8FAFC"/>
                      </a:solidFill>
                      <a:prstDash val="solid"/>
                      <a:round/>
                      <a:headEnd len="sm" w="sm" type="none"/>
                      <a:tailEnd len="sm" w="sm" type="none"/>
                    </a:lnL>
                    <a:lnR cap="flat" cmpd="sng" w="12700">
                      <a:solidFill>
                        <a:srgbClr val="F8FAFC"/>
                      </a:solidFill>
                      <a:prstDash val="solid"/>
                      <a:round/>
                      <a:headEnd len="sm" w="sm" type="none"/>
                      <a:tailEnd len="sm" w="sm" type="none"/>
                    </a:lnR>
                    <a:lnT cap="flat" cmpd="sng" w="12700">
                      <a:solidFill>
                        <a:srgbClr val="0F1B2B"/>
                      </a:solidFill>
                      <a:prstDash val="solid"/>
                      <a:round/>
                      <a:headEnd len="sm" w="sm" type="none"/>
                      <a:tailEnd len="sm" w="sm" type="none"/>
                    </a:lnT>
                    <a:lnB cap="flat" cmpd="sng" w="12700">
                      <a:solidFill>
                        <a:srgbClr val="F8FAFC"/>
                      </a:solidFill>
                      <a:prstDash val="solid"/>
                      <a:round/>
                      <a:headEnd len="sm" w="sm" type="none"/>
                      <a:tailEnd len="sm" w="sm" type="none"/>
                    </a:lnB>
                  </a:tcPr>
                </a:tc>
              </a:tr>
            </a:tbl>
          </a:graphicData>
        </a:graphic>
      </p:graphicFrame>
      <p:sp>
        <p:nvSpPr>
          <p:cNvPr id="497" name="Google Shape;497;p24"/>
          <p:cNvSpPr txBox="1"/>
          <p:nvPr/>
        </p:nvSpPr>
        <p:spPr>
          <a:xfrm>
            <a:off x="10467556" y="8254994"/>
            <a:ext cx="7071703" cy="279254"/>
          </a:xfrm>
          <a:prstGeom prst="rect">
            <a:avLst/>
          </a:prstGeom>
          <a:noFill/>
          <a:ln>
            <a:noFill/>
          </a:ln>
        </p:spPr>
        <p:txBody>
          <a:bodyPr anchorCtr="0" anchor="t" bIns="0" lIns="0" spcFirstLastPara="1" rIns="0" wrap="square" tIns="0">
            <a:spAutoFit/>
          </a:bodyPr>
          <a:lstStyle/>
          <a:p>
            <a:pPr indent="0" lvl="0" marL="0" marR="0" rtl="0" algn="l">
              <a:lnSpc>
                <a:spcPct val="129568"/>
              </a:lnSpc>
              <a:spcBef>
                <a:spcPts val="0"/>
              </a:spcBef>
              <a:spcAft>
                <a:spcPts val="0"/>
              </a:spcAft>
              <a:buNone/>
            </a:pPr>
            <a:r>
              <a:rPr b="0" i="0" lang="en-US" spc="15" sz="1576" u="none" cap="none" strike="noStrike">
                <a:solidFill>
                  <a:srgbClr val="66625A"/>
                </a:solidFill>
                <a:latin typeface="Inter"/>
                <a:ea typeface="Inter"/>
                <a:cs typeface="Inter"/>
                <a:sym typeface="Inter"/>
              </a:rPr>
              <a:t>Rekomendasi PO Harian: 23,8K–24,3K unit per vendor</a:t>
            </a:r>
            <a:endParaRPr/>
          </a:p>
        </p:txBody>
      </p:sp>
      <p:sp>
        <p:nvSpPr>
          <p:cNvPr id="498" name="Google Shape;498;p24"/>
          <p:cNvSpPr txBox="1"/>
          <p:nvPr/>
        </p:nvSpPr>
        <p:spPr>
          <a:xfrm>
            <a:off x="762581" y="8690724"/>
            <a:ext cx="17539268" cy="272996"/>
          </a:xfrm>
          <a:prstGeom prst="rect">
            <a:avLst/>
          </a:prstGeom>
          <a:noFill/>
          <a:ln>
            <a:noFill/>
          </a:ln>
        </p:spPr>
        <p:txBody>
          <a:bodyPr anchorCtr="0" anchor="t" bIns="0" lIns="0" spcFirstLastPara="1" rIns="0" wrap="square" tIns="0">
            <a:spAutoFit/>
          </a:bodyPr>
          <a:lstStyle/>
          <a:p>
            <a:pPr indent="0" lvl="0" marL="0" marR="0" rtl="0" algn="l">
              <a:lnSpc>
                <a:spcPct val="134361"/>
              </a:lnSpc>
              <a:spcBef>
                <a:spcPts val="0"/>
              </a:spcBef>
              <a:spcAft>
                <a:spcPts val="0"/>
              </a:spcAft>
              <a:buNone/>
            </a:pPr>
            <a:r>
              <a:rPr b="0" i="0" lang="en-US" spc="85" sz="1426" u="none" cap="none" strike="noStrike">
                <a:solidFill>
                  <a:srgbClr val="66625A"/>
                </a:solidFill>
                <a:latin typeface="Inter"/>
                <a:ea typeface="Inter"/>
                <a:cs typeface="Inter"/>
                <a:sym typeface="Inter"/>
              </a:rPr>
              <a:t>SUMBER: POWER BI PROCUREMENT &amp; SUPPLIER ANALYTICS PAGE; ANALISIS LEAD TIME VENDOR 2021–2023</a:t>
            </a:r>
            <a:endParaRPr/>
          </a:p>
        </p:txBody>
      </p:sp>
      <p:sp>
        <p:nvSpPr>
          <p:cNvPr id="499" name="Google Shape;499;p24"/>
          <p:cNvSpPr/>
          <p:nvPr/>
        </p:nvSpPr>
        <p:spPr>
          <a:xfrm>
            <a:off x="0" y="9723091"/>
            <a:ext cx="18301811" cy="14287"/>
          </a:xfrm>
          <a:custGeom>
            <a:rect b="b" l="l" r="r" t="t"/>
            <a:pathLst>
              <a:path extrusionOk="0" h="19050" w="24402414">
                <a:moveTo>
                  <a:pt x="0" y="0"/>
                </a:moveTo>
                <a:lnTo>
                  <a:pt x="24402414" y="0"/>
                </a:lnTo>
                <a:lnTo>
                  <a:pt x="24402414" y="19050"/>
                </a:lnTo>
                <a:lnTo>
                  <a:pt x="0" y="19050"/>
                </a:lnTo>
                <a:close/>
              </a:path>
            </a:pathLst>
          </a:custGeom>
          <a:solidFill>
            <a:srgbClr val="2B3542">
              <a:alpha val="3922"/>
            </a:srgbClr>
          </a:solidFill>
          <a:ln>
            <a:noFill/>
          </a:ln>
        </p:spPr>
      </p:sp>
      <p:sp>
        <p:nvSpPr>
          <p:cNvPr id="500" name="Google Shape;500;p24"/>
          <p:cNvSpPr/>
          <p:nvPr/>
        </p:nvSpPr>
        <p:spPr>
          <a:xfrm>
            <a:off x="11902974" y="5296038"/>
            <a:ext cx="3306289" cy="2772718"/>
          </a:xfrm>
          <a:custGeom>
            <a:rect b="b" l="l" r="r" t="t"/>
            <a:pathLst>
              <a:path extrusionOk="0" h="2772718" w="3306289">
                <a:moveTo>
                  <a:pt x="0" y="0"/>
                </a:moveTo>
                <a:lnTo>
                  <a:pt x="3306289" y="0"/>
                </a:lnTo>
                <a:lnTo>
                  <a:pt x="3306289" y="2772718"/>
                </a:lnTo>
                <a:lnTo>
                  <a:pt x="0" y="2772718"/>
                </a:lnTo>
                <a:lnTo>
                  <a:pt x="0" y="0"/>
                </a:lnTo>
                <a:close/>
              </a:path>
            </a:pathLst>
          </a:custGeom>
          <a:blipFill rotWithShape="1">
            <a:blip r:embed="rId3">
              <a:alphaModFix/>
            </a:blip>
            <a:stretch>
              <a:fillRect b="-258971" l="-301268" r="0" t="-117446"/>
            </a:stretch>
          </a:blipFill>
          <a:ln>
            <a:noFill/>
          </a:ln>
        </p:spPr>
      </p:sp>
      <p:grpSp>
        <p:nvGrpSpPr>
          <p:cNvPr id="501" name="Google Shape;501;p24"/>
          <p:cNvGrpSpPr/>
          <p:nvPr/>
        </p:nvGrpSpPr>
        <p:grpSpPr>
          <a:xfrm>
            <a:off x="15480401" y="64663"/>
            <a:ext cx="4516946" cy="1127273"/>
            <a:chOff x="0" y="-241102"/>
            <a:chExt cx="6022595" cy="1503032"/>
          </a:xfrm>
        </p:grpSpPr>
        <p:grpSp>
          <p:nvGrpSpPr>
            <p:cNvPr id="502" name="Google Shape;502;p24"/>
            <p:cNvGrpSpPr/>
            <p:nvPr/>
          </p:nvGrpSpPr>
          <p:grpSpPr>
            <a:xfrm>
              <a:off x="0" y="-241102"/>
              <a:ext cx="6022595" cy="1503032"/>
              <a:chOff x="0" y="-47625"/>
              <a:chExt cx="1189648" cy="296895"/>
            </a:xfrm>
          </p:grpSpPr>
          <p:sp>
            <p:nvSpPr>
              <p:cNvPr id="503" name="Google Shape;503;p24"/>
              <p:cNvSpPr/>
              <p:nvPr/>
            </p:nvSpPr>
            <p:spPr>
              <a:xfrm>
                <a:off x="0" y="0"/>
                <a:ext cx="1189648" cy="249270"/>
              </a:xfrm>
              <a:custGeom>
                <a:rect b="b" l="l" r="r" t="t"/>
                <a:pathLst>
                  <a:path extrusionOk="0" h="249270" w="1189648">
                    <a:moveTo>
                      <a:pt x="87413" y="0"/>
                    </a:moveTo>
                    <a:lnTo>
                      <a:pt x="1102236" y="0"/>
                    </a:lnTo>
                    <a:cubicBezTo>
                      <a:pt x="1125419" y="0"/>
                      <a:pt x="1147653" y="9210"/>
                      <a:pt x="1164046" y="25603"/>
                    </a:cubicBezTo>
                    <a:cubicBezTo>
                      <a:pt x="1180439" y="41996"/>
                      <a:pt x="1189648" y="64229"/>
                      <a:pt x="1189648" y="87413"/>
                    </a:cubicBezTo>
                    <a:lnTo>
                      <a:pt x="1189648" y="161858"/>
                    </a:lnTo>
                    <a:cubicBezTo>
                      <a:pt x="1189648" y="185041"/>
                      <a:pt x="1180439" y="207275"/>
                      <a:pt x="1164046" y="223668"/>
                    </a:cubicBezTo>
                    <a:cubicBezTo>
                      <a:pt x="1147653" y="240061"/>
                      <a:pt x="1125419" y="249270"/>
                      <a:pt x="1102236" y="249270"/>
                    </a:cubicBezTo>
                    <a:lnTo>
                      <a:pt x="87413" y="249270"/>
                    </a:lnTo>
                    <a:cubicBezTo>
                      <a:pt x="64229" y="249270"/>
                      <a:pt x="41996" y="240061"/>
                      <a:pt x="25603" y="223668"/>
                    </a:cubicBezTo>
                    <a:cubicBezTo>
                      <a:pt x="9210" y="207275"/>
                      <a:pt x="0" y="185041"/>
                      <a:pt x="0" y="161858"/>
                    </a:cubicBezTo>
                    <a:lnTo>
                      <a:pt x="0" y="87413"/>
                    </a:lnTo>
                    <a:cubicBezTo>
                      <a:pt x="0" y="64229"/>
                      <a:pt x="9210" y="41996"/>
                      <a:pt x="25603" y="25603"/>
                    </a:cubicBezTo>
                    <a:cubicBezTo>
                      <a:pt x="41996" y="9210"/>
                      <a:pt x="64229" y="0"/>
                      <a:pt x="87413" y="0"/>
                    </a:cubicBezTo>
                    <a:close/>
                  </a:path>
                </a:pathLst>
              </a:custGeom>
              <a:solidFill>
                <a:srgbClr val="FE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 name="Google Shape;504;p24"/>
              <p:cNvSpPr txBox="1"/>
              <p:nvPr/>
            </p:nvSpPr>
            <p:spPr>
              <a:xfrm>
                <a:off x="0" y="-47625"/>
                <a:ext cx="1189648" cy="296895"/>
              </a:xfrm>
              <a:prstGeom prst="rect">
                <a:avLst/>
              </a:prstGeom>
              <a:noFill/>
              <a:ln>
                <a:noFill/>
              </a:ln>
            </p:spPr>
            <p:txBody>
              <a:bodyPr anchorCtr="0" anchor="ctr" bIns="50800" lIns="50800" spcFirstLastPara="1" rIns="50800" wrap="square" tIns="50800">
                <a:noAutofit/>
              </a:bodyPr>
              <a:lstStyle/>
              <a:p>
                <a:pPr indent="0" lvl="0" marL="0" marR="0" rtl="0" algn="ctr">
                  <a:lnSpc>
                    <a:spcPct val="155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505" name="Google Shape;505;p24"/>
            <p:cNvSpPr/>
            <p:nvPr/>
          </p:nvSpPr>
          <p:spPr>
            <a:xfrm>
              <a:off x="483631" y="226255"/>
              <a:ext cx="2676306" cy="809419"/>
            </a:xfrm>
            <a:custGeom>
              <a:rect b="b" l="l" r="r" t="t"/>
              <a:pathLst>
                <a:path extrusionOk="0" h="809419" w="2676306">
                  <a:moveTo>
                    <a:pt x="0" y="0"/>
                  </a:moveTo>
                  <a:lnTo>
                    <a:pt x="2676305" y="0"/>
                  </a:lnTo>
                  <a:lnTo>
                    <a:pt x="2676305" y="809420"/>
                  </a:lnTo>
                  <a:lnTo>
                    <a:pt x="0" y="809420"/>
                  </a:lnTo>
                  <a:lnTo>
                    <a:pt x="0" y="0"/>
                  </a:lnTo>
                  <a:close/>
                </a:path>
              </a:pathLst>
            </a:custGeom>
            <a:blipFill rotWithShape="1">
              <a:blip r:embed="rId4">
                <a:alphaModFix/>
              </a:blip>
              <a:stretch>
                <a:fillRect b="0" l="0" r="0" t="0"/>
              </a:stretch>
            </a:blipFill>
            <a:ln>
              <a:noFill/>
            </a:ln>
          </p:spPr>
        </p:sp>
      </p:gr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513" name="Shape 513"/>
        <p:cNvGrpSpPr/>
        <p:nvPr/>
      </p:nvGrpSpPr>
      <p:grpSpPr>
        <a:xfrm>
          <a:off x="0" y="0"/>
          <a:ext cx="0" cy="0"/>
          <a:chOff x="0" y="0"/>
          <a:chExt cx="0" cy="0"/>
        </a:xfrm>
      </p:grpSpPr>
      <p:sp>
        <p:nvSpPr>
          <p:cNvPr id="514" name="Google Shape;514;p25"/>
          <p:cNvSpPr txBox="1"/>
          <p:nvPr/>
        </p:nvSpPr>
        <p:spPr>
          <a:xfrm>
            <a:off x="762581" y="753075"/>
            <a:ext cx="17539268" cy="226838"/>
          </a:xfrm>
          <a:prstGeom prst="rect">
            <a:avLst/>
          </a:prstGeom>
          <a:noFill/>
          <a:ln>
            <a:noFill/>
          </a:ln>
        </p:spPr>
        <p:txBody>
          <a:bodyPr anchorCtr="0" anchor="t" bIns="0" lIns="0" spcFirstLastPara="1" rIns="0" wrap="square" tIns="0">
            <a:spAutoFit/>
          </a:bodyPr>
          <a:lstStyle/>
          <a:p>
            <a:pPr indent="0" lvl="0" marL="0" marR="0" rtl="0" algn="l">
              <a:lnSpc>
                <a:spcPct val="119985"/>
              </a:lnSpc>
              <a:spcBef>
                <a:spcPts val="0"/>
              </a:spcBef>
              <a:spcAft>
                <a:spcPts val="0"/>
              </a:spcAft>
              <a:buNone/>
            </a:pPr>
            <a:r>
              <a:rPr b="0" i="0" lang="en-US" spc="199" sz="1426" u="none" cap="none" strike="noStrike">
                <a:solidFill>
                  <a:srgbClr val="1B2638"/>
                </a:solidFill>
                <a:latin typeface="Inter"/>
                <a:ea typeface="Inter"/>
                <a:cs typeface="Inter"/>
                <a:sym typeface="Inter"/>
              </a:rPr>
              <a:t>09 STRATEGIS: DILEMA INVENTARIS</a:t>
            </a:r>
            <a:endParaRPr/>
          </a:p>
        </p:txBody>
      </p:sp>
      <p:sp>
        <p:nvSpPr>
          <p:cNvPr id="515" name="Google Shape;515;p25"/>
          <p:cNvSpPr txBox="1"/>
          <p:nvPr/>
        </p:nvSpPr>
        <p:spPr>
          <a:xfrm>
            <a:off x="762581" y="1075230"/>
            <a:ext cx="12837607" cy="1087786"/>
          </a:xfrm>
          <a:prstGeom prst="rect">
            <a:avLst/>
          </a:prstGeom>
          <a:noFill/>
          <a:ln>
            <a:noFill/>
          </a:ln>
        </p:spPr>
        <p:txBody>
          <a:bodyPr anchorCtr="0" anchor="t" bIns="0" lIns="0" spcFirstLastPara="1" rIns="0" wrap="square" tIns="0">
            <a:spAutoFit/>
          </a:bodyPr>
          <a:lstStyle/>
          <a:p>
            <a:pPr indent="0" lvl="0" marL="0" marR="0" rtl="0" algn="l">
              <a:lnSpc>
                <a:spcPct val="111620"/>
              </a:lnSpc>
              <a:spcBef>
                <a:spcPts val="0"/>
              </a:spcBef>
              <a:spcAft>
                <a:spcPts val="0"/>
              </a:spcAft>
              <a:buNone/>
            </a:pPr>
            <a:r>
              <a:rPr b="0" i="0" lang="en-US" spc="-18" sz="3752" u="none" cap="none" strike="noStrike">
                <a:solidFill>
                  <a:srgbClr val="0F1B2B"/>
                </a:solidFill>
                <a:latin typeface="Arimo"/>
                <a:ea typeface="Arimo"/>
                <a:cs typeface="Arimo"/>
                <a:sym typeface="Arimo"/>
              </a:rPr>
              <a:t>Ketimpangan stok menjadi sumber utama lost sales sekaligus modal menganggur</a:t>
            </a:r>
            <a:endParaRPr/>
          </a:p>
        </p:txBody>
      </p:sp>
      <p:sp>
        <p:nvSpPr>
          <p:cNvPr id="516" name="Google Shape;516;p25"/>
          <p:cNvSpPr/>
          <p:nvPr/>
        </p:nvSpPr>
        <p:spPr>
          <a:xfrm>
            <a:off x="762581" y="2421693"/>
            <a:ext cx="16776573" cy="28575"/>
          </a:xfrm>
          <a:custGeom>
            <a:rect b="b" l="l" r="r" t="t"/>
            <a:pathLst>
              <a:path extrusionOk="0" h="38100" w="22368763">
                <a:moveTo>
                  <a:pt x="0" y="19050"/>
                </a:moveTo>
                <a:cubicBezTo>
                  <a:pt x="0" y="8509"/>
                  <a:pt x="8509" y="0"/>
                  <a:pt x="19050" y="0"/>
                </a:cubicBezTo>
                <a:lnTo>
                  <a:pt x="22349713" y="0"/>
                </a:lnTo>
                <a:cubicBezTo>
                  <a:pt x="22360254" y="0"/>
                  <a:pt x="22368763" y="8509"/>
                  <a:pt x="22368763" y="19050"/>
                </a:cubicBezTo>
                <a:cubicBezTo>
                  <a:pt x="22368763" y="29591"/>
                  <a:pt x="22360254" y="38100"/>
                  <a:pt x="22349713" y="38100"/>
                </a:cubicBezTo>
                <a:lnTo>
                  <a:pt x="19050" y="38100"/>
                </a:lnTo>
                <a:cubicBezTo>
                  <a:pt x="8509" y="38100"/>
                  <a:pt x="0" y="29591"/>
                  <a:pt x="0" y="19050"/>
                </a:cubicBezTo>
                <a:close/>
              </a:path>
            </a:pathLst>
          </a:custGeom>
          <a:solidFill>
            <a:srgbClr val="14253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 name="Google Shape;517;p25"/>
          <p:cNvSpPr/>
          <p:nvPr/>
        </p:nvSpPr>
        <p:spPr>
          <a:xfrm>
            <a:off x="762581" y="2714816"/>
            <a:ext cx="7615619" cy="57150"/>
          </a:xfrm>
          <a:custGeom>
            <a:rect b="b" l="l" r="r" t="t"/>
            <a:pathLst>
              <a:path extrusionOk="0" h="76200" w="10154158">
                <a:moveTo>
                  <a:pt x="0" y="0"/>
                </a:moveTo>
                <a:lnTo>
                  <a:pt x="10154158" y="0"/>
                </a:lnTo>
                <a:lnTo>
                  <a:pt x="10154158" y="76200"/>
                </a:lnTo>
                <a:lnTo>
                  <a:pt x="0" y="76200"/>
                </a:lnTo>
                <a:close/>
              </a:path>
            </a:pathLst>
          </a:custGeom>
          <a:solidFill>
            <a:srgbClr val="0CC0DF"/>
          </a:solidFill>
          <a:ln>
            <a:noFill/>
          </a:ln>
        </p:spPr>
      </p:sp>
      <p:sp>
        <p:nvSpPr>
          <p:cNvPr id="518" name="Google Shape;518;p25"/>
          <p:cNvSpPr txBox="1"/>
          <p:nvPr/>
        </p:nvSpPr>
        <p:spPr>
          <a:xfrm>
            <a:off x="1105738" y="3105645"/>
            <a:ext cx="6929323" cy="386953"/>
          </a:xfrm>
          <a:prstGeom prst="rect">
            <a:avLst/>
          </a:prstGeom>
          <a:noFill/>
          <a:ln>
            <a:noFill/>
          </a:ln>
        </p:spPr>
        <p:txBody>
          <a:bodyPr anchorCtr="0" anchor="t" bIns="0" lIns="0" spcFirstLastPara="1" rIns="0" wrap="square" tIns="0">
            <a:spAutoFit/>
          </a:bodyPr>
          <a:lstStyle/>
          <a:p>
            <a:pPr indent="0" lvl="0" marL="0" marR="0" rtl="0" algn="l">
              <a:lnSpc>
                <a:spcPct val="120032"/>
              </a:lnSpc>
              <a:spcBef>
                <a:spcPts val="0"/>
              </a:spcBef>
              <a:spcAft>
                <a:spcPts val="0"/>
              </a:spcAft>
              <a:buNone/>
            </a:pPr>
            <a:r>
              <a:rPr b="0" i="0" lang="en-US" spc="-12" sz="2476" u="none" cap="none" strike="noStrike">
                <a:solidFill>
                  <a:srgbClr val="0F1B2B"/>
                </a:solidFill>
                <a:latin typeface="Inter"/>
                <a:ea typeface="Inter"/>
                <a:cs typeface="Inter"/>
                <a:sym typeface="Inter"/>
              </a:rPr>
              <a:t>Krisis Pasokan: Understock &amp; Lost Sales</a:t>
            </a:r>
            <a:endParaRPr/>
          </a:p>
        </p:txBody>
      </p:sp>
      <p:sp>
        <p:nvSpPr>
          <p:cNvPr id="519" name="Google Shape;519;p25"/>
          <p:cNvSpPr txBox="1"/>
          <p:nvPr/>
        </p:nvSpPr>
        <p:spPr>
          <a:xfrm>
            <a:off x="1105738" y="3691785"/>
            <a:ext cx="6929323" cy="632898"/>
          </a:xfrm>
          <a:prstGeom prst="rect">
            <a:avLst/>
          </a:prstGeom>
          <a:noFill/>
          <a:ln>
            <a:noFill/>
          </a:ln>
        </p:spPr>
        <p:txBody>
          <a:bodyPr anchorCtr="0" anchor="t" bIns="0" lIns="0" spcFirstLastPara="1" rIns="0" wrap="square" tIns="0">
            <a:spAutoFit/>
          </a:bodyPr>
          <a:lstStyle/>
          <a:p>
            <a:pPr indent="0" lvl="0" marL="0" marR="0" rtl="0" algn="l">
              <a:lnSpc>
                <a:spcPct val="105604"/>
              </a:lnSpc>
              <a:spcBef>
                <a:spcPts val="0"/>
              </a:spcBef>
              <a:spcAft>
                <a:spcPts val="0"/>
              </a:spcAft>
              <a:buNone/>
            </a:pPr>
            <a:r>
              <a:rPr b="0" i="0" lang="en-US" spc="-51" sz="5103" u="none" cap="none" strike="noStrike">
                <a:solidFill>
                  <a:srgbClr val="0F1B2B"/>
                </a:solidFill>
                <a:latin typeface="Arimo"/>
                <a:ea typeface="Arimo"/>
                <a:cs typeface="Arimo"/>
                <a:sym typeface="Arimo"/>
              </a:rPr>
              <a:t>50–60%</a:t>
            </a:r>
            <a:endParaRPr/>
          </a:p>
        </p:txBody>
      </p:sp>
      <p:sp>
        <p:nvSpPr>
          <p:cNvPr id="520" name="Google Shape;520;p25"/>
          <p:cNvSpPr txBox="1"/>
          <p:nvPr/>
        </p:nvSpPr>
        <p:spPr>
          <a:xfrm>
            <a:off x="1105738" y="4487675"/>
            <a:ext cx="6929323" cy="1182443"/>
          </a:xfrm>
          <a:prstGeom prst="rect">
            <a:avLst/>
          </a:prstGeom>
          <a:noFill/>
          <a:ln>
            <a:noFill/>
          </a:ln>
        </p:spPr>
        <p:txBody>
          <a:bodyPr anchorCtr="0" anchor="t" bIns="0" lIns="0" spcFirstLastPara="1" rIns="0" wrap="square" tIns="0">
            <a:spAutoFit/>
          </a:bodyPr>
          <a:lstStyle/>
          <a:p>
            <a:pPr indent="0" lvl="0" marL="0" marR="0" rtl="0" algn="l">
              <a:lnSpc>
                <a:spcPct val="138005"/>
              </a:lnSpc>
              <a:spcBef>
                <a:spcPts val="0"/>
              </a:spcBef>
              <a:spcAft>
                <a:spcPts val="0"/>
              </a:spcAft>
              <a:buNone/>
            </a:pPr>
            <a:r>
              <a:rPr b="0" i="0" lang="en-US" sz="2176" u="none" cap="none" strike="noStrike">
                <a:solidFill>
                  <a:srgbClr val="2B3542"/>
                </a:solidFill>
                <a:latin typeface="Inter"/>
                <a:ea typeface="Inter"/>
                <a:cs typeface="Inter"/>
                <a:sym typeface="Inter"/>
              </a:rPr>
              <a:t>Lebih dari 50–60% SKU di setiap kategori berada pada status Understock, memicu potensi kehilangan pendapatan langsung.</a:t>
            </a:r>
            <a:endParaRPr/>
          </a:p>
        </p:txBody>
      </p:sp>
      <p:sp>
        <p:nvSpPr>
          <p:cNvPr id="521" name="Google Shape;521;p25"/>
          <p:cNvSpPr txBox="1"/>
          <p:nvPr/>
        </p:nvSpPr>
        <p:spPr>
          <a:xfrm>
            <a:off x="1105738" y="6183325"/>
            <a:ext cx="7272480" cy="279254"/>
          </a:xfrm>
          <a:prstGeom prst="rect">
            <a:avLst/>
          </a:prstGeom>
          <a:noFill/>
          <a:ln>
            <a:noFill/>
          </a:ln>
        </p:spPr>
        <p:txBody>
          <a:bodyPr anchorCtr="0" anchor="t" bIns="0" lIns="0" spcFirstLastPara="1" rIns="0" wrap="square" tIns="0">
            <a:spAutoFit/>
          </a:bodyPr>
          <a:lstStyle/>
          <a:p>
            <a:pPr indent="0" lvl="0" marL="0" marR="0" rtl="0" algn="l">
              <a:lnSpc>
                <a:spcPct val="129568"/>
              </a:lnSpc>
              <a:spcBef>
                <a:spcPts val="0"/>
              </a:spcBef>
              <a:spcAft>
                <a:spcPts val="0"/>
              </a:spcAft>
              <a:buNone/>
            </a:pPr>
            <a:r>
              <a:rPr b="0" i="0" lang="en-US" spc="15" sz="1576" u="none" cap="none" strike="noStrike">
                <a:solidFill>
                  <a:srgbClr val="66625A"/>
                </a:solidFill>
                <a:latin typeface="Inter"/>
                <a:ea typeface="Inter"/>
                <a:cs typeface="Inter"/>
                <a:sym typeface="Inter"/>
              </a:rPr>
              <a:t>SKU berisiko: BrandC Chips (175K unit) &amp; Toothpaste (164K unit)</a:t>
            </a:r>
            <a:endParaRPr/>
          </a:p>
        </p:txBody>
      </p:sp>
      <p:sp>
        <p:nvSpPr>
          <p:cNvPr id="522" name="Google Shape;522;p25"/>
          <p:cNvSpPr/>
          <p:nvPr/>
        </p:nvSpPr>
        <p:spPr>
          <a:xfrm>
            <a:off x="8835609" y="2714816"/>
            <a:ext cx="8703660" cy="57150"/>
          </a:xfrm>
          <a:custGeom>
            <a:rect b="b" l="l" r="r" t="t"/>
            <a:pathLst>
              <a:path extrusionOk="0" h="76200" w="11604879">
                <a:moveTo>
                  <a:pt x="0" y="0"/>
                </a:moveTo>
                <a:lnTo>
                  <a:pt x="11604879" y="0"/>
                </a:lnTo>
                <a:lnTo>
                  <a:pt x="11604879" y="76200"/>
                </a:lnTo>
                <a:lnTo>
                  <a:pt x="0" y="76200"/>
                </a:lnTo>
                <a:close/>
              </a:path>
            </a:pathLst>
          </a:custGeom>
          <a:solidFill>
            <a:srgbClr val="14253D"/>
          </a:solidFill>
          <a:ln>
            <a:noFill/>
          </a:ln>
        </p:spPr>
      </p:sp>
      <p:sp>
        <p:nvSpPr>
          <p:cNvPr id="523" name="Google Shape;523;p25"/>
          <p:cNvSpPr txBox="1"/>
          <p:nvPr/>
        </p:nvSpPr>
        <p:spPr>
          <a:xfrm>
            <a:off x="9178776" y="3105645"/>
            <a:ext cx="8017335" cy="386953"/>
          </a:xfrm>
          <a:prstGeom prst="rect">
            <a:avLst/>
          </a:prstGeom>
          <a:noFill/>
          <a:ln>
            <a:noFill/>
          </a:ln>
        </p:spPr>
        <p:txBody>
          <a:bodyPr anchorCtr="0" anchor="t" bIns="0" lIns="0" spcFirstLastPara="1" rIns="0" wrap="square" tIns="0">
            <a:spAutoFit/>
          </a:bodyPr>
          <a:lstStyle/>
          <a:p>
            <a:pPr indent="0" lvl="0" marL="0" marR="0" rtl="0" algn="l">
              <a:lnSpc>
                <a:spcPct val="120032"/>
              </a:lnSpc>
              <a:spcBef>
                <a:spcPts val="0"/>
              </a:spcBef>
              <a:spcAft>
                <a:spcPts val="0"/>
              </a:spcAft>
              <a:buNone/>
            </a:pPr>
            <a:r>
              <a:rPr b="0" i="0" lang="en-US" spc="-12" sz="2476" u="none" cap="none" strike="noStrike">
                <a:solidFill>
                  <a:srgbClr val="0F1B2B"/>
                </a:solidFill>
                <a:latin typeface="Inter"/>
                <a:ea typeface="Inter"/>
                <a:cs typeface="Inter"/>
                <a:sym typeface="Inter"/>
              </a:rPr>
              <a:t>Beban Finansial: Modal Kerja Tertahan</a:t>
            </a:r>
            <a:endParaRPr/>
          </a:p>
        </p:txBody>
      </p:sp>
      <p:sp>
        <p:nvSpPr>
          <p:cNvPr id="524" name="Google Shape;524;p25"/>
          <p:cNvSpPr txBox="1"/>
          <p:nvPr/>
        </p:nvSpPr>
        <p:spPr>
          <a:xfrm>
            <a:off x="9178776" y="3691785"/>
            <a:ext cx="8017335" cy="632898"/>
          </a:xfrm>
          <a:prstGeom prst="rect">
            <a:avLst/>
          </a:prstGeom>
          <a:noFill/>
          <a:ln>
            <a:noFill/>
          </a:ln>
        </p:spPr>
        <p:txBody>
          <a:bodyPr anchorCtr="0" anchor="t" bIns="0" lIns="0" spcFirstLastPara="1" rIns="0" wrap="square" tIns="0">
            <a:spAutoFit/>
          </a:bodyPr>
          <a:lstStyle/>
          <a:p>
            <a:pPr indent="0" lvl="0" marL="0" marR="0" rtl="0" algn="l">
              <a:lnSpc>
                <a:spcPct val="105604"/>
              </a:lnSpc>
              <a:spcBef>
                <a:spcPts val="0"/>
              </a:spcBef>
              <a:spcAft>
                <a:spcPts val="0"/>
              </a:spcAft>
              <a:buNone/>
            </a:pPr>
            <a:r>
              <a:rPr b="0" i="0" lang="en-US" spc="-51" sz="5103" u="none" cap="none" strike="noStrike">
                <a:solidFill>
                  <a:srgbClr val="0F1B2B"/>
                </a:solidFill>
                <a:latin typeface="Arimo"/>
                <a:ea typeface="Arimo"/>
                <a:cs typeface="Arimo"/>
                <a:sym typeface="Arimo"/>
              </a:rPr>
              <a:t>$76,0M</a:t>
            </a:r>
            <a:endParaRPr/>
          </a:p>
        </p:txBody>
      </p:sp>
      <p:sp>
        <p:nvSpPr>
          <p:cNvPr id="525" name="Google Shape;525;p25"/>
          <p:cNvSpPr txBox="1"/>
          <p:nvPr/>
        </p:nvSpPr>
        <p:spPr>
          <a:xfrm>
            <a:off x="9178776" y="4487675"/>
            <a:ext cx="8017335" cy="800995"/>
          </a:xfrm>
          <a:prstGeom prst="rect">
            <a:avLst/>
          </a:prstGeom>
          <a:noFill/>
          <a:ln>
            <a:noFill/>
          </a:ln>
        </p:spPr>
        <p:txBody>
          <a:bodyPr anchorCtr="0" anchor="t" bIns="0" lIns="0" spcFirstLastPara="1" rIns="0" wrap="square" tIns="0">
            <a:spAutoFit/>
          </a:bodyPr>
          <a:lstStyle/>
          <a:p>
            <a:pPr indent="0" lvl="0" marL="0" marR="0" rtl="0" algn="l">
              <a:lnSpc>
                <a:spcPct val="138005"/>
              </a:lnSpc>
              <a:spcBef>
                <a:spcPts val="0"/>
              </a:spcBef>
              <a:spcAft>
                <a:spcPts val="0"/>
              </a:spcAft>
              <a:buNone/>
            </a:pPr>
            <a:r>
              <a:rPr b="0" i="0" lang="en-US" sz="2176" u="none" cap="none" strike="noStrike">
                <a:solidFill>
                  <a:srgbClr val="2B3542"/>
                </a:solidFill>
                <a:latin typeface="Inter"/>
                <a:ea typeface="Inter"/>
                <a:cs typeface="Inter"/>
                <a:sym typeface="Inter"/>
              </a:rPr>
              <a:t>Holding cost $76,0M menunjukkan overstock di kategori sekunder berjalan bersamaan dengan stockout.</a:t>
            </a:r>
            <a:endParaRPr/>
          </a:p>
        </p:txBody>
      </p:sp>
      <p:sp>
        <p:nvSpPr>
          <p:cNvPr id="526" name="Google Shape;526;p25"/>
          <p:cNvSpPr txBox="1"/>
          <p:nvPr/>
        </p:nvSpPr>
        <p:spPr>
          <a:xfrm>
            <a:off x="9178776" y="6183325"/>
            <a:ext cx="8360493" cy="279254"/>
          </a:xfrm>
          <a:prstGeom prst="rect">
            <a:avLst/>
          </a:prstGeom>
          <a:noFill/>
          <a:ln>
            <a:noFill/>
          </a:ln>
        </p:spPr>
        <p:txBody>
          <a:bodyPr anchorCtr="0" anchor="t" bIns="0" lIns="0" spcFirstLastPara="1" rIns="0" wrap="square" tIns="0">
            <a:spAutoFit/>
          </a:bodyPr>
          <a:lstStyle/>
          <a:p>
            <a:pPr indent="0" lvl="0" marL="0" marR="0" rtl="0" algn="l">
              <a:lnSpc>
                <a:spcPct val="129568"/>
              </a:lnSpc>
              <a:spcBef>
                <a:spcPts val="0"/>
              </a:spcBef>
              <a:spcAft>
                <a:spcPts val="0"/>
              </a:spcAft>
              <a:buNone/>
            </a:pPr>
            <a:r>
              <a:rPr b="0" i="0" lang="en-US" spc="15" sz="1576" u="none" cap="none" strike="noStrike">
                <a:solidFill>
                  <a:srgbClr val="66625A"/>
                </a:solidFill>
                <a:latin typeface="Inter"/>
                <a:ea typeface="Inter"/>
                <a:cs typeface="Inter"/>
                <a:sym typeface="Inter"/>
              </a:rPr>
              <a:t>Overstock masif di Snacks ($19,0M) &amp; Personal Care ($15,8M)</a:t>
            </a:r>
            <a:endParaRPr/>
          </a:p>
        </p:txBody>
      </p:sp>
      <p:sp>
        <p:nvSpPr>
          <p:cNvPr id="527" name="Google Shape;527;p25"/>
          <p:cNvSpPr/>
          <p:nvPr/>
        </p:nvSpPr>
        <p:spPr>
          <a:xfrm>
            <a:off x="762581" y="6987578"/>
            <a:ext cx="16776668" cy="1533049"/>
          </a:xfrm>
          <a:custGeom>
            <a:rect b="b" l="l" r="r" t="t"/>
            <a:pathLst>
              <a:path extrusionOk="0" h="2044065" w="22368890">
                <a:moveTo>
                  <a:pt x="0" y="0"/>
                </a:moveTo>
                <a:lnTo>
                  <a:pt x="22368890" y="0"/>
                </a:lnTo>
                <a:lnTo>
                  <a:pt x="22368890" y="2044065"/>
                </a:lnTo>
                <a:lnTo>
                  <a:pt x="0" y="2044065"/>
                </a:lnTo>
                <a:close/>
              </a:path>
            </a:pathLst>
          </a:custGeom>
          <a:solidFill>
            <a:srgbClr val="EDF2F7"/>
          </a:solidFill>
          <a:ln>
            <a:noFill/>
          </a:ln>
        </p:spPr>
      </p:sp>
      <p:sp>
        <p:nvSpPr>
          <p:cNvPr id="528" name="Google Shape;528;p25"/>
          <p:cNvSpPr/>
          <p:nvPr/>
        </p:nvSpPr>
        <p:spPr>
          <a:xfrm>
            <a:off x="762581" y="6987578"/>
            <a:ext cx="16776668" cy="57150"/>
          </a:xfrm>
          <a:custGeom>
            <a:rect b="b" l="l" r="r" t="t"/>
            <a:pathLst>
              <a:path extrusionOk="0" h="76200" w="22368890">
                <a:moveTo>
                  <a:pt x="0" y="0"/>
                </a:moveTo>
                <a:lnTo>
                  <a:pt x="22368890" y="0"/>
                </a:lnTo>
                <a:lnTo>
                  <a:pt x="22368890" y="76200"/>
                </a:lnTo>
                <a:lnTo>
                  <a:pt x="0" y="76200"/>
                </a:lnTo>
                <a:close/>
              </a:path>
            </a:pathLst>
          </a:custGeom>
          <a:solidFill>
            <a:srgbClr val="0CC0DF"/>
          </a:solidFill>
          <a:ln>
            <a:noFill/>
          </a:ln>
        </p:spPr>
      </p:sp>
      <p:sp>
        <p:nvSpPr>
          <p:cNvPr id="529" name="Google Shape;529;p25"/>
          <p:cNvSpPr txBox="1"/>
          <p:nvPr/>
        </p:nvSpPr>
        <p:spPr>
          <a:xfrm>
            <a:off x="1105738" y="7225903"/>
            <a:ext cx="16433530" cy="226838"/>
          </a:xfrm>
          <a:prstGeom prst="rect">
            <a:avLst/>
          </a:prstGeom>
          <a:noFill/>
          <a:ln>
            <a:noFill/>
          </a:ln>
        </p:spPr>
        <p:txBody>
          <a:bodyPr anchorCtr="0" anchor="t" bIns="0" lIns="0" spcFirstLastPara="1" rIns="0" wrap="square" tIns="0">
            <a:spAutoFit/>
          </a:bodyPr>
          <a:lstStyle/>
          <a:p>
            <a:pPr indent="0" lvl="0" marL="0" marR="0" rtl="0" algn="l">
              <a:lnSpc>
                <a:spcPct val="119985"/>
              </a:lnSpc>
              <a:spcBef>
                <a:spcPts val="0"/>
              </a:spcBef>
              <a:spcAft>
                <a:spcPts val="0"/>
              </a:spcAft>
              <a:buNone/>
            </a:pPr>
            <a:r>
              <a:rPr b="0" i="0" lang="en-US" spc="142" sz="1426" u="none" cap="none" strike="noStrike">
                <a:solidFill>
                  <a:srgbClr val="2B3542"/>
                </a:solidFill>
                <a:latin typeface="Inter"/>
                <a:ea typeface="Inter"/>
                <a:cs typeface="Inter"/>
                <a:sym typeface="Inter"/>
              </a:rPr>
              <a:t>KESIMPULAN DIAGNOSTIK</a:t>
            </a:r>
            <a:endParaRPr/>
          </a:p>
        </p:txBody>
      </p:sp>
      <p:sp>
        <p:nvSpPr>
          <p:cNvPr id="530" name="Google Shape;530;p25"/>
          <p:cNvSpPr txBox="1"/>
          <p:nvPr/>
        </p:nvSpPr>
        <p:spPr>
          <a:xfrm>
            <a:off x="1105738" y="7533742"/>
            <a:ext cx="16090373" cy="800995"/>
          </a:xfrm>
          <a:prstGeom prst="rect">
            <a:avLst/>
          </a:prstGeom>
          <a:noFill/>
          <a:ln>
            <a:noFill/>
          </a:ln>
        </p:spPr>
        <p:txBody>
          <a:bodyPr anchorCtr="0" anchor="t" bIns="0" lIns="0" spcFirstLastPara="1" rIns="0" wrap="square" tIns="0">
            <a:spAutoFit/>
          </a:bodyPr>
          <a:lstStyle/>
          <a:p>
            <a:pPr indent="0" lvl="0" marL="0" marR="0" rtl="0" algn="l">
              <a:lnSpc>
                <a:spcPct val="138005"/>
              </a:lnSpc>
              <a:spcBef>
                <a:spcPts val="0"/>
              </a:spcBef>
              <a:spcAft>
                <a:spcPts val="0"/>
              </a:spcAft>
              <a:buNone/>
            </a:pPr>
            <a:r>
              <a:rPr b="0" i="0" lang="en-US" sz="2176" u="none" cap="none" strike="noStrike">
                <a:solidFill>
                  <a:srgbClr val="2B3542"/>
                </a:solidFill>
                <a:latin typeface="Inter"/>
                <a:ea typeface="Inter"/>
                <a:cs typeface="Inter"/>
                <a:sym typeface="Inter"/>
              </a:rPr>
              <a:t>Sistem inventaris saat ini mengalami </a:t>
            </a:r>
            <a:r>
              <a:rPr b="1" i="0" lang="en-US" sz="2176" u="none" cap="none" strike="noStrike">
                <a:solidFill>
                  <a:srgbClr val="2B3542"/>
                </a:solidFill>
                <a:latin typeface="Inter"/>
                <a:ea typeface="Inter"/>
                <a:cs typeface="Inter"/>
                <a:sym typeface="Inter"/>
              </a:rPr>
              <a:t>miskalibrasi alokasi modal</a:t>
            </a:r>
            <a:r>
              <a:rPr b="0" i="0" lang="en-US" sz="2176" u="none" cap="none" strike="noStrike">
                <a:solidFill>
                  <a:srgbClr val="2B3542"/>
                </a:solidFill>
                <a:latin typeface="Inter"/>
                <a:ea typeface="Inter"/>
                <a:cs typeface="Inter"/>
                <a:sym typeface="Inter"/>
              </a:rPr>
              <a:t>: dana perusahaan terikat pada SKU bervolume rendah yang mengalami overstock, sementara produk pendorong penjualan utama kekurangan safety stock.</a:t>
            </a:r>
            <a:endParaRPr/>
          </a:p>
        </p:txBody>
      </p:sp>
      <p:sp>
        <p:nvSpPr>
          <p:cNvPr id="531" name="Google Shape;531;p25"/>
          <p:cNvSpPr txBox="1"/>
          <p:nvPr/>
        </p:nvSpPr>
        <p:spPr>
          <a:xfrm>
            <a:off x="762581" y="8690724"/>
            <a:ext cx="17539268" cy="272996"/>
          </a:xfrm>
          <a:prstGeom prst="rect">
            <a:avLst/>
          </a:prstGeom>
          <a:noFill/>
          <a:ln>
            <a:noFill/>
          </a:ln>
        </p:spPr>
        <p:txBody>
          <a:bodyPr anchorCtr="0" anchor="t" bIns="0" lIns="0" spcFirstLastPara="1" rIns="0" wrap="square" tIns="0">
            <a:spAutoFit/>
          </a:bodyPr>
          <a:lstStyle/>
          <a:p>
            <a:pPr indent="0" lvl="0" marL="0" marR="0" rtl="0" algn="l">
              <a:lnSpc>
                <a:spcPct val="134361"/>
              </a:lnSpc>
              <a:spcBef>
                <a:spcPts val="0"/>
              </a:spcBef>
              <a:spcAft>
                <a:spcPts val="0"/>
              </a:spcAft>
              <a:buNone/>
            </a:pPr>
            <a:r>
              <a:rPr b="0" i="0" lang="en-US" spc="85" sz="1426" u="none" cap="none" strike="noStrike">
                <a:solidFill>
                  <a:srgbClr val="66625A"/>
                </a:solidFill>
                <a:latin typeface="Inter"/>
                <a:ea typeface="Inter"/>
                <a:cs typeface="Inter"/>
                <a:sym typeface="Inter"/>
              </a:rPr>
              <a:t>SUMBER: AUDIT INVENTARIS GUDANG REGIONAL; LAPORAN STOCKOUT SKU HIGH-DEMAND 2021–2023</a:t>
            </a:r>
            <a:endParaRPr/>
          </a:p>
        </p:txBody>
      </p:sp>
      <p:sp>
        <p:nvSpPr>
          <p:cNvPr id="532" name="Google Shape;532;p25"/>
          <p:cNvSpPr/>
          <p:nvPr/>
        </p:nvSpPr>
        <p:spPr>
          <a:xfrm>
            <a:off x="0" y="9723091"/>
            <a:ext cx="18301811" cy="14287"/>
          </a:xfrm>
          <a:custGeom>
            <a:rect b="b" l="l" r="r" t="t"/>
            <a:pathLst>
              <a:path extrusionOk="0" h="19050" w="24402414">
                <a:moveTo>
                  <a:pt x="0" y="0"/>
                </a:moveTo>
                <a:lnTo>
                  <a:pt x="24402414" y="0"/>
                </a:lnTo>
                <a:lnTo>
                  <a:pt x="24402414" y="19050"/>
                </a:lnTo>
                <a:lnTo>
                  <a:pt x="0" y="19050"/>
                </a:lnTo>
                <a:close/>
              </a:path>
            </a:pathLst>
          </a:custGeom>
          <a:solidFill>
            <a:srgbClr val="2B3542">
              <a:alpha val="3922"/>
            </a:srgbClr>
          </a:solidFill>
          <a:ln>
            <a:noFill/>
          </a:ln>
        </p:spPr>
      </p:sp>
      <p:grpSp>
        <p:nvGrpSpPr>
          <p:cNvPr id="533" name="Google Shape;533;p25"/>
          <p:cNvGrpSpPr/>
          <p:nvPr/>
        </p:nvGrpSpPr>
        <p:grpSpPr>
          <a:xfrm>
            <a:off x="293380" y="9612742"/>
            <a:ext cx="7167785" cy="521294"/>
            <a:chOff x="0" y="-28575"/>
            <a:chExt cx="9557046" cy="695058"/>
          </a:xfrm>
        </p:grpSpPr>
        <p:sp>
          <p:nvSpPr>
            <p:cNvPr id="534" name="Google Shape;534;p25"/>
            <p:cNvSpPr/>
            <p:nvPr/>
          </p:nvSpPr>
          <p:spPr>
            <a:xfrm>
              <a:off x="0" y="0"/>
              <a:ext cx="9557046" cy="666483"/>
            </a:xfrm>
            <a:custGeom>
              <a:rect b="b" l="l" r="r" t="t"/>
              <a:pathLst>
                <a:path extrusionOk="0" h="666483" w="9557046">
                  <a:moveTo>
                    <a:pt x="0" y="0"/>
                  </a:moveTo>
                  <a:lnTo>
                    <a:pt x="9557046" y="0"/>
                  </a:lnTo>
                  <a:lnTo>
                    <a:pt x="9557046" y="666483"/>
                  </a:lnTo>
                  <a:lnTo>
                    <a:pt x="0" y="666483"/>
                  </a:lnTo>
                  <a:close/>
                </a:path>
              </a:pathLst>
            </a:custGeom>
            <a:blipFill rotWithShape="1">
              <a:blip r:embed="rId3">
                <a:alphaModFix amt="0"/>
              </a:blip>
              <a:stretch>
                <a:fillRect b="-181075" l="0" r="17296" t="-181075"/>
              </a:stretch>
            </a:blipFill>
            <a:ln>
              <a:noFill/>
            </a:ln>
          </p:spPr>
        </p:sp>
        <p:sp>
          <p:nvSpPr>
            <p:cNvPr id="535" name="Google Shape;535;p25"/>
            <p:cNvSpPr txBox="1"/>
            <p:nvPr/>
          </p:nvSpPr>
          <p:spPr>
            <a:xfrm>
              <a:off x="0" y="-28575"/>
              <a:ext cx="9557042" cy="695052"/>
            </a:xfrm>
            <a:prstGeom prst="rect">
              <a:avLst/>
            </a:prstGeom>
            <a:noFill/>
            <a:ln>
              <a:noFill/>
            </a:ln>
          </p:spPr>
          <p:txBody>
            <a:bodyPr anchorCtr="0" anchor="ctr" bIns="0" lIns="0" spcFirstLastPara="1" rIns="0" wrap="square" tIns="0">
              <a:noAutofit/>
            </a:bodyPr>
            <a:lstStyle/>
            <a:p>
              <a:pPr indent="0" lvl="0" marL="0" marR="0" rtl="0" algn="l">
                <a:lnSpc>
                  <a:spcPct val="138008"/>
                </a:lnSpc>
                <a:spcBef>
                  <a:spcPts val="0"/>
                </a:spcBef>
                <a:spcAft>
                  <a:spcPts val="0"/>
                </a:spcAft>
                <a:buNone/>
              </a:pPr>
              <a:r>
                <a:rPr b="0" i="0" lang="en-US" spc="142" sz="1426" u="none" cap="none" strike="noStrike">
                  <a:solidFill>
                    <a:srgbClr val="2B3542"/>
                  </a:solidFill>
                  <a:latin typeface="Inter"/>
                  <a:ea typeface="Inter"/>
                  <a:cs typeface="Inter"/>
                  <a:sym typeface="Inter"/>
                </a:rPr>
                <a:t>GLOBAL FMCG SUPPLY CHAIN ANALYTICS — EXECUTIVE REPORT</a:t>
              </a:r>
              <a:endParaRPr/>
            </a:p>
          </p:txBody>
        </p:sp>
      </p:grpSp>
      <p:grpSp>
        <p:nvGrpSpPr>
          <p:cNvPr id="536" name="Google Shape;536;p25"/>
          <p:cNvGrpSpPr/>
          <p:nvPr/>
        </p:nvGrpSpPr>
        <p:grpSpPr>
          <a:xfrm>
            <a:off x="15480401" y="64663"/>
            <a:ext cx="4516946" cy="1127273"/>
            <a:chOff x="0" y="-241102"/>
            <a:chExt cx="6022595" cy="1503032"/>
          </a:xfrm>
        </p:grpSpPr>
        <p:grpSp>
          <p:nvGrpSpPr>
            <p:cNvPr id="537" name="Google Shape;537;p25"/>
            <p:cNvGrpSpPr/>
            <p:nvPr/>
          </p:nvGrpSpPr>
          <p:grpSpPr>
            <a:xfrm>
              <a:off x="0" y="-241102"/>
              <a:ext cx="6022595" cy="1503032"/>
              <a:chOff x="0" y="-47625"/>
              <a:chExt cx="1189648" cy="296895"/>
            </a:xfrm>
          </p:grpSpPr>
          <p:sp>
            <p:nvSpPr>
              <p:cNvPr id="538" name="Google Shape;538;p25"/>
              <p:cNvSpPr/>
              <p:nvPr/>
            </p:nvSpPr>
            <p:spPr>
              <a:xfrm>
                <a:off x="0" y="0"/>
                <a:ext cx="1189648" cy="249270"/>
              </a:xfrm>
              <a:custGeom>
                <a:rect b="b" l="l" r="r" t="t"/>
                <a:pathLst>
                  <a:path extrusionOk="0" h="249270" w="1189648">
                    <a:moveTo>
                      <a:pt x="87413" y="0"/>
                    </a:moveTo>
                    <a:lnTo>
                      <a:pt x="1102236" y="0"/>
                    </a:lnTo>
                    <a:cubicBezTo>
                      <a:pt x="1125419" y="0"/>
                      <a:pt x="1147653" y="9210"/>
                      <a:pt x="1164046" y="25603"/>
                    </a:cubicBezTo>
                    <a:cubicBezTo>
                      <a:pt x="1180439" y="41996"/>
                      <a:pt x="1189648" y="64229"/>
                      <a:pt x="1189648" y="87413"/>
                    </a:cubicBezTo>
                    <a:lnTo>
                      <a:pt x="1189648" y="161858"/>
                    </a:lnTo>
                    <a:cubicBezTo>
                      <a:pt x="1189648" y="185041"/>
                      <a:pt x="1180439" y="207275"/>
                      <a:pt x="1164046" y="223668"/>
                    </a:cubicBezTo>
                    <a:cubicBezTo>
                      <a:pt x="1147653" y="240061"/>
                      <a:pt x="1125419" y="249270"/>
                      <a:pt x="1102236" y="249270"/>
                    </a:cubicBezTo>
                    <a:lnTo>
                      <a:pt x="87413" y="249270"/>
                    </a:lnTo>
                    <a:cubicBezTo>
                      <a:pt x="64229" y="249270"/>
                      <a:pt x="41996" y="240061"/>
                      <a:pt x="25603" y="223668"/>
                    </a:cubicBezTo>
                    <a:cubicBezTo>
                      <a:pt x="9210" y="207275"/>
                      <a:pt x="0" y="185041"/>
                      <a:pt x="0" y="161858"/>
                    </a:cubicBezTo>
                    <a:lnTo>
                      <a:pt x="0" y="87413"/>
                    </a:lnTo>
                    <a:cubicBezTo>
                      <a:pt x="0" y="64229"/>
                      <a:pt x="9210" y="41996"/>
                      <a:pt x="25603" y="25603"/>
                    </a:cubicBezTo>
                    <a:cubicBezTo>
                      <a:pt x="41996" y="9210"/>
                      <a:pt x="64229" y="0"/>
                      <a:pt x="87413" y="0"/>
                    </a:cubicBezTo>
                    <a:close/>
                  </a:path>
                </a:pathLst>
              </a:custGeom>
              <a:solidFill>
                <a:srgbClr val="FE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 name="Google Shape;539;p25"/>
              <p:cNvSpPr txBox="1"/>
              <p:nvPr/>
            </p:nvSpPr>
            <p:spPr>
              <a:xfrm>
                <a:off x="0" y="-47625"/>
                <a:ext cx="1189648" cy="296895"/>
              </a:xfrm>
              <a:prstGeom prst="rect">
                <a:avLst/>
              </a:prstGeom>
              <a:noFill/>
              <a:ln>
                <a:noFill/>
              </a:ln>
            </p:spPr>
            <p:txBody>
              <a:bodyPr anchorCtr="0" anchor="ctr" bIns="50800" lIns="50800" spcFirstLastPara="1" rIns="50800" wrap="square" tIns="50800">
                <a:noAutofit/>
              </a:bodyPr>
              <a:lstStyle/>
              <a:p>
                <a:pPr indent="0" lvl="0" marL="0" marR="0" rtl="0" algn="ctr">
                  <a:lnSpc>
                    <a:spcPct val="155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540" name="Google Shape;540;p25"/>
            <p:cNvSpPr/>
            <p:nvPr/>
          </p:nvSpPr>
          <p:spPr>
            <a:xfrm>
              <a:off x="483631" y="226255"/>
              <a:ext cx="2676306" cy="809419"/>
            </a:xfrm>
            <a:custGeom>
              <a:rect b="b" l="l" r="r" t="t"/>
              <a:pathLst>
                <a:path extrusionOk="0" h="809419" w="2676306">
                  <a:moveTo>
                    <a:pt x="0" y="0"/>
                  </a:moveTo>
                  <a:lnTo>
                    <a:pt x="2676305" y="0"/>
                  </a:lnTo>
                  <a:lnTo>
                    <a:pt x="2676305" y="809420"/>
                  </a:lnTo>
                  <a:lnTo>
                    <a:pt x="0" y="809420"/>
                  </a:lnTo>
                  <a:lnTo>
                    <a:pt x="0" y="0"/>
                  </a:lnTo>
                  <a:close/>
                </a:path>
              </a:pathLst>
            </a:custGeom>
            <a:blipFill rotWithShape="1">
              <a:blip r:embed="rId4">
                <a:alphaModFix/>
              </a:blip>
              <a:stretch>
                <a:fillRect b="0" l="0" r="0" t="0"/>
              </a:stretch>
            </a:blipFill>
            <a:ln>
              <a:noFill/>
            </a:ln>
          </p:spPr>
        </p:sp>
      </p:gr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548" name="Shape 548"/>
        <p:cNvGrpSpPr/>
        <p:nvPr/>
      </p:nvGrpSpPr>
      <p:grpSpPr>
        <a:xfrm>
          <a:off x="0" y="0"/>
          <a:ext cx="0" cy="0"/>
          <a:chOff x="0" y="0"/>
          <a:chExt cx="0" cy="0"/>
        </a:xfrm>
      </p:grpSpPr>
      <p:sp>
        <p:nvSpPr>
          <p:cNvPr id="549" name="Google Shape;549;p26"/>
          <p:cNvSpPr txBox="1"/>
          <p:nvPr/>
        </p:nvSpPr>
        <p:spPr>
          <a:xfrm>
            <a:off x="762581" y="753075"/>
            <a:ext cx="17539268" cy="226838"/>
          </a:xfrm>
          <a:prstGeom prst="rect">
            <a:avLst/>
          </a:prstGeom>
          <a:noFill/>
          <a:ln>
            <a:noFill/>
          </a:ln>
        </p:spPr>
        <p:txBody>
          <a:bodyPr anchorCtr="0" anchor="t" bIns="0" lIns="0" spcFirstLastPara="1" rIns="0" wrap="square" tIns="0">
            <a:spAutoFit/>
          </a:bodyPr>
          <a:lstStyle/>
          <a:p>
            <a:pPr indent="0" lvl="0" marL="0" marR="0" rtl="0" algn="l">
              <a:lnSpc>
                <a:spcPct val="119985"/>
              </a:lnSpc>
              <a:spcBef>
                <a:spcPts val="0"/>
              </a:spcBef>
              <a:spcAft>
                <a:spcPts val="0"/>
              </a:spcAft>
              <a:buNone/>
            </a:pPr>
            <a:r>
              <a:rPr b="0" i="0" lang="en-US" spc="199" sz="1426" u="none" cap="none" strike="noStrike">
                <a:solidFill>
                  <a:srgbClr val="1B2638"/>
                </a:solidFill>
                <a:latin typeface="Inter"/>
                <a:ea typeface="Inter"/>
                <a:cs typeface="Inter"/>
                <a:sym typeface="Inter"/>
              </a:rPr>
              <a:t>10 STRATEGIS: SENSITIVITAS HARGA</a:t>
            </a:r>
            <a:endParaRPr/>
          </a:p>
        </p:txBody>
      </p:sp>
      <p:sp>
        <p:nvSpPr>
          <p:cNvPr id="550" name="Google Shape;550;p26"/>
          <p:cNvSpPr txBox="1"/>
          <p:nvPr/>
        </p:nvSpPr>
        <p:spPr>
          <a:xfrm>
            <a:off x="762581" y="1075230"/>
            <a:ext cx="16776687" cy="533819"/>
          </a:xfrm>
          <a:prstGeom prst="rect">
            <a:avLst/>
          </a:prstGeom>
          <a:noFill/>
          <a:ln>
            <a:noFill/>
          </a:ln>
        </p:spPr>
        <p:txBody>
          <a:bodyPr anchorCtr="0" anchor="t" bIns="0" lIns="0" spcFirstLastPara="1" rIns="0" wrap="square" tIns="0">
            <a:spAutoFit/>
          </a:bodyPr>
          <a:lstStyle/>
          <a:p>
            <a:pPr indent="0" lvl="0" marL="0" marR="0" rtl="0" algn="l">
              <a:lnSpc>
                <a:spcPct val="111620"/>
              </a:lnSpc>
              <a:spcBef>
                <a:spcPts val="0"/>
              </a:spcBef>
              <a:spcAft>
                <a:spcPts val="0"/>
              </a:spcAft>
              <a:buNone/>
            </a:pPr>
            <a:r>
              <a:rPr b="0" i="0" lang="en-US" spc="-18" sz="3752" u="none" cap="none" strike="noStrike">
                <a:solidFill>
                  <a:srgbClr val="0F1B2B"/>
                </a:solidFill>
                <a:latin typeface="Arimo"/>
                <a:ea typeface="Arimo"/>
                <a:cs typeface="Arimo"/>
                <a:sym typeface="Arimo"/>
              </a:rPr>
              <a:t>Diskon flat menggerus margin ketika kategori utama bersifat inelastis</a:t>
            </a:r>
            <a:endParaRPr/>
          </a:p>
        </p:txBody>
      </p:sp>
      <p:sp>
        <p:nvSpPr>
          <p:cNvPr id="551" name="Google Shape;551;p26"/>
          <p:cNvSpPr/>
          <p:nvPr/>
        </p:nvSpPr>
        <p:spPr>
          <a:xfrm>
            <a:off x="762581" y="1887874"/>
            <a:ext cx="16776573" cy="28575"/>
          </a:xfrm>
          <a:custGeom>
            <a:rect b="b" l="l" r="r" t="t"/>
            <a:pathLst>
              <a:path extrusionOk="0" h="38100" w="22368763">
                <a:moveTo>
                  <a:pt x="0" y="19050"/>
                </a:moveTo>
                <a:cubicBezTo>
                  <a:pt x="0" y="8509"/>
                  <a:pt x="8509" y="0"/>
                  <a:pt x="19050" y="0"/>
                </a:cubicBezTo>
                <a:lnTo>
                  <a:pt x="22349713" y="0"/>
                </a:lnTo>
                <a:cubicBezTo>
                  <a:pt x="22360254" y="0"/>
                  <a:pt x="22368763" y="8509"/>
                  <a:pt x="22368763" y="19050"/>
                </a:cubicBezTo>
                <a:cubicBezTo>
                  <a:pt x="22368763" y="29591"/>
                  <a:pt x="22360254" y="38100"/>
                  <a:pt x="22349713" y="38100"/>
                </a:cubicBezTo>
                <a:lnTo>
                  <a:pt x="19050" y="38100"/>
                </a:lnTo>
                <a:cubicBezTo>
                  <a:pt x="8509" y="38100"/>
                  <a:pt x="0" y="29591"/>
                  <a:pt x="0" y="19050"/>
                </a:cubicBezTo>
                <a:close/>
              </a:path>
            </a:pathLst>
          </a:custGeom>
          <a:solidFill>
            <a:srgbClr val="8C87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 name="Google Shape;552;p26"/>
          <p:cNvSpPr txBox="1"/>
          <p:nvPr/>
        </p:nvSpPr>
        <p:spPr>
          <a:xfrm>
            <a:off x="762581" y="2251500"/>
            <a:ext cx="5248970" cy="632898"/>
          </a:xfrm>
          <a:prstGeom prst="rect">
            <a:avLst/>
          </a:prstGeom>
          <a:noFill/>
          <a:ln>
            <a:noFill/>
          </a:ln>
        </p:spPr>
        <p:txBody>
          <a:bodyPr anchorCtr="0" anchor="t" bIns="0" lIns="0" spcFirstLastPara="1" rIns="0" wrap="square" tIns="0">
            <a:spAutoFit/>
          </a:bodyPr>
          <a:lstStyle/>
          <a:p>
            <a:pPr indent="0" lvl="0" marL="0" marR="0" rtl="0" algn="l">
              <a:lnSpc>
                <a:spcPct val="105604"/>
              </a:lnSpc>
              <a:spcBef>
                <a:spcPts val="0"/>
              </a:spcBef>
              <a:spcAft>
                <a:spcPts val="0"/>
              </a:spcAft>
              <a:buNone/>
            </a:pPr>
            <a:r>
              <a:rPr b="0" i="0" lang="en-US" spc="-51" sz="5103" u="none" cap="none" strike="noStrike">
                <a:solidFill>
                  <a:srgbClr val="0F1B2B"/>
                </a:solidFill>
                <a:latin typeface="Arimo"/>
                <a:ea typeface="Arimo"/>
                <a:cs typeface="Arimo"/>
                <a:sym typeface="Arimo"/>
              </a:rPr>
              <a:t>&lt; 1,0</a:t>
            </a:r>
            <a:endParaRPr/>
          </a:p>
        </p:txBody>
      </p:sp>
      <p:sp>
        <p:nvSpPr>
          <p:cNvPr id="553" name="Google Shape;553;p26"/>
          <p:cNvSpPr txBox="1"/>
          <p:nvPr/>
        </p:nvSpPr>
        <p:spPr>
          <a:xfrm>
            <a:off x="762581" y="2980687"/>
            <a:ext cx="5248970" cy="386953"/>
          </a:xfrm>
          <a:prstGeom prst="rect">
            <a:avLst/>
          </a:prstGeom>
          <a:noFill/>
          <a:ln>
            <a:noFill/>
          </a:ln>
        </p:spPr>
        <p:txBody>
          <a:bodyPr anchorCtr="0" anchor="t" bIns="0" lIns="0" spcFirstLastPara="1" rIns="0" wrap="square" tIns="0">
            <a:spAutoFit/>
          </a:bodyPr>
          <a:lstStyle/>
          <a:p>
            <a:pPr indent="0" lvl="0" marL="0" marR="0" rtl="0" algn="l">
              <a:lnSpc>
                <a:spcPct val="120032"/>
              </a:lnSpc>
              <a:spcBef>
                <a:spcPts val="0"/>
              </a:spcBef>
              <a:spcAft>
                <a:spcPts val="0"/>
              </a:spcAft>
              <a:buNone/>
            </a:pPr>
            <a:r>
              <a:rPr b="0" i="0" lang="en-US" spc="-12" sz="2476" u="none" cap="none" strike="noStrike">
                <a:solidFill>
                  <a:srgbClr val="0F1B2B"/>
                </a:solidFill>
                <a:latin typeface="Inter"/>
                <a:ea typeface="Inter"/>
                <a:cs typeface="Inter"/>
                <a:sym typeface="Inter"/>
              </a:rPr>
              <a:t>Price elasticity kategori utama</a:t>
            </a:r>
            <a:endParaRPr/>
          </a:p>
        </p:txBody>
      </p:sp>
      <p:sp>
        <p:nvSpPr>
          <p:cNvPr id="554" name="Google Shape;554;p26"/>
          <p:cNvSpPr txBox="1"/>
          <p:nvPr/>
        </p:nvSpPr>
        <p:spPr>
          <a:xfrm>
            <a:off x="762581" y="3491541"/>
            <a:ext cx="5248970" cy="1182443"/>
          </a:xfrm>
          <a:prstGeom prst="rect">
            <a:avLst/>
          </a:prstGeom>
          <a:noFill/>
          <a:ln>
            <a:noFill/>
          </a:ln>
        </p:spPr>
        <p:txBody>
          <a:bodyPr anchorCtr="0" anchor="t" bIns="0" lIns="0" spcFirstLastPara="1" rIns="0" wrap="square" tIns="0">
            <a:spAutoFit/>
          </a:bodyPr>
          <a:lstStyle/>
          <a:p>
            <a:pPr indent="0" lvl="0" marL="0" marR="0" rtl="0" algn="l">
              <a:lnSpc>
                <a:spcPct val="138005"/>
              </a:lnSpc>
              <a:spcBef>
                <a:spcPts val="0"/>
              </a:spcBef>
              <a:spcAft>
                <a:spcPts val="0"/>
              </a:spcAft>
              <a:buNone/>
            </a:pPr>
            <a:r>
              <a:rPr b="0" i="0" lang="en-US" sz="2176" u="none" cap="none" strike="noStrike">
                <a:solidFill>
                  <a:srgbClr val="2B3542"/>
                </a:solidFill>
                <a:latin typeface="Inter"/>
                <a:ea typeface="Inter"/>
                <a:cs typeface="Inter"/>
                <a:sym typeface="Inter"/>
              </a:rPr>
              <a:t>Kategori utama menunjukkan price elasticity &lt; 1,0; diskon tidak meningkatkan volume secara proporsional.</a:t>
            </a:r>
            <a:endParaRPr/>
          </a:p>
        </p:txBody>
      </p:sp>
      <p:sp>
        <p:nvSpPr>
          <p:cNvPr id="555" name="Google Shape;555;p26"/>
          <p:cNvSpPr txBox="1"/>
          <p:nvPr/>
        </p:nvSpPr>
        <p:spPr>
          <a:xfrm>
            <a:off x="762581" y="6526492"/>
            <a:ext cx="5592128" cy="279254"/>
          </a:xfrm>
          <a:prstGeom prst="rect">
            <a:avLst/>
          </a:prstGeom>
          <a:noFill/>
          <a:ln>
            <a:noFill/>
          </a:ln>
        </p:spPr>
        <p:txBody>
          <a:bodyPr anchorCtr="0" anchor="t" bIns="0" lIns="0" spcFirstLastPara="1" rIns="0" wrap="square" tIns="0">
            <a:spAutoFit/>
          </a:bodyPr>
          <a:lstStyle/>
          <a:p>
            <a:pPr indent="0" lvl="0" marL="0" marR="0" rtl="0" algn="l">
              <a:lnSpc>
                <a:spcPct val="129568"/>
              </a:lnSpc>
              <a:spcBef>
                <a:spcPts val="0"/>
              </a:spcBef>
              <a:spcAft>
                <a:spcPts val="0"/>
              </a:spcAft>
              <a:buNone/>
            </a:pPr>
            <a:r>
              <a:rPr b="0" i="0" lang="en-US" spc="15" sz="1576" u="none" cap="none" strike="noStrike">
                <a:solidFill>
                  <a:srgbClr val="66625A"/>
                </a:solidFill>
                <a:latin typeface="Inter"/>
                <a:ea typeface="Inter"/>
                <a:cs typeface="Inter"/>
                <a:sym typeface="Inter"/>
              </a:rPr>
              <a:t>Inelastis: Snacks &amp; Dairy</a:t>
            </a:r>
            <a:endParaRPr/>
          </a:p>
        </p:txBody>
      </p:sp>
      <p:sp>
        <p:nvSpPr>
          <p:cNvPr id="556" name="Google Shape;556;p26"/>
          <p:cNvSpPr txBox="1"/>
          <p:nvPr/>
        </p:nvSpPr>
        <p:spPr>
          <a:xfrm>
            <a:off x="6697866" y="2251500"/>
            <a:ext cx="4905956" cy="632898"/>
          </a:xfrm>
          <a:prstGeom prst="rect">
            <a:avLst/>
          </a:prstGeom>
          <a:noFill/>
          <a:ln>
            <a:noFill/>
          </a:ln>
        </p:spPr>
        <p:txBody>
          <a:bodyPr anchorCtr="0" anchor="t" bIns="0" lIns="0" spcFirstLastPara="1" rIns="0" wrap="square" tIns="0">
            <a:spAutoFit/>
          </a:bodyPr>
          <a:lstStyle/>
          <a:p>
            <a:pPr indent="0" lvl="0" marL="0" marR="0" rtl="0" algn="l">
              <a:lnSpc>
                <a:spcPct val="105604"/>
              </a:lnSpc>
              <a:spcBef>
                <a:spcPts val="0"/>
              </a:spcBef>
              <a:spcAft>
                <a:spcPts val="0"/>
              </a:spcAft>
              <a:buNone/>
            </a:pPr>
            <a:r>
              <a:rPr b="0" i="0" lang="en-US" spc="-51" sz="5103" u="none" cap="none" strike="noStrike">
                <a:solidFill>
                  <a:srgbClr val="0F1B2B"/>
                </a:solidFill>
                <a:latin typeface="Arimo"/>
                <a:ea typeface="Arimo"/>
                <a:cs typeface="Arimo"/>
                <a:sym typeface="Arimo"/>
              </a:rPr>
              <a:t>38,5%</a:t>
            </a:r>
            <a:endParaRPr/>
          </a:p>
        </p:txBody>
      </p:sp>
      <p:sp>
        <p:nvSpPr>
          <p:cNvPr id="557" name="Google Shape;557;p26"/>
          <p:cNvSpPr txBox="1"/>
          <p:nvPr/>
        </p:nvSpPr>
        <p:spPr>
          <a:xfrm>
            <a:off x="6697866" y="2980687"/>
            <a:ext cx="4905956" cy="386953"/>
          </a:xfrm>
          <a:prstGeom prst="rect">
            <a:avLst/>
          </a:prstGeom>
          <a:noFill/>
          <a:ln>
            <a:noFill/>
          </a:ln>
        </p:spPr>
        <p:txBody>
          <a:bodyPr anchorCtr="0" anchor="t" bIns="0" lIns="0" spcFirstLastPara="1" rIns="0" wrap="square" tIns="0">
            <a:spAutoFit/>
          </a:bodyPr>
          <a:lstStyle/>
          <a:p>
            <a:pPr indent="0" lvl="0" marL="0" marR="0" rtl="0" algn="l">
              <a:lnSpc>
                <a:spcPct val="120032"/>
              </a:lnSpc>
              <a:spcBef>
                <a:spcPts val="0"/>
              </a:spcBef>
              <a:spcAft>
                <a:spcPts val="0"/>
              </a:spcAft>
              <a:buNone/>
            </a:pPr>
            <a:r>
              <a:rPr b="0" i="0" lang="en-US" spc="-12" sz="2476" u="none" cap="none" strike="noStrike">
                <a:solidFill>
                  <a:srgbClr val="0F1B2B"/>
                </a:solidFill>
                <a:latin typeface="Inter"/>
                <a:ea typeface="Inter"/>
                <a:cs typeface="Inter"/>
                <a:sym typeface="Inter"/>
              </a:rPr>
              <a:t>Overall net margin</a:t>
            </a:r>
            <a:endParaRPr/>
          </a:p>
        </p:txBody>
      </p:sp>
      <p:sp>
        <p:nvSpPr>
          <p:cNvPr id="558" name="Google Shape;558;p26"/>
          <p:cNvSpPr txBox="1"/>
          <p:nvPr/>
        </p:nvSpPr>
        <p:spPr>
          <a:xfrm>
            <a:off x="6697866" y="3491541"/>
            <a:ext cx="4905956" cy="1182443"/>
          </a:xfrm>
          <a:prstGeom prst="rect">
            <a:avLst/>
          </a:prstGeom>
          <a:noFill/>
          <a:ln>
            <a:noFill/>
          </a:ln>
        </p:spPr>
        <p:txBody>
          <a:bodyPr anchorCtr="0" anchor="t" bIns="0" lIns="0" spcFirstLastPara="1" rIns="0" wrap="square" tIns="0">
            <a:spAutoFit/>
          </a:bodyPr>
          <a:lstStyle/>
          <a:p>
            <a:pPr indent="0" lvl="0" marL="0" marR="0" rtl="0" algn="l">
              <a:lnSpc>
                <a:spcPct val="138005"/>
              </a:lnSpc>
              <a:spcBef>
                <a:spcPts val="0"/>
              </a:spcBef>
              <a:spcAft>
                <a:spcPts val="0"/>
              </a:spcAft>
              <a:buNone/>
            </a:pPr>
            <a:r>
              <a:rPr b="0" i="0" lang="en-US" sz="2176" u="none" cap="none" strike="noStrike">
                <a:solidFill>
                  <a:srgbClr val="2B3542"/>
                </a:solidFill>
                <a:latin typeface="Inter"/>
                <a:ea typeface="Inter"/>
                <a:cs typeface="Inter"/>
                <a:sym typeface="Inter"/>
              </a:rPr>
              <a:t>Diskon rata-rata 1,4% menekan margin bersih ke 38,5% tanpa ROI sepadan pada Snacks dan Dairy.</a:t>
            </a:r>
            <a:endParaRPr/>
          </a:p>
        </p:txBody>
      </p:sp>
      <p:sp>
        <p:nvSpPr>
          <p:cNvPr id="559" name="Google Shape;559;p26"/>
          <p:cNvSpPr txBox="1"/>
          <p:nvPr/>
        </p:nvSpPr>
        <p:spPr>
          <a:xfrm>
            <a:off x="6697879" y="6526500"/>
            <a:ext cx="3548700" cy="242700"/>
          </a:xfrm>
          <a:prstGeom prst="rect">
            <a:avLst/>
          </a:prstGeom>
          <a:noFill/>
          <a:ln>
            <a:noFill/>
          </a:ln>
        </p:spPr>
        <p:txBody>
          <a:bodyPr anchorCtr="0" anchor="t" bIns="0" lIns="0" spcFirstLastPara="1" rIns="0" wrap="square" tIns="0">
            <a:spAutoFit/>
          </a:bodyPr>
          <a:lstStyle/>
          <a:p>
            <a:pPr indent="0" lvl="0" marL="0" marR="0" rtl="0" algn="l">
              <a:lnSpc>
                <a:spcPct val="129568"/>
              </a:lnSpc>
              <a:spcBef>
                <a:spcPts val="0"/>
              </a:spcBef>
              <a:spcAft>
                <a:spcPts val="0"/>
              </a:spcAft>
              <a:buNone/>
            </a:pPr>
            <a:r>
              <a:rPr b="0" i="0" lang="en-US" spc="15" sz="1576" u="none" cap="none" strike="noStrike">
                <a:solidFill>
                  <a:srgbClr val="66625A"/>
                </a:solidFill>
                <a:latin typeface="Inter"/>
                <a:ea typeface="Inter"/>
                <a:cs typeface="Inter"/>
                <a:sym typeface="Inter"/>
              </a:rPr>
              <a:t>Kebocoran diskon $3,81M</a:t>
            </a:r>
            <a:endParaRPr/>
          </a:p>
        </p:txBody>
      </p:sp>
      <p:sp>
        <p:nvSpPr>
          <p:cNvPr id="560" name="Google Shape;560;p26"/>
          <p:cNvSpPr txBox="1"/>
          <p:nvPr/>
        </p:nvSpPr>
        <p:spPr>
          <a:xfrm>
            <a:off x="12290146" y="2251500"/>
            <a:ext cx="5249123" cy="632898"/>
          </a:xfrm>
          <a:prstGeom prst="rect">
            <a:avLst/>
          </a:prstGeom>
          <a:noFill/>
          <a:ln>
            <a:noFill/>
          </a:ln>
        </p:spPr>
        <p:txBody>
          <a:bodyPr anchorCtr="0" anchor="t" bIns="0" lIns="0" spcFirstLastPara="1" rIns="0" wrap="square" tIns="0">
            <a:spAutoFit/>
          </a:bodyPr>
          <a:lstStyle/>
          <a:p>
            <a:pPr indent="0" lvl="0" marL="0" marR="0" rtl="0" algn="l">
              <a:lnSpc>
                <a:spcPct val="105604"/>
              </a:lnSpc>
              <a:spcBef>
                <a:spcPts val="0"/>
              </a:spcBef>
              <a:spcAft>
                <a:spcPts val="0"/>
              </a:spcAft>
              <a:buNone/>
            </a:pPr>
            <a:r>
              <a:rPr b="0" i="0" lang="en-US" spc="-51" sz="5103" u="none" cap="none" strike="noStrike">
                <a:solidFill>
                  <a:srgbClr val="0F1B2B"/>
                </a:solidFill>
                <a:latin typeface="Arimo"/>
                <a:ea typeface="Arimo"/>
                <a:cs typeface="Arimo"/>
                <a:sym typeface="Arimo"/>
              </a:rPr>
              <a:t>54,5%</a:t>
            </a:r>
            <a:endParaRPr/>
          </a:p>
        </p:txBody>
      </p:sp>
      <p:sp>
        <p:nvSpPr>
          <p:cNvPr id="561" name="Google Shape;561;p26"/>
          <p:cNvSpPr txBox="1"/>
          <p:nvPr/>
        </p:nvSpPr>
        <p:spPr>
          <a:xfrm>
            <a:off x="12290146" y="2980687"/>
            <a:ext cx="5249123" cy="386953"/>
          </a:xfrm>
          <a:prstGeom prst="rect">
            <a:avLst/>
          </a:prstGeom>
          <a:noFill/>
          <a:ln>
            <a:noFill/>
          </a:ln>
        </p:spPr>
        <p:txBody>
          <a:bodyPr anchorCtr="0" anchor="t" bIns="0" lIns="0" spcFirstLastPara="1" rIns="0" wrap="square" tIns="0">
            <a:spAutoFit/>
          </a:bodyPr>
          <a:lstStyle/>
          <a:p>
            <a:pPr indent="0" lvl="0" marL="0" marR="0" rtl="0" algn="l">
              <a:lnSpc>
                <a:spcPct val="120032"/>
              </a:lnSpc>
              <a:spcBef>
                <a:spcPts val="0"/>
              </a:spcBef>
              <a:spcAft>
                <a:spcPts val="0"/>
              </a:spcAft>
              <a:buNone/>
            </a:pPr>
            <a:r>
              <a:rPr b="0" i="0" lang="en-US" spc="-12" sz="2476" u="none" cap="none" strike="noStrike">
                <a:solidFill>
                  <a:srgbClr val="0F1B2B"/>
                </a:solidFill>
                <a:latin typeface="Inter"/>
                <a:ea typeface="Inter"/>
                <a:cs typeface="Inter"/>
                <a:sym typeface="Inter"/>
              </a:rPr>
              <a:t>Pangsa penjualan Hypermarket</a:t>
            </a:r>
            <a:endParaRPr/>
          </a:p>
        </p:txBody>
      </p:sp>
      <p:sp>
        <p:nvSpPr>
          <p:cNvPr id="562" name="Google Shape;562;p26"/>
          <p:cNvSpPr txBox="1"/>
          <p:nvPr/>
        </p:nvSpPr>
        <p:spPr>
          <a:xfrm>
            <a:off x="12290146" y="3491541"/>
            <a:ext cx="5249123" cy="1182443"/>
          </a:xfrm>
          <a:prstGeom prst="rect">
            <a:avLst/>
          </a:prstGeom>
          <a:noFill/>
          <a:ln>
            <a:noFill/>
          </a:ln>
        </p:spPr>
        <p:txBody>
          <a:bodyPr anchorCtr="0" anchor="t" bIns="0" lIns="0" spcFirstLastPara="1" rIns="0" wrap="square" tIns="0">
            <a:spAutoFit/>
          </a:bodyPr>
          <a:lstStyle/>
          <a:p>
            <a:pPr indent="0" lvl="0" marL="0" marR="0" rtl="0" algn="l">
              <a:lnSpc>
                <a:spcPct val="138005"/>
              </a:lnSpc>
              <a:spcBef>
                <a:spcPts val="0"/>
              </a:spcBef>
              <a:spcAft>
                <a:spcPts val="0"/>
              </a:spcAft>
              <a:buNone/>
            </a:pPr>
            <a:r>
              <a:rPr b="0" i="0" lang="en-US" sz="2176" u="none" cap="none" strike="noStrike">
                <a:solidFill>
                  <a:srgbClr val="2B3542"/>
                </a:solidFill>
                <a:latin typeface="Inter"/>
                <a:ea typeface="Inter"/>
                <a:cs typeface="Inter"/>
                <a:sym typeface="Inter"/>
              </a:rPr>
              <a:t>Hypermarket menyumbang 54,5% penjualan dan menjadi kanal dengan ketergantungan promo tertinggi.</a:t>
            </a:r>
            <a:endParaRPr/>
          </a:p>
        </p:txBody>
      </p:sp>
      <p:sp>
        <p:nvSpPr>
          <p:cNvPr id="563" name="Google Shape;563;p26"/>
          <p:cNvSpPr txBox="1"/>
          <p:nvPr/>
        </p:nvSpPr>
        <p:spPr>
          <a:xfrm>
            <a:off x="12290146" y="6526492"/>
            <a:ext cx="5249123" cy="279254"/>
          </a:xfrm>
          <a:prstGeom prst="rect">
            <a:avLst/>
          </a:prstGeom>
          <a:noFill/>
          <a:ln>
            <a:noFill/>
          </a:ln>
        </p:spPr>
        <p:txBody>
          <a:bodyPr anchorCtr="0" anchor="t" bIns="0" lIns="0" spcFirstLastPara="1" rIns="0" wrap="square" tIns="0">
            <a:spAutoFit/>
          </a:bodyPr>
          <a:lstStyle/>
          <a:p>
            <a:pPr indent="0" lvl="0" marL="0" marR="0" rtl="0" algn="l">
              <a:lnSpc>
                <a:spcPct val="129568"/>
              </a:lnSpc>
              <a:spcBef>
                <a:spcPts val="0"/>
              </a:spcBef>
              <a:spcAft>
                <a:spcPts val="0"/>
              </a:spcAft>
              <a:buNone/>
            </a:pPr>
            <a:r>
              <a:rPr b="0" i="0" lang="en-US" spc="15" sz="1576" u="none" cap="none" strike="noStrike">
                <a:solidFill>
                  <a:srgbClr val="66625A"/>
                </a:solidFill>
                <a:latin typeface="Inter"/>
                <a:ea typeface="Inter"/>
                <a:cs typeface="Inter"/>
                <a:sym typeface="Inter"/>
              </a:rPr>
              <a:t>Kanal paling rentan diskon</a:t>
            </a:r>
            <a:endParaRPr/>
          </a:p>
        </p:txBody>
      </p:sp>
      <p:sp>
        <p:nvSpPr>
          <p:cNvPr id="564" name="Google Shape;564;p26"/>
          <p:cNvSpPr/>
          <p:nvPr/>
        </p:nvSpPr>
        <p:spPr>
          <a:xfrm>
            <a:off x="762581" y="6987578"/>
            <a:ext cx="16776668" cy="1533049"/>
          </a:xfrm>
          <a:custGeom>
            <a:rect b="b" l="l" r="r" t="t"/>
            <a:pathLst>
              <a:path extrusionOk="0" h="2044065" w="22368890">
                <a:moveTo>
                  <a:pt x="0" y="0"/>
                </a:moveTo>
                <a:lnTo>
                  <a:pt x="22368890" y="0"/>
                </a:lnTo>
                <a:lnTo>
                  <a:pt x="22368890" y="2044065"/>
                </a:lnTo>
                <a:lnTo>
                  <a:pt x="0" y="2044065"/>
                </a:lnTo>
                <a:close/>
              </a:path>
            </a:pathLst>
          </a:custGeom>
          <a:solidFill>
            <a:srgbClr val="EDF2F7"/>
          </a:solidFill>
          <a:ln>
            <a:noFill/>
          </a:ln>
        </p:spPr>
      </p:sp>
      <p:sp>
        <p:nvSpPr>
          <p:cNvPr id="565" name="Google Shape;565;p26"/>
          <p:cNvSpPr/>
          <p:nvPr/>
        </p:nvSpPr>
        <p:spPr>
          <a:xfrm>
            <a:off x="762581" y="6987578"/>
            <a:ext cx="16776668" cy="57150"/>
          </a:xfrm>
          <a:custGeom>
            <a:rect b="b" l="l" r="r" t="t"/>
            <a:pathLst>
              <a:path extrusionOk="0" h="76200" w="22368890">
                <a:moveTo>
                  <a:pt x="0" y="0"/>
                </a:moveTo>
                <a:lnTo>
                  <a:pt x="22368890" y="0"/>
                </a:lnTo>
                <a:lnTo>
                  <a:pt x="22368890" y="76200"/>
                </a:lnTo>
                <a:lnTo>
                  <a:pt x="0" y="76200"/>
                </a:lnTo>
                <a:close/>
              </a:path>
            </a:pathLst>
          </a:custGeom>
          <a:solidFill>
            <a:srgbClr val="0CC0DF"/>
          </a:solidFill>
          <a:ln>
            <a:noFill/>
          </a:ln>
        </p:spPr>
      </p:sp>
      <p:sp>
        <p:nvSpPr>
          <p:cNvPr id="566" name="Google Shape;566;p26"/>
          <p:cNvSpPr txBox="1"/>
          <p:nvPr/>
        </p:nvSpPr>
        <p:spPr>
          <a:xfrm>
            <a:off x="1105738" y="7225903"/>
            <a:ext cx="16433530" cy="226838"/>
          </a:xfrm>
          <a:prstGeom prst="rect">
            <a:avLst/>
          </a:prstGeom>
          <a:noFill/>
          <a:ln>
            <a:noFill/>
          </a:ln>
        </p:spPr>
        <p:txBody>
          <a:bodyPr anchorCtr="0" anchor="t" bIns="0" lIns="0" spcFirstLastPara="1" rIns="0" wrap="square" tIns="0">
            <a:spAutoFit/>
          </a:bodyPr>
          <a:lstStyle/>
          <a:p>
            <a:pPr indent="0" lvl="0" marL="0" marR="0" rtl="0" algn="l">
              <a:lnSpc>
                <a:spcPct val="119985"/>
              </a:lnSpc>
              <a:spcBef>
                <a:spcPts val="0"/>
              </a:spcBef>
              <a:spcAft>
                <a:spcPts val="0"/>
              </a:spcAft>
              <a:buNone/>
            </a:pPr>
            <a:r>
              <a:rPr b="0" i="0" lang="en-US" spc="142" sz="1426" u="none" cap="none" strike="noStrike">
                <a:solidFill>
                  <a:srgbClr val="2B3542"/>
                </a:solidFill>
                <a:latin typeface="Inter"/>
                <a:ea typeface="Inter"/>
                <a:cs typeface="Inter"/>
                <a:sym typeface="Inter"/>
              </a:rPr>
              <a:t>REKOMENDASI KOMERSIAL</a:t>
            </a:r>
            <a:endParaRPr/>
          </a:p>
        </p:txBody>
      </p:sp>
      <p:sp>
        <p:nvSpPr>
          <p:cNvPr id="567" name="Google Shape;567;p26"/>
          <p:cNvSpPr txBox="1"/>
          <p:nvPr/>
        </p:nvSpPr>
        <p:spPr>
          <a:xfrm>
            <a:off x="1105738" y="7533742"/>
            <a:ext cx="16090373" cy="800995"/>
          </a:xfrm>
          <a:prstGeom prst="rect">
            <a:avLst/>
          </a:prstGeom>
          <a:noFill/>
          <a:ln>
            <a:noFill/>
          </a:ln>
        </p:spPr>
        <p:txBody>
          <a:bodyPr anchorCtr="0" anchor="t" bIns="0" lIns="0" spcFirstLastPara="1" rIns="0" wrap="square" tIns="0">
            <a:spAutoFit/>
          </a:bodyPr>
          <a:lstStyle/>
          <a:p>
            <a:pPr indent="0" lvl="0" marL="0" marR="0" rtl="0" algn="l">
              <a:lnSpc>
                <a:spcPct val="138005"/>
              </a:lnSpc>
              <a:spcBef>
                <a:spcPts val="0"/>
              </a:spcBef>
              <a:spcAft>
                <a:spcPts val="0"/>
              </a:spcAft>
              <a:buNone/>
            </a:pPr>
            <a:r>
              <a:rPr b="0" i="0" lang="en-US" sz="2176" u="none" cap="none" strike="noStrike">
                <a:solidFill>
                  <a:srgbClr val="2B3542"/>
                </a:solidFill>
                <a:latin typeface="Inter"/>
                <a:ea typeface="Inter"/>
                <a:cs typeface="Inter"/>
                <a:sym typeface="Inter"/>
              </a:rPr>
              <a:t>Menghentikan strategi diskon flat di Hypermarket pada produk inelastis akan langsung memulihkan kebocoran margin tanpa mengorbankan pangsa pasar ritel.</a:t>
            </a:r>
            <a:endParaRPr/>
          </a:p>
        </p:txBody>
      </p:sp>
      <p:sp>
        <p:nvSpPr>
          <p:cNvPr id="568" name="Google Shape;568;p26"/>
          <p:cNvSpPr txBox="1"/>
          <p:nvPr/>
        </p:nvSpPr>
        <p:spPr>
          <a:xfrm>
            <a:off x="762581" y="8690724"/>
            <a:ext cx="17539268" cy="272996"/>
          </a:xfrm>
          <a:prstGeom prst="rect">
            <a:avLst/>
          </a:prstGeom>
          <a:noFill/>
          <a:ln>
            <a:noFill/>
          </a:ln>
        </p:spPr>
        <p:txBody>
          <a:bodyPr anchorCtr="0" anchor="t" bIns="0" lIns="0" spcFirstLastPara="1" rIns="0" wrap="square" tIns="0">
            <a:spAutoFit/>
          </a:bodyPr>
          <a:lstStyle/>
          <a:p>
            <a:pPr indent="0" lvl="0" marL="0" marR="0" rtl="0" algn="l">
              <a:lnSpc>
                <a:spcPct val="134361"/>
              </a:lnSpc>
              <a:spcBef>
                <a:spcPts val="0"/>
              </a:spcBef>
              <a:spcAft>
                <a:spcPts val="0"/>
              </a:spcAft>
              <a:buNone/>
            </a:pPr>
            <a:r>
              <a:rPr b="0" i="0" lang="en-US" spc="85" sz="1426" u="none" cap="none" strike="noStrike">
                <a:solidFill>
                  <a:srgbClr val="66625A"/>
                </a:solidFill>
                <a:latin typeface="Inter"/>
                <a:ea typeface="Inter"/>
                <a:cs typeface="Inter"/>
                <a:sym typeface="Inter"/>
              </a:rPr>
              <a:t>SUMBER: ANALISIS REGRESI EKONOMETRIKA PENJUALAN RITEL FMCG 2021–2023</a:t>
            </a:r>
            <a:endParaRPr/>
          </a:p>
        </p:txBody>
      </p:sp>
      <p:sp>
        <p:nvSpPr>
          <p:cNvPr id="569" name="Google Shape;569;p26"/>
          <p:cNvSpPr/>
          <p:nvPr/>
        </p:nvSpPr>
        <p:spPr>
          <a:xfrm>
            <a:off x="0" y="9723091"/>
            <a:ext cx="18301811" cy="14287"/>
          </a:xfrm>
          <a:custGeom>
            <a:rect b="b" l="l" r="r" t="t"/>
            <a:pathLst>
              <a:path extrusionOk="0" h="19050" w="24402414">
                <a:moveTo>
                  <a:pt x="0" y="0"/>
                </a:moveTo>
                <a:lnTo>
                  <a:pt x="24402414" y="0"/>
                </a:lnTo>
                <a:lnTo>
                  <a:pt x="24402414" y="19050"/>
                </a:lnTo>
                <a:lnTo>
                  <a:pt x="0" y="19050"/>
                </a:lnTo>
                <a:close/>
              </a:path>
            </a:pathLst>
          </a:custGeom>
          <a:solidFill>
            <a:srgbClr val="2B3542">
              <a:alpha val="3922"/>
            </a:srgbClr>
          </a:solidFill>
          <a:ln>
            <a:noFill/>
          </a:ln>
        </p:spPr>
      </p:sp>
      <p:sp>
        <p:nvSpPr>
          <p:cNvPr id="570" name="Google Shape;570;p26"/>
          <p:cNvSpPr/>
          <p:nvPr/>
        </p:nvSpPr>
        <p:spPr>
          <a:xfrm>
            <a:off x="6345174" y="2180996"/>
            <a:ext cx="19050" cy="4611148"/>
          </a:xfrm>
          <a:custGeom>
            <a:rect b="b" l="l" r="r" t="t"/>
            <a:pathLst>
              <a:path extrusionOk="0" h="6148197" w="25400">
                <a:moveTo>
                  <a:pt x="0" y="0"/>
                </a:moveTo>
                <a:lnTo>
                  <a:pt x="25400" y="0"/>
                </a:lnTo>
                <a:lnTo>
                  <a:pt x="25400" y="6148197"/>
                </a:lnTo>
                <a:lnTo>
                  <a:pt x="0" y="6148197"/>
                </a:lnTo>
                <a:close/>
              </a:path>
            </a:pathLst>
          </a:custGeom>
          <a:solidFill>
            <a:srgbClr val="8C877D"/>
          </a:solidFill>
          <a:ln>
            <a:noFill/>
          </a:ln>
        </p:spPr>
      </p:sp>
      <p:sp>
        <p:nvSpPr>
          <p:cNvPr id="571" name="Google Shape;571;p26"/>
          <p:cNvSpPr/>
          <p:nvPr/>
        </p:nvSpPr>
        <p:spPr>
          <a:xfrm>
            <a:off x="11937454" y="2180996"/>
            <a:ext cx="19050" cy="4611148"/>
          </a:xfrm>
          <a:custGeom>
            <a:rect b="b" l="l" r="r" t="t"/>
            <a:pathLst>
              <a:path extrusionOk="0" h="6148197" w="25400">
                <a:moveTo>
                  <a:pt x="0" y="0"/>
                </a:moveTo>
                <a:lnTo>
                  <a:pt x="25400" y="0"/>
                </a:lnTo>
                <a:lnTo>
                  <a:pt x="25400" y="6148197"/>
                </a:lnTo>
                <a:lnTo>
                  <a:pt x="0" y="6148197"/>
                </a:lnTo>
                <a:close/>
              </a:path>
            </a:pathLst>
          </a:custGeom>
          <a:solidFill>
            <a:srgbClr val="8C877D"/>
          </a:solidFill>
          <a:ln>
            <a:noFill/>
          </a:ln>
        </p:spPr>
      </p:sp>
      <p:grpSp>
        <p:nvGrpSpPr>
          <p:cNvPr id="572" name="Google Shape;572;p26"/>
          <p:cNvGrpSpPr/>
          <p:nvPr/>
        </p:nvGrpSpPr>
        <p:grpSpPr>
          <a:xfrm>
            <a:off x="293380" y="9612742"/>
            <a:ext cx="7167785" cy="521294"/>
            <a:chOff x="0" y="-28575"/>
            <a:chExt cx="9557046" cy="695058"/>
          </a:xfrm>
        </p:grpSpPr>
        <p:sp>
          <p:nvSpPr>
            <p:cNvPr id="573" name="Google Shape;573;p26"/>
            <p:cNvSpPr/>
            <p:nvPr/>
          </p:nvSpPr>
          <p:spPr>
            <a:xfrm>
              <a:off x="0" y="0"/>
              <a:ext cx="9557046" cy="666483"/>
            </a:xfrm>
            <a:custGeom>
              <a:rect b="b" l="l" r="r" t="t"/>
              <a:pathLst>
                <a:path extrusionOk="0" h="666483" w="9557046">
                  <a:moveTo>
                    <a:pt x="0" y="0"/>
                  </a:moveTo>
                  <a:lnTo>
                    <a:pt x="9557046" y="0"/>
                  </a:lnTo>
                  <a:lnTo>
                    <a:pt x="9557046" y="666483"/>
                  </a:lnTo>
                  <a:lnTo>
                    <a:pt x="0" y="666483"/>
                  </a:lnTo>
                  <a:close/>
                </a:path>
              </a:pathLst>
            </a:custGeom>
            <a:blipFill rotWithShape="1">
              <a:blip r:embed="rId3">
                <a:alphaModFix amt="0"/>
              </a:blip>
              <a:stretch>
                <a:fillRect b="-181075" l="0" r="17296" t="-181075"/>
              </a:stretch>
            </a:blipFill>
            <a:ln>
              <a:noFill/>
            </a:ln>
          </p:spPr>
        </p:sp>
        <p:sp>
          <p:nvSpPr>
            <p:cNvPr id="574" name="Google Shape;574;p26"/>
            <p:cNvSpPr txBox="1"/>
            <p:nvPr/>
          </p:nvSpPr>
          <p:spPr>
            <a:xfrm>
              <a:off x="0" y="-28575"/>
              <a:ext cx="9557042" cy="695052"/>
            </a:xfrm>
            <a:prstGeom prst="rect">
              <a:avLst/>
            </a:prstGeom>
            <a:noFill/>
            <a:ln>
              <a:noFill/>
            </a:ln>
          </p:spPr>
          <p:txBody>
            <a:bodyPr anchorCtr="0" anchor="ctr" bIns="0" lIns="0" spcFirstLastPara="1" rIns="0" wrap="square" tIns="0">
              <a:noAutofit/>
            </a:bodyPr>
            <a:lstStyle/>
            <a:p>
              <a:pPr indent="0" lvl="0" marL="0" marR="0" rtl="0" algn="l">
                <a:lnSpc>
                  <a:spcPct val="138008"/>
                </a:lnSpc>
                <a:spcBef>
                  <a:spcPts val="0"/>
                </a:spcBef>
                <a:spcAft>
                  <a:spcPts val="0"/>
                </a:spcAft>
                <a:buNone/>
              </a:pPr>
              <a:r>
                <a:rPr b="0" i="0" lang="en-US" spc="142" sz="1426" u="none" cap="none" strike="noStrike">
                  <a:solidFill>
                    <a:srgbClr val="2B3542"/>
                  </a:solidFill>
                  <a:latin typeface="Inter"/>
                  <a:ea typeface="Inter"/>
                  <a:cs typeface="Inter"/>
                  <a:sym typeface="Inter"/>
                </a:rPr>
                <a:t>GLOBAL FMCG SUPPLY CHAIN ANALYTICS — EXECUTIVE REPORT</a:t>
              </a:r>
              <a:endParaRPr/>
            </a:p>
          </p:txBody>
        </p:sp>
      </p:grpSp>
      <p:grpSp>
        <p:nvGrpSpPr>
          <p:cNvPr id="575" name="Google Shape;575;p26"/>
          <p:cNvGrpSpPr/>
          <p:nvPr/>
        </p:nvGrpSpPr>
        <p:grpSpPr>
          <a:xfrm>
            <a:off x="15480401" y="64663"/>
            <a:ext cx="4516946" cy="1127273"/>
            <a:chOff x="0" y="-241102"/>
            <a:chExt cx="6022595" cy="1503032"/>
          </a:xfrm>
        </p:grpSpPr>
        <p:grpSp>
          <p:nvGrpSpPr>
            <p:cNvPr id="576" name="Google Shape;576;p26"/>
            <p:cNvGrpSpPr/>
            <p:nvPr/>
          </p:nvGrpSpPr>
          <p:grpSpPr>
            <a:xfrm>
              <a:off x="0" y="-241102"/>
              <a:ext cx="6022595" cy="1503032"/>
              <a:chOff x="0" y="-47625"/>
              <a:chExt cx="1189648" cy="296895"/>
            </a:xfrm>
          </p:grpSpPr>
          <p:sp>
            <p:nvSpPr>
              <p:cNvPr id="577" name="Google Shape;577;p26"/>
              <p:cNvSpPr/>
              <p:nvPr/>
            </p:nvSpPr>
            <p:spPr>
              <a:xfrm>
                <a:off x="0" y="0"/>
                <a:ext cx="1189648" cy="249270"/>
              </a:xfrm>
              <a:custGeom>
                <a:rect b="b" l="l" r="r" t="t"/>
                <a:pathLst>
                  <a:path extrusionOk="0" h="249270" w="1189648">
                    <a:moveTo>
                      <a:pt x="87413" y="0"/>
                    </a:moveTo>
                    <a:lnTo>
                      <a:pt x="1102236" y="0"/>
                    </a:lnTo>
                    <a:cubicBezTo>
                      <a:pt x="1125419" y="0"/>
                      <a:pt x="1147653" y="9210"/>
                      <a:pt x="1164046" y="25603"/>
                    </a:cubicBezTo>
                    <a:cubicBezTo>
                      <a:pt x="1180439" y="41996"/>
                      <a:pt x="1189648" y="64229"/>
                      <a:pt x="1189648" y="87413"/>
                    </a:cubicBezTo>
                    <a:lnTo>
                      <a:pt x="1189648" y="161858"/>
                    </a:lnTo>
                    <a:cubicBezTo>
                      <a:pt x="1189648" y="185041"/>
                      <a:pt x="1180439" y="207275"/>
                      <a:pt x="1164046" y="223668"/>
                    </a:cubicBezTo>
                    <a:cubicBezTo>
                      <a:pt x="1147653" y="240061"/>
                      <a:pt x="1125419" y="249270"/>
                      <a:pt x="1102236" y="249270"/>
                    </a:cubicBezTo>
                    <a:lnTo>
                      <a:pt x="87413" y="249270"/>
                    </a:lnTo>
                    <a:cubicBezTo>
                      <a:pt x="64229" y="249270"/>
                      <a:pt x="41996" y="240061"/>
                      <a:pt x="25603" y="223668"/>
                    </a:cubicBezTo>
                    <a:cubicBezTo>
                      <a:pt x="9210" y="207275"/>
                      <a:pt x="0" y="185041"/>
                      <a:pt x="0" y="161858"/>
                    </a:cubicBezTo>
                    <a:lnTo>
                      <a:pt x="0" y="87413"/>
                    </a:lnTo>
                    <a:cubicBezTo>
                      <a:pt x="0" y="64229"/>
                      <a:pt x="9210" y="41996"/>
                      <a:pt x="25603" y="25603"/>
                    </a:cubicBezTo>
                    <a:cubicBezTo>
                      <a:pt x="41996" y="9210"/>
                      <a:pt x="64229" y="0"/>
                      <a:pt x="87413" y="0"/>
                    </a:cubicBezTo>
                    <a:close/>
                  </a:path>
                </a:pathLst>
              </a:custGeom>
              <a:solidFill>
                <a:srgbClr val="FE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 name="Google Shape;578;p26"/>
              <p:cNvSpPr txBox="1"/>
              <p:nvPr/>
            </p:nvSpPr>
            <p:spPr>
              <a:xfrm>
                <a:off x="0" y="-47625"/>
                <a:ext cx="1189648" cy="296895"/>
              </a:xfrm>
              <a:prstGeom prst="rect">
                <a:avLst/>
              </a:prstGeom>
              <a:noFill/>
              <a:ln>
                <a:noFill/>
              </a:ln>
            </p:spPr>
            <p:txBody>
              <a:bodyPr anchorCtr="0" anchor="ctr" bIns="50800" lIns="50800" spcFirstLastPara="1" rIns="50800" wrap="square" tIns="50800">
                <a:noAutofit/>
              </a:bodyPr>
              <a:lstStyle/>
              <a:p>
                <a:pPr indent="0" lvl="0" marL="0" marR="0" rtl="0" algn="ctr">
                  <a:lnSpc>
                    <a:spcPct val="155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579" name="Google Shape;579;p26"/>
            <p:cNvSpPr/>
            <p:nvPr/>
          </p:nvSpPr>
          <p:spPr>
            <a:xfrm>
              <a:off x="483631" y="226255"/>
              <a:ext cx="2676306" cy="809419"/>
            </a:xfrm>
            <a:custGeom>
              <a:rect b="b" l="l" r="r" t="t"/>
              <a:pathLst>
                <a:path extrusionOk="0" h="809419" w="2676306">
                  <a:moveTo>
                    <a:pt x="0" y="0"/>
                  </a:moveTo>
                  <a:lnTo>
                    <a:pt x="2676305" y="0"/>
                  </a:lnTo>
                  <a:lnTo>
                    <a:pt x="2676305" y="809420"/>
                  </a:lnTo>
                  <a:lnTo>
                    <a:pt x="0" y="809420"/>
                  </a:lnTo>
                  <a:lnTo>
                    <a:pt x="0" y="0"/>
                  </a:lnTo>
                  <a:close/>
                </a:path>
              </a:pathLst>
            </a:custGeom>
            <a:blipFill rotWithShape="1">
              <a:blip r:embed="rId4">
                <a:alphaModFix/>
              </a:blip>
              <a:stretch>
                <a:fillRect b="0" l="0" r="0" t="0"/>
              </a:stretch>
            </a:blipFill>
            <a:ln>
              <a:noFill/>
            </a:ln>
          </p:spPr>
        </p:sp>
      </p:gr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587" name="Shape 587"/>
        <p:cNvGrpSpPr/>
        <p:nvPr/>
      </p:nvGrpSpPr>
      <p:grpSpPr>
        <a:xfrm>
          <a:off x="0" y="0"/>
          <a:ext cx="0" cy="0"/>
          <a:chOff x="0" y="0"/>
          <a:chExt cx="0" cy="0"/>
        </a:xfrm>
      </p:grpSpPr>
      <p:sp>
        <p:nvSpPr>
          <p:cNvPr id="588" name="Google Shape;588;p27"/>
          <p:cNvSpPr txBox="1"/>
          <p:nvPr/>
        </p:nvSpPr>
        <p:spPr>
          <a:xfrm>
            <a:off x="762581" y="753075"/>
            <a:ext cx="17539268" cy="226838"/>
          </a:xfrm>
          <a:prstGeom prst="rect">
            <a:avLst/>
          </a:prstGeom>
          <a:noFill/>
          <a:ln>
            <a:noFill/>
          </a:ln>
        </p:spPr>
        <p:txBody>
          <a:bodyPr anchorCtr="0" anchor="t" bIns="0" lIns="0" spcFirstLastPara="1" rIns="0" wrap="square" tIns="0">
            <a:spAutoFit/>
          </a:bodyPr>
          <a:lstStyle/>
          <a:p>
            <a:pPr indent="0" lvl="0" marL="0" marR="0" rtl="0" algn="l">
              <a:lnSpc>
                <a:spcPct val="119985"/>
              </a:lnSpc>
              <a:spcBef>
                <a:spcPts val="0"/>
              </a:spcBef>
              <a:spcAft>
                <a:spcPts val="0"/>
              </a:spcAft>
              <a:buNone/>
            </a:pPr>
            <a:r>
              <a:rPr b="0" i="0" lang="en-US" spc="199" sz="1426" u="none" cap="none" strike="noStrike">
                <a:solidFill>
                  <a:srgbClr val="1B2638"/>
                </a:solidFill>
                <a:latin typeface="Inter"/>
                <a:ea typeface="Inter"/>
                <a:cs typeface="Inter"/>
                <a:sym typeface="Inter"/>
              </a:rPr>
              <a:t>11 STRATEGIS: DINAMIKA LEAD TIME</a:t>
            </a:r>
            <a:endParaRPr/>
          </a:p>
        </p:txBody>
      </p:sp>
      <p:sp>
        <p:nvSpPr>
          <p:cNvPr id="589" name="Google Shape;589;p27"/>
          <p:cNvSpPr txBox="1"/>
          <p:nvPr/>
        </p:nvSpPr>
        <p:spPr>
          <a:xfrm>
            <a:off x="762581" y="1075230"/>
            <a:ext cx="16776687" cy="1067638"/>
          </a:xfrm>
          <a:prstGeom prst="rect">
            <a:avLst/>
          </a:prstGeom>
          <a:noFill/>
          <a:ln>
            <a:noFill/>
          </a:ln>
        </p:spPr>
        <p:txBody>
          <a:bodyPr anchorCtr="0" anchor="t" bIns="0" lIns="0" spcFirstLastPara="1" rIns="0" wrap="square" tIns="0">
            <a:spAutoFit/>
          </a:bodyPr>
          <a:lstStyle/>
          <a:p>
            <a:pPr indent="0" lvl="0" marL="0" marR="0" rtl="0" algn="l">
              <a:lnSpc>
                <a:spcPct val="111620"/>
              </a:lnSpc>
              <a:spcBef>
                <a:spcPts val="0"/>
              </a:spcBef>
              <a:spcAft>
                <a:spcPts val="0"/>
              </a:spcAft>
              <a:buNone/>
            </a:pPr>
            <a:r>
              <a:rPr b="0" i="0" lang="en-US" spc="-18" sz="3752" u="none" cap="none" strike="noStrike">
                <a:solidFill>
                  <a:srgbClr val="0F1B2B"/>
                </a:solidFill>
                <a:latin typeface="Arimo"/>
                <a:ea typeface="Arimo"/>
                <a:cs typeface="Arimo"/>
                <a:sym typeface="Arimo"/>
              </a:rPr>
              <a:t>Variasi lead time kecil dapat mengubah kebutuhan safety stock secara material</a:t>
            </a:r>
            <a:endParaRPr/>
          </a:p>
        </p:txBody>
      </p:sp>
      <p:sp>
        <p:nvSpPr>
          <p:cNvPr id="590" name="Google Shape;590;p27"/>
          <p:cNvSpPr/>
          <p:nvPr/>
        </p:nvSpPr>
        <p:spPr>
          <a:xfrm>
            <a:off x="762581" y="2421693"/>
            <a:ext cx="16776573" cy="28575"/>
          </a:xfrm>
          <a:custGeom>
            <a:rect b="b" l="l" r="r" t="t"/>
            <a:pathLst>
              <a:path extrusionOk="0" h="38100" w="22368763">
                <a:moveTo>
                  <a:pt x="0" y="19050"/>
                </a:moveTo>
                <a:cubicBezTo>
                  <a:pt x="0" y="8509"/>
                  <a:pt x="8509" y="0"/>
                  <a:pt x="19050" y="0"/>
                </a:cubicBezTo>
                <a:lnTo>
                  <a:pt x="22349713" y="0"/>
                </a:lnTo>
                <a:cubicBezTo>
                  <a:pt x="22360254" y="0"/>
                  <a:pt x="22368763" y="8509"/>
                  <a:pt x="22368763" y="19050"/>
                </a:cubicBezTo>
                <a:cubicBezTo>
                  <a:pt x="22368763" y="29591"/>
                  <a:pt x="22360254" y="38100"/>
                  <a:pt x="22349713" y="38100"/>
                </a:cubicBezTo>
                <a:lnTo>
                  <a:pt x="19050" y="38100"/>
                </a:lnTo>
                <a:cubicBezTo>
                  <a:pt x="8509" y="38100"/>
                  <a:pt x="0" y="29591"/>
                  <a:pt x="0" y="19050"/>
                </a:cubicBezTo>
                <a:close/>
              </a:path>
            </a:pathLst>
          </a:custGeom>
          <a:solidFill>
            <a:srgbClr val="CEC6B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1" name="Google Shape;591;p27"/>
          <p:cNvSpPr/>
          <p:nvPr/>
        </p:nvSpPr>
        <p:spPr>
          <a:xfrm>
            <a:off x="762581" y="2714816"/>
            <a:ext cx="5287137" cy="57150"/>
          </a:xfrm>
          <a:custGeom>
            <a:rect b="b" l="l" r="r" t="t"/>
            <a:pathLst>
              <a:path extrusionOk="0" h="76200" w="7049516">
                <a:moveTo>
                  <a:pt x="0" y="0"/>
                </a:moveTo>
                <a:lnTo>
                  <a:pt x="7049516" y="0"/>
                </a:lnTo>
                <a:lnTo>
                  <a:pt x="7049516" y="76200"/>
                </a:lnTo>
                <a:lnTo>
                  <a:pt x="0" y="76200"/>
                </a:lnTo>
                <a:close/>
              </a:path>
            </a:pathLst>
          </a:custGeom>
          <a:solidFill>
            <a:srgbClr val="14253D"/>
          </a:solidFill>
          <a:ln>
            <a:noFill/>
          </a:ln>
        </p:spPr>
      </p:sp>
      <p:sp>
        <p:nvSpPr>
          <p:cNvPr id="592" name="Google Shape;592;p27"/>
          <p:cNvSpPr txBox="1"/>
          <p:nvPr/>
        </p:nvSpPr>
        <p:spPr>
          <a:xfrm>
            <a:off x="1105738" y="3105645"/>
            <a:ext cx="4600785" cy="386953"/>
          </a:xfrm>
          <a:prstGeom prst="rect">
            <a:avLst/>
          </a:prstGeom>
          <a:noFill/>
          <a:ln>
            <a:noFill/>
          </a:ln>
        </p:spPr>
        <p:txBody>
          <a:bodyPr anchorCtr="0" anchor="t" bIns="0" lIns="0" spcFirstLastPara="1" rIns="0" wrap="square" tIns="0">
            <a:spAutoFit/>
          </a:bodyPr>
          <a:lstStyle/>
          <a:p>
            <a:pPr indent="0" lvl="0" marL="0" marR="0" rtl="0" algn="l">
              <a:lnSpc>
                <a:spcPct val="120032"/>
              </a:lnSpc>
              <a:spcBef>
                <a:spcPts val="0"/>
              </a:spcBef>
              <a:spcAft>
                <a:spcPts val="0"/>
              </a:spcAft>
              <a:buNone/>
            </a:pPr>
            <a:r>
              <a:rPr b="0" i="0" lang="en-US" spc="-12" sz="2476" u="none" cap="none" strike="noStrike">
                <a:solidFill>
                  <a:srgbClr val="0F1B2B"/>
                </a:solidFill>
                <a:latin typeface="Inter"/>
                <a:ea typeface="Inter"/>
                <a:cs typeface="Inter"/>
                <a:sym typeface="Inter"/>
              </a:rPr>
              <a:t>Service Level Pemasok</a:t>
            </a:r>
            <a:endParaRPr/>
          </a:p>
        </p:txBody>
      </p:sp>
      <p:sp>
        <p:nvSpPr>
          <p:cNvPr id="593" name="Google Shape;593;p27"/>
          <p:cNvSpPr txBox="1"/>
          <p:nvPr/>
        </p:nvSpPr>
        <p:spPr>
          <a:xfrm>
            <a:off x="1105738" y="3691785"/>
            <a:ext cx="4600785" cy="632898"/>
          </a:xfrm>
          <a:prstGeom prst="rect">
            <a:avLst/>
          </a:prstGeom>
          <a:noFill/>
          <a:ln>
            <a:noFill/>
          </a:ln>
        </p:spPr>
        <p:txBody>
          <a:bodyPr anchorCtr="0" anchor="t" bIns="0" lIns="0" spcFirstLastPara="1" rIns="0" wrap="square" tIns="0">
            <a:spAutoFit/>
          </a:bodyPr>
          <a:lstStyle/>
          <a:p>
            <a:pPr indent="0" lvl="0" marL="0" marR="0" rtl="0" algn="l">
              <a:lnSpc>
                <a:spcPct val="105604"/>
              </a:lnSpc>
              <a:spcBef>
                <a:spcPts val="0"/>
              </a:spcBef>
              <a:spcAft>
                <a:spcPts val="0"/>
              </a:spcAft>
              <a:buNone/>
            </a:pPr>
            <a:r>
              <a:rPr b="0" i="0" lang="en-US" spc="-51" sz="5103" u="none" cap="none" strike="noStrike">
                <a:solidFill>
                  <a:srgbClr val="0F1B2B"/>
                </a:solidFill>
                <a:latin typeface="Arimo"/>
                <a:ea typeface="Arimo"/>
                <a:cs typeface="Arimo"/>
                <a:sym typeface="Arimo"/>
              </a:rPr>
              <a:t>97,0%</a:t>
            </a:r>
            <a:endParaRPr/>
          </a:p>
        </p:txBody>
      </p:sp>
      <p:sp>
        <p:nvSpPr>
          <p:cNvPr id="594" name="Google Shape;594;p27"/>
          <p:cNvSpPr txBox="1"/>
          <p:nvPr/>
        </p:nvSpPr>
        <p:spPr>
          <a:xfrm>
            <a:off x="1105738" y="4487675"/>
            <a:ext cx="4600785" cy="1182443"/>
          </a:xfrm>
          <a:prstGeom prst="rect">
            <a:avLst/>
          </a:prstGeom>
          <a:noFill/>
          <a:ln>
            <a:noFill/>
          </a:ln>
        </p:spPr>
        <p:txBody>
          <a:bodyPr anchorCtr="0" anchor="t" bIns="0" lIns="0" spcFirstLastPara="1" rIns="0" wrap="square" tIns="0">
            <a:spAutoFit/>
          </a:bodyPr>
          <a:lstStyle/>
          <a:p>
            <a:pPr indent="0" lvl="0" marL="0" marR="0" rtl="0" algn="l">
              <a:lnSpc>
                <a:spcPct val="138005"/>
              </a:lnSpc>
              <a:spcBef>
                <a:spcPts val="0"/>
              </a:spcBef>
              <a:spcAft>
                <a:spcPts val="0"/>
              </a:spcAft>
              <a:buNone/>
            </a:pPr>
            <a:r>
              <a:rPr b="0" i="0" lang="en-US" sz="2176" u="none" cap="none" strike="noStrike">
                <a:solidFill>
                  <a:srgbClr val="2B3542"/>
                </a:solidFill>
                <a:latin typeface="Inter"/>
                <a:ea typeface="Inter"/>
                <a:cs typeface="Inter"/>
                <a:sym typeface="Inter"/>
              </a:rPr>
              <a:t>OTIF supplier rata-rata 97,0%, namun lead time bervariasi sekitar 6,44–6,69 hari.</a:t>
            </a:r>
            <a:endParaRPr/>
          </a:p>
        </p:txBody>
      </p:sp>
      <p:sp>
        <p:nvSpPr>
          <p:cNvPr id="595" name="Google Shape;595;p27"/>
          <p:cNvSpPr txBox="1"/>
          <p:nvPr/>
        </p:nvSpPr>
        <p:spPr>
          <a:xfrm>
            <a:off x="1105738" y="6183325"/>
            <a:ext cx="4943942" cy="279254"/>
          </a:xfrm>
          <a:prstGeom prst="rect">
            <a:avLst/>
          </a:prstGeom>
          <a:noFill/>
          <a:ln>
            <a:noFill/>
          </a:ln>
        </p:spPr>
        <p:txBody>
          <a:bodyPr anchorCtr="0" anchor="t" bIns="0" lIns="0" spcFirstLastPara="1" rIns="0" wrap="square" tIns="0">
            <a:spAutoFit/>
          </a:bodyPr>
          <a:lstStyle/>
          <a:p>
            <a:pPr indent="0" lvl="0" marL="0" marR="0" rtl="0" algn="l">
              <a:lnSpc>
                <a:spcPct val="129568"/>
              </a:lnSpc>
              <a:spcBef>
                <a:spcPts val="0"/>
              </a:spcBef>
              <a:spcAft>
                <a:spcPts val="0"/>
              </a:spcAft>
              <a:buNone/>
            </a:pPr>
            <a:r>
              <a:rPr b="0" i="0" lang="en-US" spc="15" sz="1576" u="none" cap="none" strike="noStrike">
                <a:solidFill>
                  <a:srgbClr val="66625A"/>
                </a:solidFill>
                <a:latin typeface="Inter"/>
                <a:ea typeface="Inter"/>
                <a:cs typeface="Inter"/>
                <a:sym typeface="Inter"/>
              </a:rPr>
              <a:t>Performa dasar stabil</a:t>
            </a:r>
            <a:endParaRPr/>
          </a:p>
        </p:txBody>
      </p:sp>
      <p:sp>
        <p:nvSpPr>
          <p:cNvPr id="596" name="Google Shape;596;p27"/>
          <p:cNvSpPr/>
          <p:nvPr/>
        </p:nvSpPr>
        <p:spPr>
          <a:xfrm>
            <a:off x="6507223" y="2714816"/>
            <a:ext cx="5287232" cy="57150"/>
          </a:xfrm>
          <a:custGeom>
            <a:rect b="b" l="l" r="r" t="t"/>
            <a:pathLst>
              <a:path extrusionOk="0" h="76200" w="7049643">
                <a:moveTo>
                  <a:pt x="0" y="0"/>
                </a:moveTo>
                <a:lnTo>
                  <a:pt x="7049643" y="0"/>
                </a:lnTo>
                <a:lnTo>
                  <a:pt x="7049643" y="76200"/>
                </a:lnTo>
                <a:lnTo>
                  <a:pt x="0" y="76200"/>
                </a:lnTo>
                <a:close/>
              </a:path>
            </a:pathLst>
          </a:custGeom>
          <a:solidFill>
            <a:srgbClr val="0CC0DF"/>
          </a:solidFill>
          <a:ln>
            <a:noFill/>
          </a:ln>
        </p:spPr>
      </p:sp>
      <p:sp>
        <p:nvSpPr>
          <p:cNvPr id="597" name="Google Shape;597;p27"/>
          <p:cNvSpPr txBox="1"/>
          <p:nvPr/>
        </p:nvSpPr>
        <p:spPr>
          <a:xfrm>
            <a:off x="6850380" y="3105645"/>
            <a:ext cx="4600927" cy="386953"/>
          </a:xfrm>
          <a:prstGeom prst="rect">
            <a:avLst/>
          </a:prstGeom>
          <a:noFill/>
          <a:ln>
            <a:noFill/>
          </a:ln>
        </p:spPr>
        <p:txBody>
          <a:bodyPr anchorCtr="0" anchor="t" bIns="0" lIns="0" spcFirstLastPara="1" rIns="0" wrap="square" tIns="0">
            <a:spAutoFit/>
          </a:bodyPr>
          <a:lstStyle/>
          <a:p>
            <a:pPr indent="0" lvl="0" marL="0" marR="0" rtl="0" algn="l">
              <a:lnSpc>
                <a:spcPct val="120032"/>
              </a:lnSpc>
              <a:spcBef>
                <a:spcPts val="0"/>
              </a:spcBef>
              <a:spcAft>
                <a:spcPts val="0"/>
              </a:spcAft>
              <a:buNone/>
            </a:pPr>
            <a:r>
              <a:rPr b="0" i="0" lang="en-US" spc="-12" sz="2476" u="none" cap="none" strike="noStrike">
                <a:solidFill>
                  <a:srgbClr val="0F1B2B"/>
                </a:solidFill>
                <a:latin typeface="Inter"/>
                <a:ea typeface="Inter"/>
                <a:cs typeface="Inter"/>
                <a:sym typeface="Inter"/>
              </a:rPr>
              <a:t>Sensitivitas Lead Time</a:t>
            </a:r>
            <a:endParaRPr/>
          </a:p>
        </p:txBody>
      </p:sp>
      <p:sp>
        <p:nvSpPr>
          <p:cNvPr id="598" name="Google Shape;598;p27"/>
          <p:cNvSpPr txBox="1"/>
          <p:nvPr/>
        </p:nvSpPr>
        <p:spPr>
          <a:xfrm>
            <a:off x="6850380" y="3691785"/>
            <a:ext cx="4600927" cy="632898"/>
          </a:xfrm>
          <a:prstGeom prst="rect">
            <a:avLst/>
          </a:prstGeom>
          <a:noFill/>
          <a:ln>
            <a:noFill/>
          </a:ln>
        </p:spPr>
        <p:txBody>
          <a:bodyPr anchorCtr="0" anchor="t" bIns="0" lIns="0" spcFirstLastPara="1" rIns="0" wrap="square" tIns="0">
            <a:spAutoFit/>
          </a:bodyPr>
          <a:lstStyle/>
          <a:p>
            <a:pPr indent="0" lvl="0" marL="0" marR="0" rtl="0" algn="l">
              <a:lnSpc>
                <a:spcPct val="105604"/>
              </a:lnSpc>
              <a:spcBef>
                <a:spcPts val="0"/>
              </a:spcBef>
              <a:spcAft>
                <a:spcPts val="0"/>
              </a:spcAft>
              <a:buNone/>
            </a:pPr>
            <a:r>
              <a:rPr b="0" i="0" lang="en-US" spc="-51" sz="5103" u="none" cap="none" strike="noStrike">
                <a:solidFill>
                  <a:srgbClr val="0F1B2B"/>
                </a:solidFill>
                <a:latin typeface="Arimo"/>
                <a:ea typeface="Arimo"/>
                <a:cs typeface="Arimo"/>
                <a:sym typeface="Arimo"/>
              </a:rPr>
              <a:t>±0,25 Hari</a:t>
            </a:r>
            <a:endParaRPr/>
          </a:p>
        </p:txBody>
      </p:sp>
      <p:sp>
        <p:nvSpPr>
          <p:cNvPr id="599" name="Google Shape;599;p27"/>
          <p:cNvSpPr txBox="1"/>
          <p:nvPr/>
        </p:nvSpPr>
        <p:spPr>
          <a:xfrm>
            <a:off x="6850380" y="4487675"/>
            <a:ext cx="4600927" cy="1182443"/>
          </a:xfrm>
          <a:prstGeom prst="rect">
            <a:avLst/>
          </a:prstGeom>
          <a:noFill/>
          <a:ln>
            <a:noFill/>
          </a:ln>
        </p:spPr>
        <p:txBody>
          <a:bodyPr anchorCtr="0" anchor="t" bIns="0" lIns="0" spcFirstLastPara="1" rIns="0" wrap="square" tIns="0">
            <a:spAutoFit/>
          </a:bodyPr>
          <a:lstStyle/>
          <a:p>
            <a:pPr indent="0" lvl="0" marL="0" marR="0" rtl="0" algn="l">
              <a:lnSpc>
                <a:spcPct val="138005"/>
              </a:lnSpc>
              <a:spcBef>
                <a:spcPts val="0"/>
              </a:spcBef>
              <a:spcAft>
                <a:spcPts val="0"/>
              </a:spcAft>
              <a:buNone/>
            </a:pPr>
            <a:r>
              <a:rPr b="0" i="0" lang="en-US" sz="2176" u="none" cap="none" strike="noStrike">
                <a:solidFill>
                  <a:srgbClr val="2B3542"/>
                </a:solidFill>
                <a:latin typeface="Inter"/>
                <a:ea typeface="Inter"/>
                <a:cs typeface="Inter"/>
                <a:sym typeface="Inter"/>
              </a:rPr>
              <a:t>Perubahan kecil pada lead time berdampak pada pembentukan safety stock dan jadwal PO.</a:t>
            </a:r>
            <a:endParaRPr/>
          </a:p>
        </p:txBody>
      </p:sp>
      <p:sp>
        <p:nvSpPr>
          <p:cNvPr id="600" name="Google Shape;600;p27"/>
          <p:cNvSpPr txBox="1"/>
          <p:nvPr/>
        </p:nvSpPr>
        <p:spPr>
          <a:xfrm>
            <a:off x="6850380" y="6183325"/>
            <a:ext cx="4944085" cy="279254"/>
          </a:xfrm>
          <a:prstGeom prst="rect">
            <a:avLst/>
          </a:prstGeom>
          <a:noFill/>
          <a:ln>
            <a:noFill/>
          </a:ln>
        </p:spPr>
        <p:txBody>
          <a:bodyPr anchorCtr="0" anchor="t" bIns="0" lIns="0" spcFirstLastPara="1" rIns="0" wrap="square" tIns="0">
            <a:spAutoFit/>
          </a:bodyPr>
          <a:lstStyle/>
          <a:p>
            <a:pPr indent="0" lvl="0" marL="0" marR="0" rtl="0" algn="l">
              <a:lnSpc>
                <a:spcPct val="129568"/>
              </a:lnSpc>
              <a:spcBef>
                <a:spcPts val="0"/>
              </a:spcBef>
              <a:spcAft>
                <a:spcPts val="0"/>
              </a:spcAft>
              <a:buNone/>
            </a:pPr>
            <a:r>
              <a:rPr b="0" i="0" lang="en-US" spc="15" sz="1576" u="none" cap="none" strike="noStrike">
                <a:solidFill>
                  <a:srgbClr val="66625A"/>
                </a:solidFill>
                <a:latin typeface="Inter"/>
                <a:ea typeface="Inter"/>
                <a:cs typeface="Inter"/>
                <a:sym typeface="Inter"/>
              </a:rPr>
              <a:t>Dampak amplifikasi persediaan</a:t>
            </a:r>
            <a:endParaRPr/>
          </a:p>
        </p:txBody>
      </p:sp>
      <p:sp>
        <p:nvSpPr>
          <p:cNvPr id="601" name="Google Shape;601;p27"/>
          <p:cNvSpPr/>
          <p:nvPr/>
        </p:nvSpPr>
        <p:spPr>
          <a:xfrm>
            <a:off x="12252017" y="2714816"/>
            <a:ext cx="5287232" cy="57150"/>
          </a:xfrm>
          <a:custGeom>
            <a:rect b="b" l="l" r="r" t="t"/>
            <a:pathLst>
              <a:path extrusionOk="0" h="76200" w="7049643">
                <a:moveTo>
                  <a:pt x="0" y="0"/>
                </a:moveTo>
                <a:lnTo>
                  <a:pt x="7049643" y="0"/>
                </a:lnTo>
                <a:lnTo>
                  <a:pt x="7049643" y="76200"/>
                </a:lnTo>
                <a:lnTo>
                  <a:pt x="0" y="76200"/>
                </a:lnTo>
                <a:close/>
              </a:path>
            </a:pathLst>
          </a:custGeom>
          <a:solidFill>
            <a:srgbClr val="14253D"/>
          </a:solidFill>
          <a:ln>
            <a:noFill/>
          </a:ln>
        </p:spPr>
      </p:sp>
      <p:sp>
        <p:nvSpPr>
          <p:cNvPr id="602" name="Google Shape;602;p27"/>
          <p:cNvSpPr txBox="1"/>
          <p:nvPr/>
        </p:nvSpPr>
        <p:spPr>
          <a:xfrm>
            <a:off x="12595174" y="3105645"/>
            <a:ext cx="4600927" cy="386953"/>
          </a:xfrm>
          <a:prstGeom prst="rect">
            <a:avLst/>
          </a:prstGeom>
          <a:noFill/>
          <a:ln>
            <a:noFill/>
          </a:ln>
        </p:spPr>
        <p:txBody>
          <a:bodyPr anchorCtr="0" anchor="t" bIns="0" lIns="0" spcFirstLastPara="1" rIns="0" wrap="square" tIns="0">
            <a:spAutoFit/>
          </a:bodyPr>
          <a:lstStyle/>
          <a:p>
            <a:pPr indent="0" lvl="0" marL="0" marR="0" rtl="0" algn="l">
              <a:lnSpc>
                <a:spcPct val="120032"/>
              </a:lnSpc>
              <a:spcBef>
                <a:spcPts val="0"/>
              </a:spcBef>
              <a:spcAft>
                <a:spcPts val="0"/>
              </a:spcAft>
              <a:buNone/>
            </a:pPr>
            <a:r>
              <a:rPr b="0" i="0" lang="en-US" spc="-12" sz="2476" u="none" cap="none" strike="noStrike">
                <a:solidFill>
                  <a:srgbClr val="0F1B2B"/>
                </a:solidFill>
                <a:latin typeface="Inter"/>
                <a:ea typeface="Inter"/>
                <a:cs typeface="Inter"/>
                <a:sym typeface="Inter"/>
              </a:rPr>
              <a:t>Akurasi Peramalan</a:t>
            </a:r>
            <a:endParaRPr/>
          </a:p>
        </p:txBody>
      </p:sp>
      <p:sp>
        <p:nvSpPr>
          <p:cNvPr id="603" name="Google Shape;603;p27"/>
          <p:cNvSpPr txBox="1"/>
          <p:nvPr/>
        </p:nvSpPr>
        <p:spPr>
          <a:xfrm>
            <a:off x="12595174" y="3691785"/>
            <a:ext cx="4600927" cy="632898"/>
          </a:xfrm>
          <a:prstGeom prst="rect">
            <a:avLst/>
          </a:prstGeom>
          <a:noFill/>
          <a:ln>
            <a:noFill/>
          </a:ln>
        </p:spPr>
        <p:txBody>
          <a:bodyPr anchorCtr="0" anchor="t" bIns="0" lIns="0" spcFirstLastPara="1" rIns="0" wrap="square" tIns="0">
            <a:spAutoFit/>
          </a:bodyPr>
          <a:lstStyle/>
          <a:p>
            <a:pPr indent="0" lvl="0" marL="0" marR="0" rtl="0" algn="l">
              <a:lnSpc>
                <a:spcPct val="105604"/>
              </a:lnSpc>
              <a:spcBef>
                <a:spcPts val="0"/>
              </a:spcBef>
              <a:spcAft>
                <a:spcPts val="0"/>
              </a:spcAft>
              <a:buNone/>
            </a:pPr>
            <a:r>
              <a:rPr b="0" i="0" lang="en-US" spc="-51" sz="5103" u="none" cap="none" strike="noStrike">
                <a:solidFill>
                  <a:srgbClr val="0F1B2B"/>
                </a:solidFill>
                <a:latin typeface="Arimo"/>
                <a:ea typeface="Arimo"/>
                <a:cs typeface="Arimo"/>
                <a:sym typeface="Arimo"/>
              </a:rPr>
              <a:t>67,3%</a:t>
            </a:r>
            <a:endParaRPr/>
          </a:p>
        </p:txBody>
      </p:sp>
      <p:sp>
        <p:nvSpPr>
          <p:cNvPr id="604" name="Google Shape;604;p27"/>
          <p:cNvSpPr txBox="1"/>
          <p:nvPr/>
        </p:nvSpPr>
        <p:spPr>
          <a:xfrm>
            <a:off x="12595174" y="4487675"/>
            <a:ext cx="4600927" cy="1182443"/>
          </a:xfrm>
          <a:prstGeom prst="rect">
            <a:avLst/>
          </a:prstGeom>
          <a:noFill/>
          <a:ln>
            <a:noFill/>
          </a:ln>
        </p:spPr>
        <p:txBody>
          <a:bodyPr anchorCtr="0" anchor="t" bIns="0" lIns="0" spcFirstLastPara="1" rIns="0" wrap="square" tIns="0">
            <a:spAutoFit/>
          </a:bodyPr>
          <a:lstStyle/>
          <a:p>
            <a:pPr indent="0" lvl="0" marL="0" marR="0" rtl="0" algn="l">
              <a:lnSpc>
                <a:spcPct val="138005"/>
              </a:lnSpc>
              <a:spcBef>
                <a:spcPts val="0"/>
              </a:spcBef>
              <a:spcAft>
                <a:spcPts val="0"/>
              </a:spcAft>
              <a:buNone/>
            </a:pPr>
            <a:r>
              <a:rPr b="0" i="0" lang="en-US" sz="2176" u="none" cap="none" strike="noStrike">
                <a:solidFill>
                  <a:srgbClr val="2B3542"/>
                </a:solidFill>
                <a:latin typeface="Inter"/>
                <a:ea typeface="Inter"/>
                <a:cs typeface="Inter"/>
                <a:sym typeface="Inter"/>
              </a:rPr>
              <a:t>Baseline forecast 67,3% menjadi fondasi awal untuk meredam volatilitas musiman awal 2024.</a:t>
            </a:r>
            <a:endParaRPr/>
          </a:p>
        </p:txBody>
      </p:sp>
      <p:sp>
        <p:nvSpPr>
          <p:cNvPr id="605" name="Google Shape;605;p27"/>
          <p:cNvSpPr txBox="1"/>
          <p:nvPr/>
        </p:nvSpPr>
        <p:spPr>
          <a:xfrm>
            <a:off x="12595174" y="6183325"/>
            <a:ext cx="4944085" cy="279254"/>
          </a:xfrm>
          <a:prstGeom prst="rect">
            <a:avLst/>
          </a:prstGeom>
          <a:noFill/>
          <a:ln>
            <a:noFill/>
          </a:ln>
        </p:spPr>
        <p:txBody>
          <a:bodyPr anchorCtr="0" anchor="t" bIns="0" lIns="0" spcFirstLastPara="1" rIns="0" wrap="square" tIns="0">
            <a:spAutoFit/>
          </a:bodyPr>
          <a:lstStyle/>
          <a:p>
            <a:pPr indent="0" lvl="0" marL="0" marR="0" rtl="0" algn="l">
              <a:lnSpc>
                <a:spcPct val="129568"/>
              </a:lnSpc>
              <a:spcBef>
                <a:spcPts val="0"/>
              </a:spcBef>
              <a:spcAft>
                <a:spcPts val="0"/>
              </a:spcAft>
              <a:buNone/>
            </a:pPr>
            <a:r>
              <a:rPr b="0" i="0" lang="en-US" spc="15" sz="1576" u="none" cap="none" strike="noStrike">
                <a:solidFill>
                  <a:srgbClr val="66625A"/>
                </a:solidFill>
                <a:latin typeface="Inter"/>
                <a:ea typeface="Inter"/>
                <a:cs typeface="Inter"/>
                <a:sym typeface="Inter"/>
              </a:rPr>
              <a:t>Peredam lonjakan musiman</a:t>
            </a:r>
            <a:endParaRPr/>
          </a:p>
        </p:txBody>
      </p:sp>
      <p:sp>
        <p:nvSpPr>
          <p:cNvPr id="606" name="Google Shape;606;p27"/>
          <p:cNvSpPr/>
          <p:nvPr/>
        </p:nvSpPr>
        <p:spPr>
          <a:xfrm>
            <a:off x="762581" y="6987578"/>
            <a:ext cx="16776668" cy="1533049"/>
          </a:xfrm>
          <a:custGeom>
            <a:rect b="b" l="l" r="r" t="t"/>
            <a:pathLst>
              <a:path extrusionOk="0" h="2044065" w="22368890">
                <a:moveTo>
                  <a:pt x="0" y="0"/>
                </a:moveTo>
                <a:lnTo>
                  <a:pt x="22368890" y="0"/>
                </a:lnTo>
                <a:lnTo>
                  <a:pt x="22368890" y="2044065"/>
                </a:lnTo>
                <a:lnTo>
                  <a:pt x="0" y="2044065"/>
                </a:lnTo>
                <a:close/>
              </a:path>
            </a:pathLst>
          </a:custGeom>
          <a:solidFill>
            <a:srgbClr val="EDF2F7"/>
          </a:solidFill>
          <a:ln>
            <a:noFill/>
          </a:ln>
        </p:spPr>
      </p:sp>
      <p:sp>
        <p:nvSpPr>
          <p:cNvPr id="607" name="Google Shape;607;p27"/>
          <p:cNvSpPr/>
          <p:nvPr/>
        </p:nvSpPr>
        <p:spPr>
          <a:xfrm>
            <a:off x="762581" y="6987578"/>
            <a:ext cx="16776668" cy="57150"/>
          </a:xfrm>
          <a:custGeom>
            <a:rect b="b" l="l" r="r" t="t"/>
            <a:pathLst>
              <a:path extrusionOk="0" h="76200" w="22368890">
                <a:moveTo>
                  <a:pt x="0" y="0"/>
                </a:moveTo>
                <a:lnTo>
                  <a:pt x="22368890" y="0"/>
                </a:lnTo>
                <a:lnTo>
                  <a:pt x="22368890" y="76200"/>
                </a:lnTo>
                <a:lnTo>
                  <a:pt x="0" y="76200"/>
                </a:lnTo>
                <a:close/>
              </a:path>
            </a:pathLst>
          </a:custGeom>
          <a:solidFill>
            <a:srgbClr val="0CC0DF"/>
          </a:solidFill>
          <a:ln>
            <a:noFill/>
          </a:ln>
        </p:spPr>
      </p:sp>
      <p:sp>
        <p:nvSpPr>
          <p:cNvPr id="608" name="Google Shape;608;p27"/>
          <p:cNvSpPr txBox="1"/>
          <p:nvPr/>
        </p:nvSpPr>
        <p:spPr>
          <a:xfrm>
            <a:off x="1105738" y="7225903"/>
            <a:ext cx="16433530" cy="226838"/>
          </a:xfrm>
          <a:prstGeom prst="rect">
            <a:avLst/>
          </a:prstGeom>
          <a:noFill/>
          <a:ln>
            <a:noFill/>
          </a:ln>
        </p:spPr>
        <p:txBody>
          <a:bodyPr anchorCtr="0" anchor="t" bIns="0" lIns="0" spcFirstLastPara="1" rIns="0" wrap="square" tIns="0">
            <a:spAutoFit/>
          </a:bodyPr>
          <a:lstStyle/>
          <a:p>
            <a:pPr indent="0" lvl="0" marL="0" marR="0" rtl="0" algn="l">
              <a:lnSpc>
                <a:spcPct val="119985"/>
              </a:lnSpc>
              <a:spcBef>
                <a:spcPts val="0"/>
              </a:spcBef>
              <a:spcAft>
                <a:spcPts val="0"/>
              </a:spcAft>
              <a:buNone/>
            </a:pPr>
            <a:r>
              <a:rPr b="0" i="0" lang="en-US" spc="142" sz="1426" u="none" cap="none" strike="noStrike">
                <a:solidFill>
                  <a:srgbClr val="2B3542"/>
                </a:solidFill>
                <a:latin typeface="Inter"/>
                <a:ea typeface="Inter"/>
                <a:cs typeface="Inter"/>
                <a:sym typeface="Inter"/>
              </a:rPr>
              <a:t>MEKANISME BUFFER DINAMIS</a:t>
            </a:r>
            <a:endParaRPr/>
          </a:p>
        </p:txBody>
      </p:sp>
      <p:sp>
        <p:nvSpPr>
          <p:cNvPr id="609" name="Google Shape;609;p27"/>
          <p:cNvSpPr txBox="1"/>
          <p:nvPr/>
        </p:nvSpPr>
        <p:spPr>
          <a:xfrm>
            <a:off x="1105738" y="7533742"/>
            <a:ext cx="16090373" cy="800995"/>
          </a:xfrm>
          <a:prstGeom prst="rect">
            <a:avLst/>
          </a:prstGeom>
          <a:noFill/>
          <a:ln>
            <a:noFill/>
          </a:ln>
        </p:spPr>
        <p:txBody>
          <a:bodyPr anchorCtr="0" anchor="t" bIns="0" lIns="0" spcFirstLastPara="1" rIns="0" wrap="square" tIns="0">
            <a:spAutoFit/>
          </a:bodyPr>
          <a:lstStyle/>
          <a:p>
            <a:pPr indent="0" lvl="0" marL="0" marR="0" rtl="0" algn="l">
              <a:lnSpc>
                <a:spcPct val="138005"/>
              </a:lnSpc>
              <a:spcBef>
                <a:spcPts val="0"/>
              </a:spcBef>
              <a:spcAft>
                <a:spcPts val="0"/>
              </a:spcAft>
              <a:buNone/>
            </a:pPr>
            <a:r>
              <a:rPr b="0" i="0" lang="en-US" sz="2176" u="none" cap="none" strike="noStrike">
                <a:solidFill>
                  <a:srgbClr val="2B3542"/>
                </a:solidFill>
                <a:latin typeface="Inter"/>
                <a:ea typeface="Inter"/>
                <a:cs typeface="Inter"/>
                <a:sym typeface="Inter"/>
              </a:rPr>
              <a:t>Fluktuasi lead time vendor sebesar 0,25 hari melipatgandakan variasi kebutuhan stok aman; formula buffer statis terbukti gagal merespons deviasi ini secara tepat waktu.</a:t>
            </a:r>
            <a:endParaRPr/>
          </a:p>
        </p:txBody>
      </p:sp>
      <p:sp>
        <p:nvSpPr>
          <p:cNvPr id="610" name="Google Shape;610;p27"/>
          <p:cNvSpPr txBox="1"/>
          <p:nvPr/>
        </p:nvSpPr>
        <p:spPr>
          <a:xfrm>
            <a:off x="762581" y="8690724"/>
            <a:ext cx="17539268" cy="272996"/>
          </a:xfrm>
          <a:prstGeom prst="rect">
            <a:avLst/>
          </a:prstGeom>
          <a:noFill/>
          <a:ln>
            <a:noFill/>
          </a:ln>
        </p:spPr>
        <p:txBody>
          <a:bodyPr anchorCtr="0" anchor="t" bIns="0" lIns="0" spcFirstLastPara="1" rIns="0" wrap="square" tIns="0">
            <a:spAutoFit/>
          </a:bodyPr>
          <a:lstStyle/>
          <a:p>
            <a:pPr indent="0" lvl="0" marL="0" marR="0" rtl="0" algn="l">
              <a:lnSpc>
                <a:spcPct val="134361"/>
              </a:lnSpc>
              <a:spcBef>
                <a:spcPts val="0"/>
              </a:spcBef>
              <a:spcAft>
                <a:spcPts val="0"/>
              </a:spcAft>
              <a:buNone/>
            </a:pPr>
            <a:r>
              <a:rPr b="0" i="0" lang="en-US" spc="85" sz="1426" u="none" cap="none" strike="noStrike">
                <a:solidFill>
                  <a:srgbClr val="66625A"/>
                </a:solidFill>
                <a:latin typeface="Inter"/>
                <a:ea typeface="Inter"/>
                <a:cs typeface="Inter"/>
                <a:sym typeface="Inter"/>
              </a:rPr>
              <a:t>SUMBER: MODEL SIMULASI RANTAI PASOK; LOG KEDATANGAN BARANG GUDANG KONSOLIDASI 2021–2023</a:t>
            </a:r>
            <a:endParaRPr/>
          </a:p>
        </p:txBody>
      </p:sp>
      <p:sp>
        <p:nvSpPr>
          <p:cNvPr id="611" name="Google Shape;611;p27"/>
          <p:cNvSpPr/>
          <p:nvPr/>
        </p:nvSpPr>
        <p:spPr>
          <a:xfrm>
            <a:off x="0" y="9723091"/>
            <a:ext cx="18301811" cy="14287"/>
          </a:xfrm>
          <a:custGeom>
            <a:rect b="b" l="l" r="r" t="t"/>
            <a:pathLst>
              <a:path extrusionOk="0" h="19050" w="24402414">
                <a:moveTo>
                  <a:pt x="0" y="0"/>
                </a:moveTo>
                <a:lnTo>
                  <a:pt x="24402414" y="0"/>
                </a:lnTo>
                <a:lnTo>
                  <a:pt x="24402414" y="19050"/>
                </a:lnTo>
                <a:lnTo>
                  <a:pt x="0" y="19050"/>
                </a:lnTo>
                <a:close/>
              </a:path>
            </a:pathLst>
          </a:custGeom>
          <a:solidFill>
            <a:srgbClr val="2B3542">
              <a:alpha val="3922"/>
            </a:srgbClr>
          </a:solidFill>
          <a:ln>
            <a:noFill/>
          </a:ln>
        </p:spPr>
      </p:sp>
      <p:grpSp>
        <p:nvGrpSpPr>
          <p:cNvPr id="612" name="Google Shape;612;p27"/>
          <p:cNvGrpSpPr/>
          <p:nvPr/>
        </p:nvGrpSpPr>
        <p:grpSpPr>
          <a:xfrm>
            <a:off x="293380" y="9612742"/>
            <a:ext cx="7167785" cy="521294"/>
            <a:chOff x="0" y="-28575"/>
            <a:chExt cx="9557046" cy="695058"/>
          </a:xfrm>
        </p:grpSpPr>
        <p:sp>
          <p:nvSpPr>
            <p:cNvPr id="613" name="Google Shape;613;p27"/>
            <p:cNvSpPr/>
            <p:nvPr/>
          </p:nvSpPr>
          <p:spPr>
            <a:xfrm>
              <a:off x="0" y="0"/>
              <a:ext cx="9557046" cy="666483"/>
            </a:xfrm>
            <a:custGeom>
              <a:rect b="b" l="l" r="r" t="t"/>
              <a:pathLst>
                <a:path extrusionOk="0" h="666483" w="9557046">
                  <a:moveTo>
                    <a:pt x="0" y="0"/>
                  </a:moveTo>
                  <a:lnTo>
                    <a:pt x="9557046" y="0"/>
                  </a:lnTo>
                  <a:lnTo>
                    <a:pt x="9557046" y="666483"/>
                  </a:lnTo>
                  <a:lnTo>
                    <a:pt x="0" y="666483"/>
                  </a:lnTo>
                  <a:close/>
                </a:path>
              </a:pathLst>
            </a:custGeom>
            <a:blipFill rotWithShape="1">
              <a:blip r:embed="rId3">
                <a:alphaModFix amt="0"/>
              </a:blip>
              <a:stretch>
                <a:fillRect b="-181075" l="0" r="17296" t="-181075"/>
              </a:stretch>
            </a:blipFill>
            <a:ln>
              <a:noFill/>
            </a:ln>
          </p:spPr>
        </p:sp>
        <p:sp>
          <p:nvSpPr>
            <p:cNvPr id="614" name="Google Shape;614;p27"/>
            <p:cNvSpPr txBox="1"/>
            <p:nvPr/>
          </p:nvSpPr>
          <p:spPr>
            <a:xfrm>
              <a:off x="0" y="-28575"/>
              <a:ext cx="9557042" cy="695052"/>
            </a:xfrm>
            <a:prstGeom prst="rect">
              <a:avLst/>
            </a:prstGeom>
            <a:noFill/>
            <a:ln>
              <a:noFill/>
            </a:ln>
          </p:spPr>
          <p:txBody>
            <a:bodyPr anchorCtr="0" anchor="ctr" bIns="0" lIns="0" spcFirstLastPara="1" rIns="0" wrap="square" tIns="0">
              <a:noAutofit/>
            </a:bodyPr>
            <a:lstStyle/>
            <a:p>
              <a:pPr indent="0" lvl="0" marL="0" marR="0" rtl="0" algn="l">
                <a:lnSpc>
                  <a:spcPct val="138008"/>
                </a:lnSpc>
                <a:spcBef>
                  <a:spcPts val="0"/>
                </a:spcBef>
                <a:spcAft>
                  <a:spcPts val="0"/>
                </a:spcAft>
                <a:buNone/>
              </a:pPr>
              <a:r>
                <a:rPr b="0" i="0" lang="en-US" spc="142" sz="1426" u="none" cap="none" strike="noStrike">
                  <a:solidFill>
                    <a:srgbClr val="2B3542"/>
                  </a:solidFill>
                  <a:latin typeface="Inter"/>
                  <a:ea typeface="Inter"/>
                  <a:cs typeface="Inter"/>
                  <a:sym typeface="Inter"/>
                </a:rPr>
                <a:t>GLOBAL FMCG SUPPLY CHAIN ANALYTICS — EXECUTIVE REPORT</a:t>
              </a:r>
              <a:endParaRPr/>
            </a:p>
          </p:txBody>
        </p:sp>
      </p:grpSp>
      <p:grpSp>
        <p:nvGrpSpPr>
          <p:cNvPr id="615" name="Google Shape;615;p27"/>
          <p:cNvGrpSpPr/>
          <p:nvPr/>
        </p:nvGrpSpPr>
        <p:grpSpPr>
          <a:xfrm>
            <a:off x="15480401" y="-52044"/>
            <a:ext cx="4516946" cy="1127273"/>
            <a:chOff x="0" y="-241102"/>
            <a:chExt cx="6022595" cy="1503032"/>
          </a:xfrm>
        </p:grpSpPr>
        <p:grpSp>
          <p:nvGrpSpPr>
            <p:cNvPr id="616" name="Google Shape;616;p27"/>
            <p:cNvGrpSpPr/>
            <p:nvPr/>
          </p:nvGrpSpPr>
          <p:grpSpPr>
            <a:xfrm>
              <a:off x="0" y="-241102"/>
              <a:ext cx="6022595" cy="1503032"/>
              <a:chOff x="0" y="-47625"/>
              <a:chExt cx="1189648" cy="296895"/>
            </a:xfrm>
          </p:grpSpPr>
          <p:sp>
            <p:nvSpPr>
              <p:cNvPr id="617" name="Google Shape;617;p27"/>
              <p:cNvSpPr/>
              <p:nvPr/>
            </p:nvSpPr>
            <p:spPr>
              <a:xfrm>
                <a:off x="0" y="0"/>
                <a:ext cx="1189648" cy="249270"/>
              </a:xfrm>
              <a:custGeom>
                <a:rect b="b" l="l" r="r" t="t"/>
                <a:pathLst>
                  <a:path extrusionOk="0" h="249270" w="1189648">
                    <a:moveTo>
                      <a:pt x="87413" y="0"/>
                    </a:moveTo>
                    <a:lnTo>
                      <a:pt x="1102236" y="0"/>
                    </a:lnTo>
                    <a:cubicBezTo>
                      <a:pt x="1125419" y="0"/>
                      <a:pt x="1147653" y="9210"/>
                      <a:pt x="1164046" y="25603"/>
                    </a:cubicBezTo>
                    <a:cubicBezTo>
                      <a:pt x="1180439" y="41996"/>
                      <a:pt x="1189648" y="64229"/>
                      <a:pt x="1189648" y="87413"/>
                    </a:cubicBezTo>
                    <a:lnTo>
                      <a:pt x="1189648" y="161858"/>
                    </a:lnTo>
                    <a:cubicBezTo>
                      <a:pt x="1189648" y="185041"/>
                      <a:pt x="1180439" y="207275"/>
                      <a:pt x="1164046" y="223668"/>
                    </a:cubicBezTo>
                    <a:cubicBezTo>
                      <a:pt x="1147653" y="240061"/>
                      <a:pt x="1125419" y="249270"/>
                      <a:pt x="1102236" y="249270"/>
                    </a:cubicBezTo>
                    <a:lnTo>
                      <a:pt x="87413" y="249270"/>
                    </a:lnTo>
                    <a:cubicBezTo>
                      <a:pt x="64229" y="249270"/>
                      <a:pt x="41996" y="240061"/>
                      <a:pt x="25603" y="223668"/>
                    </a:cubicBezTo>
                    <a:cubicBezTo>
                      <a:pt x="9210" y="207275"/>
                      <a:pt x="0" y="185041"/>
                      <a:pt x="0" y="161858"/>
                    </a:cubicBezTo>
                    <a:lnTo>
                      <a:pt x="0" y="87413"/>
                    </a:lnTo>
                    <a:cubicBezTo>
                      <a:pt x="0" y="64229"/>
                      <a:pt x="9210" y="41996"/>
                      <a:pt x="25603" y="25603"/>
                    </a:cubicBezTo>
                    <a:cubicBezTo>
                      <a:pt x="41996" y="9210"/>
                      <a:pt x="64229" y="0"/>
                      <a:pt x="87413" y="0"/>
                    </a:cubicBezTo>
                    <a:close/>
                  </a:path>
                </a:pathLst>
              </a:custGeom>
              <a:solidFill>
                <a:srgbClr val="FE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8" name="Google Shape;618;p27"/>
              <p:cNvSpPr txBox="1"/>
              <p:nvPr/>
            </p:nvSpPr>
            <p:spPr>
              <a:xfrm>
                <a:off x="0" y="-47625"/>
                <a:ext cx="1189648" cy="296895"/>
              </a:xfrm>
              <a:prstGeom prst="rect">
                <a:avLst/>
              </a:prstGeom>
              <a:noFill/>
              <a:ln>
                <a:noFill/>
              </a:ln>
            </p:spPr>
            <p:txBody>
              <a:bodyPr anchorCtr="0" anchor="ctr" bIns="50800" lIns="50800" spcFirstLastPara="1" rIns="50800" wrap="square" tIns="50800">
                <a:noAutofit/>
              </a:bodyPr>
              <a:lstStyle/>
              <a:p>
                <a:pPr indent="0" lvl="0" marL="0" marR="0" rtl="0" algn="ctr">
                  <a:lnSpc>
                    <a:spcPct val="155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619" name="Google Shape;619;p27"/>
            <p:cNvSpPr/>
            <p:nvPr/>
          </p:nvSpPr>
          <p:spPr>
            <a:xfrm>
              <a:off x="483631" y="226255"/>
              <a:ext cx="2676306" cy="809419"/>
            </a:xfrm>
            <a:custGeom>
              <a:rect b="b" l="l" r="r" t="t"/>
              <a:pathLst>
                <a:path extrusionOk="0" h="809419" w="2676306">
                  <a:moveTo>
                    <a:pt x="0" y="0"/>
                  </a:moveTo>
                  <a:lnTo>
                    <a:pt x="2676305" y="0"/>
                  </a:lnTo>
                  <a:lnTo>
                    <a:pt x="2676305" y="809420"/>
                  </a:lnTo>
                  <a:lnTo>
                    <a:pt x="0" y="809420"/>
                  </a:lnTo>
                  <a:lnTo>
                    <a:pt x="0" y="0"/>
                  </a:lnTo>
                  <a:close/>
                </a:path>
              </a:pathLst>
            </a:custGeom>
            <a:blipFill rotWithShape="1">
              <a:blip r:embed="rId4">
                <a:alphaModFix/>
              </a:blip>
              <a:stretch>
                <a:fillRect b="0" l="0" r="0" t="0"/>
              </a:stretch>
            </a:blipFill>
            <a:ln>
              <a:noFill/>
            </a:ln>
          </p:spPr>
        </p:sp>
      </p:gr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627" name="Shape 627"/>
        <p:cNvGrpSpPr/>
        <p:nvPr/>
      </p:nvGrpSpPr>
      <p:grpSpPr>
        <a:xfrm>
          <a:off x="0" y="0"/>
          <a:ext cx="0" cy="0"/>
          <a:chOff x="0" y="0"/>
          <a:chExt cx="0" cy="0"/>
        </a:xfrm>
      </p:grpSpPr>
      <p:sp>
        <p:nvSpPr>
          <p:cNvPr id="628" name="Google Shape;628;p28"/>
          <p:cNvSpPr txBox="1"/>
          <p:nvPr/>
        </p:nvSpPr>
        <p:spPr>
          <a:xfrm>
            <a:off x="762581" y="753075"/>
            <a:ext cx="17539268" cy="226838"/>
          </a:xfrm>
          <a:prstGeom prst="rect">
            <a:avLst/>
          </a:prstGeom>
          <a:noFill/>
          <a:ln>
            <a:noFill/>
          </a:ln>
        </p:spPr>
        <p:txBody>
          <a:bodyPr anchorCtr="0" anchor="t" bIns="0" lIns="0" spcFirstLastPara="1" rIns="0" wrap="square" tIns="0">
            <a:spAutoFit/>
          </a:bodyPr>
          <a:lstStyle/>
          <a:p>
            <a:pPr indent="0" lvl="0" marL="0" marR="0" rtl="0" algn="l">
              <a:lnSpc>
                <a:spcPct val="119985"/>
              </a:lnSpc>
              <a:spcBef>
                <a:spcPts val="0"/>
              </a:spcBef>
              <a:spcAft>
                <a:spcPts val="0"/>
              </a:spcAft>
              <a:buNone/>
            </a:pPr>
            <a:r>
              <a:rPr b="0" i="0" lang="en-US" spc="199" sz="1426" u="none" cap="none" strike="noStrike">
                <a:solidFill>
                  <a:srgbClr val="1B2638"/>
                </a:solidFill>
                <a:latin typeface="Inter"/>
                <a:ea typeface="Inter"/>
                <a:cs typeface="Inter"/>
                <a:sym typeface="Inter"/>
              </a:rPr>
              <a:t>12 ROADMAP SOLUSI: INVENTARIS</a:t>
            </a:r>
            <a:endParaRPr/>
          </a:p>
        </p:txBody>
      </p:sp>
      <p:sp>
        <p:nvSpPr>
          <p:cNvPr id="629" name="Google Shape;629;p28"/>
          <p:cNvSpPr txBox="1"/>
          <p:nvPr/>
        </p:nvSpPr>
        <p:spPr>
          <a:xfrm>
            <a:off x="762581" y="1075230"/>
            <a:ext cx="16776687" cy="1067638"/>
          </a:xfrm>
          <a:prstGeom prst="rect">
            <a:avLst/>
          </a:prstGeom>
          <a:noFill/>
          <a:ln>
            <a:noFill/>
          </a:ln>
        </p:spPr>
        <p:txBody>
          <a:bodyPr anchorCtr="0" anchor="t" bIns="0" lIns="0" spcFirstLastPara="1" rIns="0" wrap="square" tIns="0">
            <a:spAutoFit/>
          </a:bodyPr>
          <a:lstStyle/>
          <a:p>
            <a:pPr indent="0" lvl="0" marL="0" marR="0" rtl="0" algn="l">
              <a:lnSpc>
                <a:spcPct val="111620"/>
              </a:lnSpc>
              <a:spcBef>
                <a:spcPts val="0"/>
              </a:spcBef>
              <a:spcAft>
                <a:spcPts val="0"/>
              </a:spcAft>
              <a:buNone/>
            </a:pPr>
            <a:r>
              <a:rPr b="0" i="0" lang="en-US" spc="-18" sz="3752" u="none" cap="none" strike="noStrike">
                <a:solidFill>
                  <a:srgbClr val="0F1B2B"/>
                </a:solidFill>
                <a:latin typeface="Arimo"/>
                <a:ea typeface="Arimo"/>
                <a:cs typeface="Arimo"/>
                <a:sym typeface="Arimo"/>
              </a:rPr>
              <a:t>Safety stock dinamis mengalihkan keputusan dari batas manual ke sinyal harian</a:t>
            </a:r>
            <a:endParaRPr/>
          </a:p>
        </p:txBody>
      </p:sp>
      <p:sp>
        <p:nvSpPr>
          <p:cNvPr id="630" name="Google Shape;630;p28"/>
          <p:cNvSpPr/>
          <p:nvPr/>
        </p:nvSpPr>
        <p:spPr>
          <a:xfrm>
            <a:off x="762581" y="2421693"/>
            <a:ext cx="16776573" cy="28575"/>
          </a:xfrm>
          <a:custGeom>
            <a:rect b="b" l="l" r="r" t="t"/>
            <a:pathLst>
              <a:path extrusionOk="0" h="38100" w="22368763">
                <a:moveTo>
                  <a:pt x="0" y="19050"/>
                </a:moveTo>
                <a:cubicBezTo>
                  <a:pt x="0" y="8509"/>
                  <a:pt x="8509" y="0"/>
                  <a:pt x="19050" y="0"/>
                </a:cubicBezTo>
                <a:lnTo>
                  <a:pt x="22349713" y="0"/>
                </a:lnTo>
                <a:cubicBezTo>
                  <a:pt x="22360254" y="0"/>
                  <a:pt x="22368763" y="8509"/>
                  <a:pt x="22368763" y="19050"/>
                </a:cubicBezTo>
                <a:cubicBezTo>
                  <a:pt x="22368763" y="29591"/>
                  <a:pt x="22360254" y="38100"/>
                  <a:pt x="22349713" y="38100"/>
                </a:cubicBezTo>
                <a:lnTo>
                  <a:pt x="19050" y="38100"/>
                </a:lnTo>
                <a:cubicBezTo>
                  <a:pt x="8509" y="38100"/>
                  <a:pt x="0" y="29591"/>
                  <a:pt x="0" y="19050"/>
                </a:cubicBezTo>
                <a:close/>
              </a:path>
            </a:pathLst>
          </a:custGeom>
          <a:solidFill>
            <a:srgbClr val="8C87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1" name="Google Shape;631;p28"/>
          <p:cNvSpPr txBox="1"/>
          <p:nvPr/>
        </p:nvSpPr>
        <p:spPr>
          <a:xfrm>
            <a:off x="762581" y="2762441"/>
            <a:ext cx="1264958" cy="228819"/>
          </a:xfrm>
          <a:prstGeom prst="rect">
            <a:avLst/>
          </a:prstGeom>
          <a:noFill/>
          <a:ln>
            <a:noFill/>
          </a:ln>
        </p:spPr>
        <p:txBody>
          <a:bodyPr anchorCtr="0" anchor="t" bIns="0" lIns="0" spcFirstLastPara="1" rIns="0" wrap="square" tIns="0">
            <a:spAutoFit/>
          </a:bodyPr>
          <a:lstStyle/>
          <a:p>
            <a:pPr indent="0" lvl="0" marL="0" marR="0" rtl="0" algn="l">
              <a:lnSpc>
                <a:spcPct val="99586"/>
              </a:lnSpc>
              <a:spcBef>
                <a:spcPts val="0"/>
              </a:spcBef>
              <a:spcAft>
                <a:spcPts val="0"/>
              </a:spcAft>
              <a:buNone/>
            </a:pPr>
            <a:r>
              <a:rPr b="0" i="0" lang="en-US" sz="2176" u="none" cap="none" strike="noStrike">
                <a:solidFill>
                  <a:srgbClr val="0F1B2B"/>
                </a:solidFill>
                <a:latin typeface="Inter"/>
                <a:ea typeface="Inter"/>
                <a:cs typeface="Inter"/>
                <a:sym typeface="Inter"/>
              </a:rPr>
              <a:t>01</a:t>
            </a:r>
            <a:endParaRPr/>
          </a:p>
        </p:txBody>
      </p:sp>
      <p:sp>
        <p:nvSpPr>
          <p:cNvPr id="632" name="Google Shape;632;p28"/>
          <p:cNvSpPr/>
          <p:nvPr/>
        </p:nvSpPr>
        <p:spPr>
          <a:xfrm>
            <a:off x="762581" y="3101921"/>
            <a:ext cx="5287137" cy="28575"/>
          </a:xfrm>
          <a:custGeom>
            <a:rect b="b" l="l" r="r" t="t"/>
            <a:pathLst>
              <a:path extrusionOk="0" h="38100" w="7049516">
                <a:moveTo>
                  <a:pt x="0" y="0"/>
                </a:moveTo>
                <a:lnTo>
                  <a:pt x="7049516" y="0"/>
                </a:lnTo>
                <a:lnTo>
                  <a:pt x="7049516" y="38100"/>
                </a:lnTo>
                <a:lnTo>
                  <a:pt x="0" y="38100"/>
                </a:lnTo>
                <a:close/>
              </a:path>
            </a:pathLst>
          </a:custGeom>
          <a:solidFill>
            <a:srgbClr val="14253D"/>
          </a:solidFill>
          <a:ln>
            <a:noFill/>
          </a:ln>
        </p:spPr>
      </p:sp>
      <p:sp>
        <p:nvSpPr>
          <p:cNvPr id="633" name="Google Shape;633;p28"/>
          <p:cNvSpPr txBox="1"/>
          <p:nvPr/>
        </p:nvSpPr>
        <p:spPr>
          <a:xfrm>
            <a:off x="762581" y="3273514"/>
            <a:ext cx="5287099" cy="386953"/>
          </a:xfrm>
          <a:prstGeom prst="rect">
            <a:avLst/>
          </a:prstGeom>
          <a:noFill/>
          <a:ln>
            <a:noFill/>
          </a:ln>
        </p:spPr>
        <p:txBody>
          <a:bodyPr anchorCtr="0" anchor="t" bIns="0" lIns="0" spcFirstLastPara="1" rIns="0" wrap="square" tIns="0">
            <a:spAutoFit/>
          </a:bodyPr>
          <a:lstStyle/>
          <a:p>
            <a:pPr indent="0" lvl="0" marL="0" marR="0" rtl="0" algn="l">
              <a:lnSpc>
                <a:spcPct val="120032"/>
              </a:lnSpc>
              <a:spcBef>
                <a:spcPts val="0"/>
              </a:spcBef>
              <a:spcAft>
                <a:spcPts val="0"/>
              </a:spcAft>
              <a:buNone/>
            </a:pPr>
            <a:r>
              <a:rPr b="0" i="0" lang="en-US" spc="-12" sz="2476" u="none" cap="none" strike="noStrike">
                <a:solidFill>
                  <a:srgbClr val="0F1B2B"/>
                </a:solidFill>
                <a:latin typeface="Inter"/>
                <a:ea typeface="Inter"/>
                <a:cs typeface="Inter"/>
                <a:sym typeface="Inter"/>
              </a:rPr>
              <a:t>Kalkulasi ROP Dinamis</a:t>
            </a:r>
            <a:endParaRPr/>
          </a:p>
        </p:txBody>
      </p:sp>
      <p:sp>
        <p:nvSpPr>
          <p:cNvPr id="634" name="Google Shape;634;p28"/>
          <p:cNvSpPr txBox="1"/>
          <p:nvPr/>
        </p:nvSpPr>
        <p:spPr>
          <a:xfrm>
            <a:off x="762581" y="3812276"/>
            <a:ext cx="5287099" cy="279254"/>
          </a:xfrm>
          <a:prstGeom prst="rect">
            <a:avLst/>
          </a:prstGeom>
          <a:noFill/>
          <a:ln>
            <a:noFill/>
          </a:ln>
        </p:spPr>
        <p:txBody>
          <a:bodyPr anchorCtr="0" anchor="t" bIns="0" lIns="0" spcFirstLastPara="1" rIns="0" wrap="square" tIns="0">
            <a:spAutoFit/>
          </a:bodyPr>
          <a:lstStyle/>
          <a:p>
            <a:pPr indent="0" lvl="0" marL="0" marR="0" rtl="0" algn="l">
              <a:lnSpc>
                <a:spcPct val="129568"/>
              </a:lnSpc>
              <a:spcBef>
                <a:spcPts val="0"/>
              </a:spcBef>
              <a:spcAft>
                <a:spcPts val="0"/>
              </a:spcAft>
              <a:buNone/>
            </a:pPr>
            <a:r>
              <a:rPr b="0" i="0" lang="en-US" spc="15" sz="1576" u="none" cap="none" strike="noStrike">
                <a:solidFill>
                  <a:srgbClr val="66625A"/>
                </a:solidFill>
                <a:latin typeface="Inter"/>
                <a:ea typeface="Inter"/>
                <a:cs typeface="Inter"/>
                <a:sym typeface="Inter"/>
              </a:rPr>
              <a:t>Pilar 1: Otomasi Algoritmik</a:t>
            </a:r>
            <a:endParaRPr/>
          </a:p>
        </p:txBody>
      </p:sp>
      <p:sp>
        <p:nvSpPr>
          <p:cNvPr id="635" name="Google Shape;635;p28"/>
          <p:cNvSpPr txBox="1"/>
          <p:nvPr/>
        </p:nvSpPr>
        <p:spPr>
          <a:xfrm>
            <a:off x="762581" y="4173255"/>
            <a:ext cx="5287099" cy="1563891"/>
          </a:xfrm>
          <a:prstGeom prst="rect">
            <a:avLst/>
          </a:prstGeom>
          <a:noFill/>
          <a:ln>
            <a:noFill/>
          </a:ln>
        </p:spPr>
        <p:txBody>
          <a:bodyPr anchorCtr="0" anchor="t" bIns="0" lIns="0" spcFirstLastPara="1" rIns="0" wrap="square" tIns="0">
            <a:spAutoFit/>
          </a:bodyPr>
          <a:lstStyle/>
          <a:p>
            <a:pPr indent="0" lvl="0" marL="0" marR="0" rtl="0" algn="l">
              <a:lnSpc>
                <a:spcPct val="138005"/>
              </a:lnSpc>
              <a:spcBef>
                <a:spcPts val="0"/>
              </a:spcBef>
              <a:spcAft>
                <a:spcPts val="0"/>
              </a:spcAft>
              <a:buNone/>
            </a:pPr>
            <a:r>
              <a:rPr b="0" i="0" lang="en-US" sz="2176" u="none" cap="none" strike="noStrike">
                <a:solidFill>
                  <a:srgbClr val="2B3542"/>
                </a:solidFill>
                <a:latin typeface="Inter"/>
                <a:ea typeface="Inter"/>
                <a:cs typeface="Inter"/>
                <a:sym typeface="Inter"/>
              </a:rPr>
              <a:t>Implementasikan Reorder Point dinamis melalui kalkulasi DAX berbasis rata-rata penjualan harian dan lead time supplier harian.</a:t>
            </a:r>
            <a:endParaRPr/>
          </a:p>
        </p:txBody>
      </p:sp>
      <p:sp>
        <p:nvSpPr>
          <p:cNvPr id="636" name="Google Shape;636;p28"/>
          <p:cNvSpPr txBox="1"/>
          <p:nvPr/>
        </p:nvSpPr>
        <p:spPr>
          <a:xfrm>
            <a:off x="762581" y="6526492"/>
            <a:ext cx="5287099" cy="279254"/>
          </a:xfrm>
          <a:prstGeom prst="rect">
            <a:avLst/>
          </a:prstGeom>
          <a:noFill/>
          <a:ln>
            <a:noFill/>
          </a:ln>
        </p:spPr>
        <p:txBody>
          <a:bodyPr anchorCtr="0" anchor="t" bIns="0" lIns="0" spcFirstLastPara="1" rIns="0" wrap="square" tIns="0">
            <a:spAutoFit/>
          </a:bodyPr>
          <a:lstStyle/>
          <a:p>
            <a:pPr indent="0" lvl="0" marL="0" marR="0" rtl="0" algn="l">
              <a:lnSpc>
                <a:spcPct val="129568"/>
              </a:lnSpc>
              <a:spcBef>
                <a:spcPts val="0"/>
              </a:spcBef>
              <a:spcAft>
                <a:spcPts val="0"/>
              </a:spcAft>
              <a:buNone/>
            </a:pPr>
            <a:r>
              <a:rPr b="1" i="0" lang="en-US" spc="15" sz="1576" u="none" cap="none" strike="noStrike">
                <a:solidFill>
                  <a:srgbClr val="66625A"/>
                </a:solidFill>
                <a:latin typeface="Inter"/>
                <a:ea typeface="Inter"/>
                <a:cs typeface="Inter"/>
                <a:sym typeface="Inter"/>
              </a:rPr>
              <a:t>Indikator:</a:t>
            </a:r>
            <a:r>
              <a:rPr b="0" i="0" lang="en-US" spc="15" sz="1576" u="none" cap="none" strike="noStrike">
                <a:solidFill>
                  <a:srgbClr val="66625A"/>
                </a:solidFill>
                <a:latin typeface="Inter"/>
                <a:ea typeface="Inter"/>
                <a:cs typeface="Inter"/>
                <a:sym typeface="Inter"/>
              </a:rPr>
              <a:t> Eliminasi batas manual statis</a:t>
            </a:r>
            <a:endParaRPr/>
          </a:p>
        </p:txBody>
      </p:sp>
      <p:sp>
        <p:nvSpPr>
          <p:cNvPr id="637" name="Google Shape;637;p28"/>
          <p:cNvSpPr txBox="1"/>
          <p:nvPr/>
        </p:nvSpPr>
        <p:spPr>
          <a:xfrm>
            <a:off x="6507223" y="2762441"/>
            <a:ext cx="1264958" cy="228819"/>
          </a:xfrm>
          <a:prstGeom prst="rect">
            <a:avLst/>
          </a:prstGeom>
          <a:noFill/>
          <a:ln>
            <a:noFill/>
          </a:ln>
        </p:spPr>
        <p:txBody>
          <a:bodyPr anchorCtr="0" anchor="t" bIns="0" lIns="0" spcFirstLastPara="1" rIns="0" wrap="square" tIns="0">
            <a:spAutoFit/>
          </a:bodyPr>
          <a:lstStyle/>
          <a:p>
            <a:pPr indent="0" lvl="0" marL="0" marR="0" rtl="0" algn="l">
              <a:lnSpc>
                <a:spcPct val="99586"/>
              </a:lnSpc>
              <a:spcBef>
                <a:spcPts val="0"/>
              </a:spcBef>
              <a:spcAft>
                <a:spcPts val="0"/>
              </a:spcAft>
              <a:buNone/>
            </a:pPr>
            <a:r>
              <a:rPr b="0" i="0" lang="en-US" sz="2176" u="none" cap="none" strike="noStrike">
                <a:solidFill>
                  <a:srgbClr val="0F1B2B"/>
                </a:solidFill>
                <a:latin typeface="Inter"/>
                <a:ea typeface="Inter"/>
                <a:cs typeface="Inter"/>
                <a:sym typeface="Inter"/>
              </a:rPr>
              <a:t>02</a:t>
            </a:r>
            <a:endParaRPr/>
          </a:p>
        </p:txBody>
      </p:sp>
      <p:sp>
        <p:nvSpPr>
          <p:cNvPr id="638" name="Google Shape;638;p28"/>
          <p:cNvSpPr/>
          <p:nvPr/>
        </p:nvSpPr>
        <p:spPr>
          <a:xfrm>
            <a:off x="6507223" y="3101921"/>
            <a:ext cx="5287137" cy="28575"/>
          </a:xfrm>
          <a:custGeom>
            <a:rect b="b" l="l" r="r" t="t"/>
            <a:pathLst>
              <a:path extrusionOk="0" h="38100" w="7049516">
                <a:moveTo>
                  <a:pt x="0" y="0"/>
                </a:moveTo>
                <a:lnTo>
                  <a:pt x="7049516" y="0"/>
                </a:lnTo>
                <a:lnTo>
                  <a:pt x="7049516" y="38100"/>
                </a:lnTo>
                <a:lnTo>
                  <a:pt x="0" y="38100"/>
                </a:lnTo>
                <a:close/>
              </a:path>
            </a:pathLst>
          </a:custGeom>
          <a:solidFill>
            <a:srgbClr val="14253D"/>
          </a:solidFill>
          <a:ln>
            <a:noFill/>
          </a:ln>
        </p:spPr>
      </p:sp>
      <p:sp>
        <p:nvSpPr>
          <p:cNvPr id="639" name="Google Shape;639;p28"/>
          <p:cNvSpPr txBox="1"/>
          <p:nvPr/>
        </p:nvSpPr>
        <p:spPr>
          <a:xfrm>
            <a:off x="6507223" y="3273514"/>
            <a:ext cx="5287251" cy="386953"/>
          </a:xfrm>
          <a:prstGeom prst="rect">
            <a:avLst/>
          </a:prstGeom>
          <a:noFill/>
          <a:ln>
            <a:noFill/>
          </a:ln>
        </p:spPr>
        <p:txBody>
          <a:bodyPr anchorCtr="0" anchor="t" bIns="0" lIns="0" spcFirstLastPara="1" rIns="0" wrap="square" tIns="0">
            <a:spAutoFit/>
          </a:bodyPr>
          <a:lstStyle/>
          <a:p>
            <a:pPr indent="0" lvl="0" marL="0" marR="0" rtl="0" algn="l">
              <a:lnSpc>
                <a:spcPct val="120032"/>
              </a:lnSpc>
              <a:spcBef>
                <a:spcPts val="0"/>
              </a:spcBef>
              <a:spcAft>
                <a:spcPts val="0"/>
              </a:spcAft>
              <a:buNone/>
            </a:pPr>
            <a:r>
              <a:rPr b="0" i="0" lang="en-US" spc="-12" sz="2476" u="none" cap="none" strike="noStrike">
                <a:solidFill>
                  <a:srgbClr val="0F1B2B"/>
                </a:solidFill>
                <a:latin typeface="Inter"/>
                <a:ea typeface="Inter"/>
                <a:cs typeface="Inter"/>
                <a:sym typeface="Inter"/>
              </a:rPr>
              <a:t>Segmentasi SKU Prioritas</a:t>
            </a:r>
            <a:endParaRPr/>
          </a:p>
        </p:txBody>
      </p:sp>
      <p:sp>
        <p:nvSpPr>
          <p:cNvPr id="640" name="Google Shape;640;p28"/>
          <p:cNvSpPr txBox="1"/>
          <p:nvPr/>
        </p:nvSpPr>
        <p:spPr>
          <a:xfrm>
            <a:off x="6507223" y="3812276"/>
            <a:ext cx="5287251" cy="279254"/>
          </a:xfrm>
          <a:prstGeom prst="rect">
            <a:avLst/>
          </a:prstGeom>
          <a:noFill/>
          <a:ln>
            <a:noFill/>
          </a:ln>
        </p:spPr>
        <p:txBody>
          <a:bodyPr anchorCtr="0" anchor="t" bIns="0" lIns="0" spcFirstLastPara="1" rIns="0" wrap="square" tIns="0">
            <a:spAutoFit/>
          </a:bodyPr>
          <a:lstStyle/>
          <a:p>
            <a:pPr indent="0" lvl="0" marL="0" marR="0" rtl="0" algn="l">
              <a:lnSpc>
                <a:spcPct val="129568"/>
              </a:lnSpc>
              <a:spcBef>
                <a:spcPts val="0"/>
              </a:spcBef>
              <a:spcAft>
                <a:spcPts val="0"/>
              </a:spcAft>
              <a:buNone/>
            </a:pPr>
            <a:r>
              <a:rPr b="0" i="0" lang="en-US" spc="15" sz="1576" u="none" cap="none" strike="noStrike">
                <a:solidFill>
                  <a:srgbClr val="66625A"/>
                </a:solidFill>
                <a:latin typeface="Inter"/>
                <a:ea typeface="Inter"/>
                <a:cs typeface="Inter"/>
                <a:sym typeface="Inter"/>
              </a:rPr>
              <a:t>Pilar 2: Klasifikasi ABC</a:t>
            </a:r>
            <a:endParaRPr/>
          </a:p>
        </p:txBody>
      </p:sp>
      <p:sp>
        <p:nvSpPr>
          <p:cNvPr id="641" name="Google Shape;641;p28"/>
          <p:cNvSpPr txBox="1"/>
          <p:nvPr/>
        </p:nvSpPr>
        <p:spPr>
          <a:xfrm>
            <a:off x="6507223" y="4173255"/>
            <a:ext cx="5287251" cy="1182443"/>
          </a:xfrm>
          <a:prstGeom prst="rect">
            <a:avLst/>
          </a:prstGeom>
          <a:noFill/>
          <a:ln>
            <a:noFill/>
          </a:ln>
        </p:spPr>
        <p:txBody>
          <a:bodyPr anchorCtr="0" anchor="t" bIns="0" lIns="0" spcFirstLastPara="1" rIns="0" wrap="square" tIns="0">
            <a:spAutoFit/>
          </a:bodyPr>
          <a:lstStyle/>
          <a:p>
            <a:pPr indent="0" lvl="0" marL="0" marR="0" rtl="0" algn="l">
              <a:lnSpc>
                <a:spcPct val="138005"/>
              </a:lnSpc>
              <a:spcBef>
                <a:spcPts val="0"/>
              </a:spcBef>
              <a:spcAft>
                <a:spcPts val="0"/>
              </a:spcAft>
              <a:buNone/>
            </a:pPr>
            <a:r>
              <a:rPr b="0" i="0" lang="en-US" sz="2176" u="none" cap="none" strike="noStrike">
                <a:solidFill>
                  <a:srgbClr val="2B3542"/>
                </a:solidFill>
                <a:latin typeface="Inter"/>
                <a:ea typeface="Inter"/>
                <a:cs typeface="Inter"/>
                <a:sym typeface="Inter"/>
              </a:rPr>
              <a:t>Prioritaskan SKU Kelas A dan SKU bermargin tinggi dalam alokasi kuota penyimpanan dan monitoring harian.</a:t>
            </a:r>
            <a:endParaRPr/>
          </a:p>
        </p:txBody>
      </p:sp>
      <p:sp>
        <p:nvSpPr>
          <p:cNvPr id="642" name="Google Shape;642;p28"/>
          <p:cNvSpPr txBox="1"/>
          <p:nvPr/>
        </p:nvSpPr>
        <p:spPr>
          <a:xfrm>
            <a:off x="6507223" y="6526492"/>
            <a:ext cx="5287251" cy="279254"/>
          </a:xfrm>
          <a:prstGeom prst="rect">
            <a:avLst/>
          </a:prstGeom>
          <a:noFill/>
          <a:ln>
            <a:noFill/>
          </a:ln>
        </p:spPr>
        <p:txBody>
          <a:bodyPr anchorCtr="0" anchor="t" bIns="0" lIns="0" spcFirstLastPara="1" rIns="0" wrap="square" tIns="0">
            <a:spAutoFit/>
          </a:bodyPr>
          <a:lstStyle/>
          <a:p>
            <a:pPr indent="0" lvl="0" marL="0" marR="0" rtl="0" algn="l">
              <a:lnSpc>
                <a:spcPct val="129568"/>
              </a:lnSpc>
              <a:spcBef>
                <a:spcPts val="0"/>
              </a:spcBef>
              <a:spcAft>
                <a:spcPts val="0"/>
              </a:spcAft>
              <a:buNone/>
            </a:pPr>
            <a:r>
              <a:rPr b="1" i="0" lang="en-US" spc="15" sz="1576" u="none" cap="none" strike="noStrike">
                <a:solidFill>
                  <a:srgbClr val="66625A"/>
                </a:solidFill>
                <a:latin typeface="Inter"/>
                <a:ea typeface="Inter"/>
                <a:cs typeface="Inter"/>
                <a:sym typeface="Inter"/>
              </a:rPr>
              <a:t>Indikator:</a:t>
            </a:r>
            <a:r>
              <a:rPr b="0" i="0" lang="en-US" spc="15" sz="1576" u="none" cap="none" strike="noStrike">
                <a:solidFill>
                  <a:srgbClr val="66625A"/>
                </a:solidFill>
                <a:latin typeface="Inter"/>
                <a:ea typeface="Inter"/>
                <a:cs typeface="Inter"/>
                <a:sym typeface="Inter"/>
              </a:rPr>
              <a:t> Fokus proteksi margin kotor</a:t>
            </a:r>
            <a:endParaRPr/>
          </a:p>
        </p:txBody>
      </p:sp>
      <p:sp>
        <p:nvSpPr>
          <p:cNvPr id="643" name="Google Shape;643;p28"/>
          <p:cNvSpPr txBox="1"/>
          <p:nvPr/>
        </p:nvSpPr>
        <p:spPr>
          <a:xfrm>
            <a:off x="12252017" y="2762441"/>
            <a:ext cx="1264958" cy="228819"/>
          </a:xfrm>
          <a:prstGeom prst="rect">
            <a:avLst/>
          </a:prstGeom>
          <a:noFill/>
          <a:ln>
            <a:noFill/>
          </a:ln>
        </p:spPr>
        <p:txBody>
          <a:bodyPr anchorCtr="0" anchor="t" bIns="0" lIns="0" spcFirstLastPara="1" rIns="0" wrap="square" tIns="0">
            <a:spAutoFit/>
          </a:bodyPr>
          <a:lstStyle/>
          <a:p>
            <a:pPr indent="0" lvl="0" marL="0" marR="0" rtl="0" algn="l">
              <a:lnSpc>
                <a:spcPct val="99586"/>
              </a:lnSpc>
              <a:spcBef>
                <a:spcPts val="0"/>
              </a:spcBef>
              <a:spcAft>
                <a:spcPts val="0"/>
              </a:spcAft>
              <a:buNone/>
            </a:pPr>
            <a:r>
              <a:rPr b="0" i="0" lang="en-US" sz="2176" u="none" cap="none" strike="noStrike">
                <a:solidFill>
                  <a:srgbClr val="0F1B2B"/>
                </a:solidFill>
                <a:latin typeface="Inter"/>
                <a:ea typeface="Inter"/>
                <a:cs typeface="Inter"/>
                <a:sym typeface="Inter"/>
              </a:rPr>
              <a:t>03</a:t>
            </a:r>
            <a:endParaRPr/>
          </a:p>
        </p:txBody>
      </p:sp>
      <p:sp>
        <p:nvSpPr>
          <p:cNvPr id="644" name="Google Shape;644;p28"/>
          <p:cNvSpPr/>
          <p:nvPr/>
        </p:nvSpPr>
        <p:spPr>
          <a:xfrm>
            <a:off x="12252017" y="3101921"/>
            <a:ext cx="5287137" cy="28575"/>
          </a:xfrm>
          <a:custGeom>
            <a:rect b="b" l="l" r="r" t="t"/>
            <a:pathLst>
              <a:path extrusionOk="0" h="38100" w="7049516">
                <a:moveTo>
                  <a:pt x="0" y="0"/>
                </a:moveTo>
                <a:lnTo>
                  <a:pt x="7049516" y="0"/>
                </a:lnTo>
                <a:lnTo>
                  <a:pt x="7049516" y="38100"/>
                </a:lnTo>
                <a:lnTo>
                  <a:pt x="0" y="38100"/>
                </a:lnTo>
                <a:close/>
              </a:path>
            </a:pathLst>
          </a:custGeom>
          <a:solidFill>
            <a:srgbClr val="14253D"/>
          </a:solidFill>
          <a:ln>
            <a:noFill/>
          </a:ln>
        </p:spPr>
      </p:sp>
      <p:sp>
        <p:nvSpPr>
          <p:cNvPr id="645" name="Google Shape;645;p28"/>
          <p:cNvSpPr txBox="1"/>
          <p:nvPr/>
        </p:nvSpPr>
        <p:spPr>
          <a:xfrm>
            <a:off x="12252017" y="3273514"/>
            <a:ext cx="5287251" cy="386953"/>
          </a:xfrm>
          <a:prstGeom prst="rect">
            <a:avLst/>
          </a:prstGeom>
          <a:noFill/>
          <a:ln>
            <a:noFill/>
          </a:ln>
        </p:spPr>
        <p:txBody>
          <a:bodyPr anchorCtr="0" anchor="t" bIns="0" lIns="0" spcFirstLastPara="1" rIns="0" wrap="square" tIns="0">
            <a:spAutoFit/>
          </a:bodyPr>
          <a:lstStyle/>
          <a:p>
            <a:pPr indent="0" lvl="0" marL="0" marR="0" rtl="0" algn="l">
              <a:lnSpc>
                <a:spcPct val="120032"/>
              </a:lnSpc>
              <a:spcBef>
                <a:spcPts val="0"/>
              </a:spcBef>
              <a:spcAft>
                <a:spcPts val="0"/>
              </a:spcAft>
              <a:buNone/>
            </a:pPr>
            <a:r>
              <a:rPr b="0" i="0" lang="en-US" spc="-12" sz="2476" u="none" cap="none" strike="noStrike">
                <a:solidFill>
                  <a:srgbClr val="0F1B2B"/>
                </a:solidFill>
                <a:latin typeface="Inter"/>
                <a:ea typeface="Inter"/>
                <a:cs typeface="Inter"/>
                <a:sym typeface="Inter"/>
              </a:rPr>
              <a:t>Proteksi Produk Kritis</a:t>
            </a:r>
            <a:endParaRPr/>
          </a:p>
        </p:txBody>
      </p:sp>
      <p:sp>
        <p:nvSpPr>
          <p:cNvPr id="646" name="Google Shape;646;p28"/>
          <p:cNvSpPr txBox="1"/>
          <p:nvPr/>
        </p:nvSpPr>
        <p:spPr>
          <a:xfrm>
            <a:off x="12252017" y="3812276"/>
            <a:ext cx="5287251" cy="279254"/>
          </a:xfrm>
          <a:prstGeom prst="rect">
            <a:avLst/>
          </a:prstGeom>
          <a:noFill/>
          <a:ln>
            <a:noFill/>
          </a:ln>
        </p:spPr>
        <p:txBody>
          <a:bodyPr anchorCtr="0" anchor="t" bIns="0" lIns="0" spcFirstLastPara="1" rIns="0" wrap="square" tIns="0">
            <a:spAutoFit/>
          </a:bodyPr>
          <a:lstStyle/>
          <a:p>
            <a:pPr indent="0" lvl="0" marL="0" marR="0" rtl="0" algn="l">
              <a:lnSpc>
                <a:spcPct val="129568"/>
              </a:lnSpc>
              <a:spcBef>
                <a:spcPts val="0"/>
              </a:spcBef>
              <a:spcAft>
                <a:spcPts val="0"/>
              </a:spcAft>
              <a:buNone/>
            </a:pPr>
            <a:r>
              <a:rPr b="0" i="0" lang="en-US" spc="15" sz="1576" u="none" cap="none" strike="noStrike">
                <a:solidFill>
                  <a:srgbClr val="66625A"/>
                </a:solidFill>
                <a:latin typeface="Inter"/>
                <a:ea typeface="Inter"/>
                <a:cs typeface="Inter"/>
                <a:sym typeface="Inter"/>
              </a:rPr>
              <a:t>Pilar 3: Mitigasi Lost Sales</a:t>
            </a:r>
            <a:endParaRPr/>
          </a:p>
        </p:txBody>
      </p:sp>
      <p:sp>
        <p:nvSpPr>
          <p:cNvPr id="647" name="Google Shape;647;p28"/>
          <p:cNvSpPr txBox="1"/>
          <p:nvPr/>
        </p:nvSpPr>
        <p:spPr>
          <a:xfrm>
            <a:off x="12252017" y="4173255"/>
            <a:ext cx="5287251" cy="1182443"/>
          </a:xfrm>
          <a:prstGeom prst="rect">
            <a:avLst/>
          </a:prstGeom>
          <a:noFill/>
          <a:ln>
            <a:noFill/>
          </a:ln>
        </p:spPr>
        <p:txBody>
          <a:bodyPr anchorCtr="0" anchor="t" bIns="0" lIns="0" spcFirstLastPara="1" rIns="0" wrap="square" tIns="0">
            <a:spAutoFit/>
          </a:bodyPr>
          <a:lstStyle/>
          <a:p>
            <a:pPr indent="0" lvl="0" marL="0" marR="0" rtl="0" algn="l">
              <a:lnSpc>
                <a:spcPct val="138005"/>
              </a:lnSpc>
              <a:spcBef>
                <a:spcPts val="0"/>
              </a:spcBef>
              <a:spcAft>
                <a:spcPts val="0"/>
              </a:spcAft>
              <a:buNone/>
            </a:pPr>
            <a:r>
              <a:rPr b="0" i="0" lang="en-US" sz="2176" u="none" cap="none" strike="noStrike">
                <a:solidFill>
                  <a:srgbClr val="2B3542"/>
                </a:solidFill>
                <a:latin typeface="Inter"/>
                <a:ea typeface="Inter"/>
                <a:cs typeface="Inter"/>
                <a:sym typeface="Inter"/>
              </a:rPr>
              <a:t>Naikkan kuota safety stock BrandC Chips untuk memitigasi lost sales $4,9M yang berulang di pasar utama.</a:t>
            </a:r>
            <a:endParaRPr/>
          </a:p>
        </p:txBody>
      </p:sp>
      <p:sp>
        <p:nvSpPr>
          <p:cNvPr id="648" name="Google Shape;648;p28"/>
          <p:cNvSpPr txBox="1"/>
          <p:nvPr/>
        </p:nvSpPr>
        <p:spPr>
          <a:xfrm>
            <a:off x="12252017" y="6526492"/>
            <a:ext cx="5287251" cy="279254"/>
          </a:xfrm>
          <a:prstGeom prst="rect">
            <a:avLst/>
          </a:prstGeom>
          <a:noFill/>
          <a:ln>
            <a:noFill/>
          </a:ln>
        </p:spPr>
        <p:txBody>
          <a:bodyPr anchorCtr="0" anchor="t" bIns="0" lIns="0" spcFirstLastPara="1" rIns="0" wrap="square" tIns="0">
            <a:spAutoFit/>
          </a:bodyPr>
          <a:lstStyle/>
          <a:p>
            <a:pPr indent="0" lvl="0" marL="0" marR="0" rtl="0" algn="l">
              <a:lnSpc>
                <a:spcPct val="129568"/>
              </a:lnSpc>
              <a:spcBef>
                <a:spcPts val="0"/>
              </a:spcBef>
              <a:spcAft>
                <a:spcPts val="0"/>
              </a:spcAft>
              <a:buNone/>
            </a:pPr>
            <a:r>
              <a:rPr b="1" i="0" lang="en-US" spc="15" sz="1576" u="none" cap="none" strike="noStrike">
                <a:solidFill>
                  <a:srgbClr val="66625A"/>
                </a:solidFill>
                <a:latin typeface="Inter"/>
                <a:ea typeface="Inter"/>
                <a:cs typeface="Inter"/>
                <a:sym typeface="Inter"/>
              </a:rPr>
              <a:t>Indikator:</a:t>
            </a:r>
            <a:r>
              <a:rPr b="0" i="0" lang="en-US" spc="15" sz="1576" u="none" cap="none" strike="noStrike">
                <a:solidFill>
                  <a:srgbClr val="66625A"/>
                </a:solidFill>
                <a:latin typeface="Inter"/>
                <a:ea typeface="Inter"/>
                <a:cs typeface="Inter"/>
                <a:sym typeface="Inter"/>
              </a:rPr>
              <a:t> Pemulihan ketersediaan rak 99%</a:t>
            </a:r>
            <a:endParaRPr/>
          </a:p>
        </p:txBody>
      </p:sp>
      <p:sp>
        <p:nvSpPr>
          <p:cNvPr id="649" name="Google Shape;649;p28"/>
          <p:cNvSpPr/>
          <p:nvPr/>
        </p:nvSpPr>
        <p:spPr>
          <a:xfrm>
            <a:off x="762581" y="6987578"/>
            <a:ext cx="16776668" cy="1533049"/>
          </a:xfrm>
          <a:custGeom>
            <a:rect b="b" l="l" r="r" t="t"/>
            <a:pathLst>
              <a:path extrusionOk="0" h="2044065" w="22368890">
                <a:moveTo>
                  <a:pt x="0" y="0"/>
                </a:moveTo>
                <a:lnTo>
                  <a:pt x="22368890" y="0"/>
                </a:lnTo>
                <a:lnTo>
                  <a:pt x="22368890" y="2044065"/>
                </a:lnTo>
                <a:lnTo>
                  <a:pt x="0" y="2044065"/>
                </a:lnTo>
                <a:close/>
              </a:path>
            </a:pathLst>
          </a:custGeom>
          <a:solidFill>
            <a:srgbClr val="EDF2F7"/>
          </a:solidFill>
          <a:ln>
            <a:noFill/>
          </a:ln>
        </p:spPr>
      </p:sp>
      <p:sp>
        <p:nvSpPr>
          <p:cNvPr id="650" name="Google Shape;650;p28"/>
          <p:cNvSpPr/>
          <p:nvPr/>
        </p:nvSpPr>
        <p:spPr>
          <a:xfrm>
            <a:off x="762581" y="6987578"/>
            <a:ext cx="16776668" cy="57150"/>
          </a:xfrm>
          <a:custGeom>
            <a:rect b="b" l="l" r="r" t="t"/>
            <a:pathLst>
              <a:path extrusionOk="0" h="76200" w="22368890">
                <a:moveTo>
                  <a:pt x="0" y="0"/>
                </a:moveTo>
                <a:lnTo>
                  <a:pt x="22368890" y="0"/>
                </a:lnTo>
                <a:lnTo>
                  <a:pt x="22368890" y="76200"/>
                </a:lnTo>
                <a:lnTo>
                  <a:pt x="0" y="76200"/>
                </a:lnTo>
                <a:close/>
              </a:path>
            </a:pathLst>
          </a:custGeom>
          <a:solidFill>
            <a:srgbClr val="0CC0DF"/>
          </a:solidFill>
          <a:ln>
            <a:noFill/>
          </a:ln>
        </p:spPr>
      </p:sp>
      <p:sp>
        <p:nvSpPr>
          <p:cNvPr id="651" name="Google Shape;651;p28"/>
          <p:cNvSpPr txBox="1"/>
          <p:nvPr/>
        </p:nvSpPr>
        <p:spPr>
          <a:xfrm>
            <a:off x="1105738" y="7225903"/>
            <a:ext cx="16433530" cy="226838"/>
          </a:xfrm>
          <a:prstGeom prst="rect">
            <a:avLst/>
          </a:prstGeom>
          <a:noFill/>
          <a:ln>
            <a:noFill/>
          </a:ln>
        </p:spPr>
        <p:txBody>
          <a:bodyPr anchorCtr="0" anchor="t" bIns="0" lIns="0" spcFirstLastPara="1" rIns="0" wrap="square" tIns="0">
            <a:spAutoFit/>
          </a:bodyPr>
          <a:lstStyle/>
          <a:p>
            <a:pPr indent="0" lvl="0" marL="0" marR="0" rtl="0" algn="l">
              <a:lnSpc>
                <a:spcPct val="119985"/>
              </a:lnSpc>
              <a:spcBef>
                <a:spcPts val="0"/>
              </a:spcBef>
              <a:spcAft>
                <a:spcPts val="0"/>
              </a:spcAft>
              <a:buNone/>
            </a:pPr>
            <a:r>
              <a:rPr b="0" i="0" lang="en-US" spc="142" sz="1426" u="none" cap="none" strike="noStrike">
                <a:solidFill>
                  <a:srgbClr val="2B3542"/>
                </a:solidFill>
                <a:latin typeface="Inter"/>
                <a:ea typeface="Inter"/>
                <a:cs typeface="Inter"/>
                <a:sym typeface="Inter"/>
              </a:rPr>
              <a:t>HASIL YANG DIHARAPKAN</a:t>
            </a:r>
            <a:endParaRPr/>
          </a:p>
        </p:txBody>
      </p:sp>
      <p:sp>
        <p:nvSpPr>
          <p:cNvPr id="652" name="Google Shape;652;p28"/>
          <p:cNvSpPr txBox="1"/>
          <p:nvPr/>
        </p:nvSpPr>
        <p:spPr>
          <a:xfrm>
            <a:off x="1105738" y="7533742"/>
            <a:ext cx="16090373" cy="800995"/>
          </a:xfrm>
          <a:prstGeom prst="rect">
            <a:avLst/>
          </a:prstGeom>
          <a:noFill/>
          <a:ln>
            <a:noFill/>
          </a:ln>
        </p:spPr>
        <p:txBody>
          <a:bodyPr anchorCtr="0" anchor="t" bIns="0" lIns="0" spcFirstLastPara="1" rIns="0" wrap="square" tIns="0">
            <a:spAutoFit/>
          </a:bodyPr>
          <a:lstStyle/>
          <a:p>
            <a:pPr indent="0" lvl="0" marL="0" marR="0" rtl="0" algn="l">
              <a:lnSpc>
                <a:spcPct val="138005"/>
              </a:lnSpc>
              <a:spcBef>
                <a:spcPts val="0"/>
              </a:spcBef>
              <a:spcAft>
                <a:spcPts val="0"/>
              </a:spcAft>
              <a:buNone/>
            </a:pPr>
            <a:r>
              <a:rPr b="0" i="0" lang="en-US" sz="2176" u="none" cap="none" strike="noStrike">
                <a:solidFill>
                  <a:srgbClr val="2B3542"/>
                </a:solidFill>
                <a:latin typeface="Inter"/>
                <a:ea typeface="Inter"/>
                <a:cs typeface="Inter"/>
                <a:sym typeface="Inter"/>
              </a:rPr>
              <a:t>Peralihan ke parameter dinamis mengurangi kerentanan stockout pada produk inti hingga 40% sekaligus mencegah pemborosan modal kerja di gudang.</a:t>
            </a:r>
            <a:endParaRPr/>
          </a:p>
        </p:txBody>
      </p:sp>
      <p:sp>
        <p:nvSpPr>
          <p:cNvPr id="653" name="Google Shape;653;p28"/>
          <p:cNvSpPr/>
          <p:nvPr/>
        </p:nvSpPr>
        <p:spPr>
          <a:xfrm>
            <a:off x="0" y="9723091"/>
            <a:ext cx="18301811" cy="14287"/>
          </a:xfrm>
          <a:custGeom>
            <a:rect b="b" l="l" r="r" t="t"/>
            <a:pathLst>
              <a:path extrusionOk="0" h="19050" w="24402414">
                <a:moveTo>
                  <a:pt x="0" y="0"/>
                </a:moveTo>
                <a:lnTo>
                  <a:pt x="24402414" y="0"/>
                </a:lnTo>
                <a:lnTo>
                  <a:pt x="24402414" y="19050"/>
                </a:lnTo>
                <a:lnTo>
                  <a:pt x="0" y="19050"/>
                </a:lnTo>
                <a:close/>
              </a:path>
            </a:pathLst>
          </a:custGeom>
          <a:solidFill>
            <a:srgbClr val="2B3542">
              <a:alpha val="3922"/>
            </a:srgbClr>
          </a:solidFill>
          <a:ln>
            <a:noFill/>
          </a:ln>
        </p:spPr>
      </p:sp>
      <p:grpSp>
        <p:nvGrpSpPr>
          <p:cNvPr id="654" name="Google Shape;654;p28"/>
          <p:cNvGrpSpPr/>
          <p:nvPr/>
        </p:nvGrpSpPr>
        <p:grpSpPr>
          <a:xfrm>
            <a:off x="293380" y="9612742"/>
            <a:ext cx="7167785" cy="521294"/>
            <a:chOff x="0" y="-28575"/>
            <a:chExt cx="9557046" cy="695058"/>
          </a:xfrm>
        </p:grpSpPr>
        <p:sp>
          <p:nvSpPr>
            <p:cNvPr id="655" name="Google Shape;655;p28"/>
            <p:cNvSpPr/>
            <p:nvPr/>
          </p:nvSpPr>
          <p:spPr>
            <a:xfrm>
              <a:off x="0" y="0"/>
              <a:ext cx="9557046" cy="666483"/>
            </a:xfrm>
            <a:custGeom>
              <a:rect b="b" l="l" r="r" t="t"/>
              <a:pathLst>
                <a:path extrusionOk="0" h="666483" w="9557046">
                  <a:moveTo>
                    <a:pt x="0" y="0"/>
                  </a:moveTo>
                  <a:lnTo>
                    <a:pt x="9557046" y="0"/>
                  </a:lnTo>
                  <a:lnTo>
                    <a:pt x="9557046" y="666483"/>
                  </a:lnTo>
                  <a:lnTo>
                    <a:pt x="0" y="666483"/>
                  </a:lnTo>
                  <a:close/>
                </a:path>
              </a:pathLst>
            </a:custGeom>
            <a:blipFill rotWithShape="1">
              <a:blip r:embed="rId3">
                <a:alphaModFix amt="0"/>
              </a:blip>
              <a:stretch>
                <a:fillRect b="-181075" l="0" r="17296" t="-181075"/>
              </a:stretch>
            </a:blipFill>
            <a:ln>
              <a:noFill/>
            </a:ln>
          </p:spPr>
        </p:sp>
        <p:sp>
          <p:nvSpPr>
            <p:cNvPr id="656" name="Google Shape;656;p28"/>
            <p:cNvSpPr txBox="1"/>
            <p:nvPr/>
          </p:nvSpPr>
          <p:spPr>
            <a:xfrm>
              <a:off x="0" y="-28575"/>
              <a:ext cx="9557042" cy="695052"/>
            </a:xfrm>
            <a:prstGeom prst="rect">
              <a:avLst/>
            </a:prstGeom>
            <a:noFill/>
            <a:ln>
              <a:noFill/>
            </a:ln>
          </p:spPr>
          <p:txBody>
            <a:bodyPr anchorCtr="0" anchor="ctr" bIns="0" lIns="0" spcFirstLastPara="1" rIns="0" wrap="square" tIns="0">
              <a:noAutofit/>
            </a:bodyPr>
            <a:lstStyle/>
            <a:p>
              <a:pPr indent="0" lvl="0" marL="0" marR="0" rtl="0" algn="l">
                <a:lnSpc>
                  <a:spcPct val="138008"/>
                </a:lnSpc>
                <a:spcBef>
                  <a:spcPts val="0"/>
                </a:spcBef>
                <a:spcAft>
                  <a:spcPts val="0"/>
                </a:spcAft>
                <a:buNone/>
              </a:pPr>
              <a:r>
                <a:rPr b="0" i="0" lang="en-US" spc="142" sz="1426" u="none" cap="none" strike="noStrike">
                  <a:solidFill>
                    <a:srgbClr val="2B3542"/>
                  </a:solidFill>
                  <a:latin typeface="Inter"/>
                  <a:ea typeface="Inter"/>
                  <a:cs typeface="Inter"/>
                  <a:sym typeface="Inter"/>
                </a:rPr>
                <a:t>GLOBAL FMCG SUPPLY CHAIN ANALYTICS — EXECUTIVE REPORT</a:t>
              </a:r>
              <a:endParaRPr/>
            </a:p>
          </p:txBody>
        </p:sp>
      </p:grpSp>
      <p:grpSp>
        <p:nvGrpSpPr>
          <p:cNvPr id="657" name="Google Shape;657;p28"/>
          <p:cNvGrpSpPr/>
          <p:nvPr/>
        </p:nvGrpSpPr>
        <p:grpSpPr>
          <a:xfrm>
            <a:off x="15566755" y="-52044"/>
            <a:ext cx="4516946" cy="1127273"/>
            <a:chOff x="0" y="-241102"/>
            <a:chExt cx="6022595" cy="1503032"/>
          </a:xfrm>
        </p:grpSpPr>
        <p:grpSp>
          <p:nvGrpSpPr>
            <p:cNvPr id="658" name="Google Shape;658;p28"/>
            <p:cNvGrpSpPr/>
            <p:nvPr/>
          </p:nvGrpSpPr>
          <p:grpSpPr>
            <a:xfrm>
              <a:off x="0" y="-241102"/>
              <a:ext cx="6022595" cy="1503032"/>
              <a:chOff x="0" y="-47625"/>
              <a:chExt cx="1189648" cy="296895"/>
            </a:xfrm>
          </p:grpSpPr>
          <p:sp>
            <p:nvSpPr>
              <p:cNvPr id="659" name="Google Shape;659;p28"/>
              <p:cNvSpPr/>
              <p:nvPr/>
            </p:nvSpPr>
            <p:spPr>
              <a:xfrm>
                <a:off x="0" y="0"/>
                <a:ext cx="1189648" cy="249270"/>
              </a:xfrm>
              <a:custGeom>
                <a:rect b="b" l="l" r="r" t="t"/>
                <a:pathLst>
                  <a:path extrusionOk="0" h="249270" w="1189648">
                    <a:moveTo>
                      <a:pt x="87413" y="0"/>
                    </a:moveTo>
                    <a:lnTo>
                      <a:pt x="1102236" y="0"/>
                    </a:lnTo>
                    <a:cubicBezTo>
                      <a:pt x="1125419" y="0"/>
                      <a:pt x="1147653" y="9210"/>
                      <a:pt x="1164046" y="25603"/>
                    </a:cubicBezTo>
                    <a:cubicBezTo>
                      <a:pt x="1180439" y="41996"/>
                      <a:pt x="1189648" y="64229"/>
                      <a:pt x="1189648" y="87413"/>
                    </a:cubicBezTo>
                    <a:lnTo>
                      <a:pt x="1189648" y="161858"/>
                    </a:lnTo>
                    <a:cubicBezTo>
                      <a:pt x="1189648" y="185041"/>
                      <a:pt x="1180439" y="207275"/>
                      <a:pt x="1164046" y="223668"/>
                    </a:cubicBezTo>
                    <a:cubicBezTo>
                      <a:pt x="1147653" y="240061"/>
                      <a:pt x="1125419" y="249270"/>
                      <a:pt x="1102236" y="249270"/>
                    </a:cubicBezTo>
                    <a:lnTo>
                      <a:pt x="87413" y="249270"/>
                    </a:lnTo>
                    <a:cubicBezTo>
                      <a:pt x="64229" y="249270"/>
                      <a:pt x="41996" y="240061"/>
                      <a:pt x="25603" y="223668"/>
                    </a:cubicBezTo>
                    <a:cubicBezTo>
                      <a:pt x="9210" y="207275"/>
                      <a:pt x="0" y="185041"/>
                      <a:pt x="0" y="161858"/>
                    </a:cubicBezTo>
                    <a:lnTo>
                      <a:pt x="0" y="87413"/>
                    </a:lnTo>
                    <a:cubicBezTo>
                      <a:pt x="0" y="64229"/>
                      <a:pt x="9210" y="41996"/>
                      <a:pt x="25603" y="25603"/>
                    </a:cubicBezTo>
                    <a:cubicBezTo>
                      <a:pt x="41996" y="9210"/>
                      <a:pt x="64229" y="0"/>
                      <a:pt x="87413" y="0"/>
                    </a:cubicBezTo>
                    <a:close/>
                  </a:path>
                </a:pathLst>
              </a:custGeom>
              <a:solidFill>
                <a:srgbClr val="FE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0" name="Google Shape;660;p28"/>
              <p:cNvSpPr txBox="1"/>
              <p:nvPr/>
            </p:nvSpPr>
            <p:spPr>
              <a:xfrm>
                <a:off x="0" y="-47625"/>
                <a:ext cx="1189648" cy="296895"/>
              </a:xfrm>
              <a:prstGeom prst="rect">
                <a:avLst/>
              </a:prstGeom>
              <a:noFill/>
              <a:ln>
                <a:noFill/>
              </a:ln>
            </p:spPr>
            <p:txBody>
              <a:bodyPr anchorCtr="0" anchor="ctr" bIns="50800" lIns="50800" spcFirstLastPara="1" rIns="50800" wrap="square" tIns="50800">
                <a:noAutofit/>
              </a:bodyPr>
              <a:lstStyle/>
              <a:p>
                <a:pPr indent="0" lvl="0" marL="0" marR="0" rtl="0" algn="ctr">
                  <a:lnSpc>
                    <a:spcPct val="155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661" name="Google Shape;661;p28"/>
            <p:cNvSpPr/>
            <p:nvPr/>
          </p:nvSpPr>
          <p:spPr>
            <a:xfrm>
              <a:off x="483631" y="226255"/>
              <a:ext cx="2676306" cy="809419"/>
            </a:xfrm>
            <a:custGeom>
              <a:rect b="b" l="l" r="r" t="t"/>
              <a:pathLst>
                <a:path extrusionOk="0" h="809419" w="2676306">
                  <a:moveTo>
                    <a:pt x="0" y="0"/>
                  </a:moveTo>
                  <a:lnTo>
                    <a:pt x="2676305" y="0"/>
                  </a:lnTo>
                  <a:lnTo>
                    <a:pt x="2676305" y="809420"/>
                  </a:lnTo>
                  <a:lnTo>
                    <a:pt x="0" y="809420"/>
                  </a:lnTo>
                  <a:lnTo>
                    <a:pt x="0" y="0"/>
                  </a:lnTo>
                  <a:close/>
                </a:path>
              </a:pathLst>
            </a:custGeom>
            <a:blipFill rotWithShape="1">
              <a:blip r:embed="rId4">
                <a:alphaModFix/>
              </a:blip>
              <a:stretch>
                <a:fillRect b="0" l="0" r="0" t="0"/>
              </a:stretch>
            </a:blipFill>
            <a:ln>
              <a:noFill/>
            </a:ln>
          </p:spPr>
        </p:sp>
      </p:gr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669" name="Shape 669"/>
        <p:cNvGrpSpPr/>
        <p:nvPr/>
      </p:nvGrpSpPr>
      <p:grpSpPr>
        <a:xfrm>
          <a:off x="0" y="0"/>
          <a:ext cx="0" cy="0"/>
          <a:chOff x="0" y="0"/>
          <a:chExt cx="0" cy="0"/>
        </a:xfrm>
      </p:grpSpPr>
      <p:sp>
        <p:nvSpPr>
          <p:cNvPr id="670" name="Google Shape;670;p29"/>
          <p:cNvSpPr txBox="1"/>
          <p:nvPr/>
        </p:nvSpPr>
        <p:spPr>
          <a:xfrm>
            <a:off x="762581" y="753075"/>
            <a:ext cx="17539268" cy="226838"/>
          </a:xfrm>
          <a:prstGeom prst="rect">
            <a:avLst/>
          </a:prstGeom>
          <a:noFill/>
          <a:ln>
            <a:noFill/>
          </a:ln>
        </p:spPr>
        <p:txBody>
          <a:bodyPr anchorCtr="0" anchor="t" bIns="0" lIns="0" spcFirstLastPara="1" rIns="0" wrap="square" tIns="0">
            <a:spAutoFit/>
          </a:bodyPr>
          <a:lstStyle/>
          <a:p>
            <a:pPr indent="0" lvl="0" marL="0" marR="0" rtl="0" algn="l">
              <a:lnSpc>
                <a:spcPct val="119985"/>
              </a:lnSpc>
              <a:spcBef>
                <a:spcPts val="0"/>
              </a:spcBef>
              <a:spcAft>
                <a:spcPts val="0"/>
              </a:spcAft>
              <a:buNone/>
            </a:pPr>
            <a:r>
              <a:rPr b="0" i="0" lang="en-US" spc="199" sz="1426" u="none" cap="none" strike="noStrike">
                <a:solidFill>
                  <a:srgbClr val="1B2638"/>
                </a:solidFill>
                <a:latin typeface="Inter"/>
                <a:ea typeface="Inter"/>
                <a:cs typeface="Inter"/>
                <a:sym typeface="Inter"/>
              </a:rPr>
              <a:t>13 ROADMAP SOLUSI: PROMOSI</a:t>
            </a:r>
            <a:endParaRPr/>
          </a:p>
        </p:txBody>
      </p:sp>
      <p:sp>
        <p:nvSpPr>
          <p:cNvPr id="671" name="Google Shape;671;p29"/>
          <p:cNvSpPr txBox="1"/>
          <p:nvPr/>
        </p:nvSpPr>
        <p:spPr>
          <a:xfrm>
            <a:off x="762581" y="1075230"/>
            <a:ext cx="16776687" cy="1067638"/>
          </a:xfrm>
          <a:prstGeom prst="rect">
            <a:avLst/>
          </a:prstGeom>
          <a:noFill/>
          <a:ln>
            <a:noFill/>
          </a:ln>
        </p:spPr>
        <p:txBody>
          <a:bodyPr anchorCtr="0" anchor="t" bIns="0" lIns="0" spcFirstLastPara="1" rIns="0" wrap="square" tIns="0">
            <a:spAutoFit/>
          </a:bodyPr>
          <a:lstStyle/>
          <a:p>
            <a:pPr indent="0" lvl="0" marL="0" marR="0" rtl="0" algn="l">
              <a:lnSpc>
                <a:spcPct val="111620"/>
              </a:lnSpc>
              <a:spcBef>
                <a:spcPts val="0"/>
              </a:spcBef>
              <a:spcAft>
                <a:spcPts val="0"/>
              </a:spcAft>
              <a:buNone/>
            </a:pPr>
            <a:r>
              <a:rPr b="0" i="0" lang="en-US" spc="-18" sz="3752" u="none" cap="none" strike="noStrike">
                <a:solidFill>
                  <a:srgbClr val="0F1B2B"/>
                </a:solidFill>
                <a:latin typeface="Arimo"/>
                <a:ea typeface="Arimo"/>
                <a:cs typeface="Arimo"/>
                <a:sym typeface="Arimo"/>
              </a:rPr>
              <a:t>Promosi selektif melindungi margin tanpa kehilangan uplift yang produktif</a:t>
            </a:r>
            <a:endParaRPr/>
          </a:p>
        </p:txBody>
      </p:sp>
      <p:sp>
        <p:nvSpPr>
          <p:cNvPr id="672" name="Google Shape;672;p29"/>
          <p:cNvSpPr/>
          <p:nvPr/>
        </p:nvSpPr>
        <p:spPr>
          <a:xfrm>
            <a:off x="762581" y="2421693"/>
            <a:ext cx="16776573" cy="28575"/>
          </a:xfrm>
          <a:custGeom>
            <a:rect b="b" l="l" r="r" t="t"/>
            <a:pathLst>
              <a:path extrusionOk="0" h="38100" w="22368763">
                <a:moveTo>
                  <a:pt x="0" y="19050"/>
                </a:moveTo>
                <a:cubicBezTo>
                  <a:pt x="0" y="8509"/>
                  <a:pt x="8509" y="0"/>
                  <a:pt x="19050" y="0"/>
                </a:cubicBezTo>
                <a:lnTo>
                  <a:pt x="22349713" y="0"/>
                </a:lnTo>
                <a:cubicBezTo>
                  <a:pt x="22360254" y="0"/>
                  <a:pt x="22368763" y="8509"/>
                  <a:pt x="22368763" y="19050"/>
                </a:cubicBezTo>
                <a:cubicBezTo>
                  <a:pt x="22368763" y="29591"/>
                  <a:pt x="22360254" y="38100"/>
                  <a:pt x="22349713" y="38100"/>
                </a:cubicBezTo>
                <a:lnTo>
                  <a:pt x="19050" y="38100"/>
                </a:lnTo>
                <a:cubicBezTo>
                  <a:pt x="8509" y="38100"/>
                  <a:pt x="0" y="29591"/>
                  <a:pt x="0" y="19050"/>
                </a:cubicBezTo>
                <a:close/>
              </a:path>
            </a:pathLst>
          </a:custGeom>
          <a:solidFill>
            <a:srgbClr val="CEC6B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3" name="Google Shape;673;p29"/>
          <p:cNvSpPr txBox="1"/>
          <p:nvPr/>
        </p:nvSpPr>
        <p:spPr>
          <a:xfrm>
            <a:off x="762581" y="2762441"/>
            <a:ext cx="1264958" cy="228819"/>
          </a:xfrm>
          <a:prstGeom prst="rect">
            <a:avLst/>
          </a:prstGeom>
          <a:noFill/>
          <a:ln>
            <a:noFill/>
          </a:ln>
        </p:spPr>
        <p:txBody>
          <a:bodyPr anchorCtr="0" anchor="t" bIns="0" lIns="0" spcFirstLastPara="1" rIns="0" wrap="square" tIns="0">
            <a:spAutoFit/>
          </a:bodyPr>
          <a:lstStyle/>
          <a:p>
            <a:pPr indent="0" lvl="0" marL="0" marR="0" rtl="0" algn="l">
              <a:lnSpc>
                <a:spcPct val="99586"/>
              </a:lnSpc>
              <a:spcBef>
                <a:spcPts val="0"/>
              </a:spcBef>
              <a:spcAft>
                <a:spcPts val="0"/>
              </a:spcAft>
              <a:buNone/>
            </a:pPr>
            <a:r>
              <a:rPr b="0" i="0" lang="en-US" sz="2176" u="none" cap="none" strike="noStrike">
                <a:solidFill>
                  <a:srgbClr val="0F1B2B"/>
                </a:solidFill>
                <a:latin typeface="Inter"/>
                <a:ea typeface="Inter"/>
                <a:cs typeface="Inter"/>
                <a:sym typeface="Inter"/>
              </a:rPr>
              <a:t>01</a:t>
            </a:r>
            <a:endParaRPr/>
          </a:p>
        </p:txBody>
      </p:sp>
      <p:sp>
        <p:nvSpPr>
          <p:cNvPr id="674" name="Google Shape;674;p29"/>
          <p:cNvSpPr/>
          <p:nvPr/>
        </p:nvSpPr>
        <p:spPr>
          <a:xfrm>
            <a:off x="762581" y="3101921"/>
            <a:ext cx="5287137" cy="28575"/>
          </a:xfrm>
          <a:custGeom>
            <a:rect b="b" l="l" r="r" t="t"/>
            <a:pathLst>
              <a:path extrusionOk="0" h="38100" w="7049516">
                <a:moveTo>
                  <a:pt x="0" y="0"/>
                </a:moveTo>
                <a:lnTo>
                  <a:pt x="7049516" y="0"/>
                </a:lnTo>
                <a:lnTo>
                  <a:pt x="7049516" y="38100"/>
                </a:lnTo>
                <a:lnTo>
                  <a:pt x="0" y="38100"/>
                </a:lnTo>
                <a:close/>
              </a:path>
            </a:pathLst>
          </a:custGeom>
          <a:solidFill>
            <a:srgbClr val="14253D"/>
          </a:solidFill>
          <a:ln>
            <a:noFill/>
          </a:ln>
        </p:spPr>
      </p:sp>
      <p:sp>
        <p:nvSpPr>
          <p:cNvPr id="675" name="Google Shape;675;p29"/>
          <p:cNvSpPr txBox="1"/>
          <p:nvPr/>
        </p:nvSpPr>
        <p:spPr>
          <a:xfrm>
            <a:off x="762581" y="3273514"/>
            <a:ext cx="5287099" cy="386953"/>
          </a:xfrm>
          <a:prstGeom prst="rect">
            <a:avLst/>
          </a:prstGeom>
          <a:noFill/>
          <a:ln>
            <a:noFill/>
          </a:ln>
        </p:spPr>
        <p:txBody>
          <a:bodyPr anchorCtr="0" anchor="t" bIns="0" lIns="0" spcFirstLastPara="1" rIns="0" wrap="square" tIns="0">
            <a:spAutoFit/>
          </a:bodyPr>
          <a:lstStyle/>
          <a:p>
            <a:pPr indent="0" lvl="0" marL="0" marR="0" rtl="0" algn="l">
              <a:lnSpc>
                <a:spcPct val="120032"/>
              </a:lnSpc>
              <a:spcBef>
                <a:spcPts val="0"/>
              </a:spcBef>
              <a:spcAft>
                <a:spcPts val="0"/>
              </a:spcAft>
              <a:buNone/>
            </a:pPr>
            <a:r>
              <a:rPr b="0" i="0" lang="en-US" spc="-12" sz="2476" u="none" cap="none" strike="noStrike">
                <a:solidFill>
                  <a:srgbClr val="0F1B2B"/>
                </a:solidFill>
                <a:latin typeface="Inter"/>
                <a:ea typeface="Inter"/>
                <a:cs typeface="Inter"/>
                <a:sym typeface="Inter"/>
              </a:rPr>
              <a:t>Eliminasi Diskon Flat</a:t>
            </a:r>
            <a:endParaRPr/>
          </a:p>
        </p:txBody>
      </p:sp>
      <p:sp>
        <p:nvSpPr>
          <p:cNvPr id="676" name="Google Shape;676;p29"/>
          <p:cNvSpPr txBox="1"/>
          <p:nvPr/>
        </p:nvSpPr>
        <p:spPr>
          <a:xfrm>
            <a:off x="762581" y="3812276"/>
            <a:ext cx="5287099" cy="279254"/>
          </a:xfrm>
          <a:prstGeom prst="rect">
            <a:avLst/>
          </a:prstGeom>
          <a:noFill/>
          <a:ln>
            <a:noFill/>
          </a:ln>
        </p:spPr>
        <p:txBody>
          <a:bodyPr anchorCtr="0" anchor="t" bIns="0" lIns="0" spcFirstLastPara="1" rIns="0" wrap="square" tIns="0">
            <a:spAutoFit/>
          </a:bodyPr>
          <a:lstStyle/>
          <a:p>
            <a:pPr indent="0" lvl="0" marL="0" marR="0" rtl="0" algn="l">
              <a:lnSpc>
                <a:spcPct val="129568"/>
              </a:lnSpc>
              <a:spcBef>
                <a:spcPts val="0"/>
              </a:spcBef>
              <a:spcAft>
                <a:spcPts val="0"/>
              </a:spcAft>
              <a:buNone/>
            </a:pPr>
            <a:r>
              <a:rPr b="0" i="0" lang="en-US" spc="15" sz="1576" u="none" cap="none" strike="noStrike">
                <a:solidFill>
                  <a:srgbClr val="66625A"/>
                </a:solidFill>
                <a:latin typeface="Inter"/>
                <a:ea typeface="Inter"/>
                <a:cs typeface="Inter"/>
                <a:sym typeface="Inter"/>
              </a:rPr>
              <a:t>Fase 1: Penghentian Kebocoran</a:t>
            </a:r>
            <a:endParaRPr/>
          </a:p>
        </p:txBody>
      </p:sp>
      <p:sp>
        <p:nvSpPr>
          <p:cNvPr id="677" name="Google Shape;677;p29"/>
          <p:cNvSpPr txBox="1"/>
          <p:nvPr/>
        </p:nvSpPr>
        <p:spPr>
          <a:xfrm>
            <a:off x="762581" y="4173255"/>
            <a:ext cx="5287099" cy="1182443"/>
          </a:xfrm>
          <a:prstGeom prst="rect">
            <a:avLst/>
          </a:prstGeom>
          <a:noFill/>
          <a:ln>
            <a:noFill/>
          </a:ln>
        </p:spPr>
        <p:txBody>
          <a:bodyPr anchorCtr="0" anchor="t" bIns="0" lIns="0" spcFirstLastPara="1" rIns="0" wrap="square" tIns="0">
            <a:spAutoFit/>
          </a:bodyPr>
          <a:lstStyle/>
          <a:p>
            <a:pPr indent="0" lvl="0" marL="0" marR="0" rtl="0" algn="l">
              <a:lnSpc>
                <a:spcPct val="138005"/>
              </a:lnSpc>
              <a:spcBef>
                <a:spcPts val="0"/>
              </a:spcBef>
              <a:spcAft>
                <a:spcPts val="0"/>
              </a:spcAft>
              <a:buNone/>
            </a:pPr>
            <a:r>
              <a:rPr b="0" i="0" lang="en-US" sz="2176" u="none" cap="none" strike="noStrike">
                <a:solidFill>
                  <a:srgbClr val="2B3542"/>
                </a:solidFill>
                <a:latin typeface="Inter"/>
                <a:ea typeface="Inter"/>
                <a:cs typeface="Inter"/>
                <a:sym typeface="Inter"/>
              </a:rPr>
              <a:t>Hentikan diskon flat pada produk inelastis di Snacks dan Dairy yang terbukti memicu erosi margin tanpa pertambahan volume.</a:t>
            </a:r>
            <a:endParaRPr/>
          </a:p>
        </p:txBody>
      </p:sp>
      <p:sp>
        <p:nvSpPr>
          <p:cNvPr id="678" name="Google Shape;678;p29"/>
          <p:cNvSpPr txBox="1"/>
          <p:nvPr/>
        </p:nvSpPr>
        <p:spPr>
          <a:xfrm>
            <a:off x="762581" y="6526492"/>
            <a:ext cx="5287099" cy="279254"/>
          </a:xfrm>
          <a:prstGeom prst="rect">
            <a:avLst/>
          </a:prstGeom>
          <a:noFill/>
          <a:ln>
            <a:noFill/>
          </a:ln>
        </p:spPr>
        <p:txBody>
          <a:bodyPr anchorCtr="0" anchor="t" bIns="0" lIns="0" spcFirstLastPara="1" rIns="0" wrap="square" tIns="0">
            <a:spAutoFit/>
          </a:bodyPr>
          <a:lstStyle/>
          <a:p>
            <a:pPr indent="0" lvl="0" marL="0" marR="0" rtl="0" algn="l">
              <a:lnSpc>
                <a:spcPct val="129568"/>
              </a:lnSpc>
              <a:spcBef>
                <a:spcPts val="0"/>
              </a:spcBef>
              <a:spcAft>
                <a:spcPts val="0"/>
              </a:spcAft>
              <a:buNone/>
            </a:pPr>
            <a:r>
              <a:rPr b="1" i="0" lang="en-US" spc="15" sz="1576" u="none" cap="none" strike="noStrike">
                <a:solidFill>
                  <a:srgbClr val="66625A"/>
                </a:solidFill>
                <a:latin typeface="Inter"/>
                <a:ea typeface="Inter"/>
                <a:cs typeface="Inter"/>
                <a:sym typeface="Inter"/>
              </a:rPr>
              <a:t>Tindakan:</a:t>
            </a:r>
            <a:r>
              <a:rPr b="0" i="0" lang="en-US" spc="15" sz="1576" u="none" cap="none" strike="noStrike">
                <a:solidFill>
                  <a:srgbClr val="66625A"/>
                </a:solidFill>
                <a:latin typeface="Inter"/>
                <a:ea typeface="Inter"/>
                <a:cs typeface="Inter"/>
                <a:sym typeface="Inter"/>
              </a:rPr>
              <a:t> Lindungi laba bersih €3,81M</a:t>
            </a:r>
            <a:endParaRPr/>
          </a:p>
        </p:txBody>
      </p:sp>
      <p:sp>
        <p:nvSpPr>
          <p:cNvPr id="679" name="Google Shape;679;p29"/>
          <p:cNvSpPr txBox="1"/>
          <p:nvPr/>
        </p:nvSpPr>
        <p:spPr>
          <a:xfrm>
            <a:off x="6507223" y="2762441"/>
            <a:ext cx="1264958" cy="228819"/>
          </a:xfrm>
          <a:prstGeom prst="rect">
            <a:avLst/>
          </a:prstGeom>
          <a:noFill/>
          <a:ln>
            <a:noFill/>
          </a:ln>
        </p:spPr>
        <p:txBody>
          <a:bodyPr anchorCtr="0" anchor="t" bIns="0" lIns="0" spcFirstLastPara="1" rIns="0" wrap="square" tIns="0">
            <a:spAutoFit/>
          </a:bodyPr>
          <a:lstStyle/>
          <a:p>
            <a:pPr indent="0" lvl="0" marL="0" marR="0" rtl="0" algn="l">
              <a:lnSpc>
                <a:spcPct val="99586"/>
              </a:lnSpc>
              <a:spcBef>
                <a:spcPts val="0"/>
              </a:spcBef>
              <a:spcAft>
                <a:spcPts val="0"/>
              </a:spcAft>
              <a:buNone/>
            </a:pPr>
            <a:r>
              <a:rPr b="0" i="0" lang="en-US" sz="2176" u="none" cap="none" strike="noStrike">
                <a:solidFill>
                  <a:srgbClr val="0F1B2B"/>
                </a:solidFill>
                <a:latin typeface="Inter"/>
                <a:ea typeface="Inter"/>
                <a:cs typeface="Inter"/>
                <a:sym typeface="Inter"/>
              </a:rPr>
              <a:t>02</a:t>
            </a:r>
            <a:endParaRPr/>
          </a:p>
        </p:txBody>
      </p:sp>
      <p:sp>
        <p:nvSpPr>
          <p:cNvPr id="680" name="Google Shape;680;p29"/>
          <p:cNvSpPr/>
          <p:nvPr/>
        </p:nvSpPr>
        <p:spPr>
          <a:xfrm>
            <a:off x="6507223" y="3101921"/>
            <a:ext cx="5287137" cy="28575"/>
          </a:xfrm>
          <a:custGeom>
            <a:rect b="b" l="l" r="r" t="t"/>
            <a:pathLst>
              <a:path extrusionOk="0" h="38100" w="7049516">
                <a:moveTo>
                  <a:pt x="0" y="0"/>
                </a:moveTo>
                <a:lnTo>
                  <a:pt x="7049516" y="0"/>
                </a:lnTo>
                <a:lnTo>
                  <a:pt x="7049516" y="38100"/>
                </a:lnTo>
                <a:lnTo>
                  <a:pt x="0" y="38100"/>
                </a:lnTo>
                <a:close/>
              </a:path>
            </a:pathLst>
          </a:custGeom>
          <a:solidFill>
            <a:srgbClr val="14253D"/>
          </a:solidFill>
          <a:ln>
            <a:noFill/>
          </a:ln>
        </p:spPr>
      </p:sp>
      <p:sp>
        <p:nvSpPr>
          <p:cNvPr id="681" name="Google Shape;681;p29"/>
          <p:cNvSpPr txBox="1"/>
          <p:nvPr/>
        </p:nvSpPr>
        <p:spPr>
          <a:xfrm>
            <a:off x="6507223" y="3273514"/>
            <a:ext cx="5287251" cy="386953"/>
          </a:xfrm>
          <a:prstGeom prst="rect">
            <a:avLst/>
          </a:prstGeom>
          <a:noFill/>
          <a:ln>
            <a:noFill/>
          </a:ln>
        </p:spPr>
        <p:txBody>
          <a:bodyPr anchorCtr="0" anchor="t" bIns="0" lIns="0" spcFirstLastPara="1" rIns="0" wrap="square" tIns="0">
            <a:spAutoFit/>
          </a:bodyPr>
          <a:lstStyle/>
          <a:p>
            <a:pPr indent="0" lvl="0" marL="0" marR="0" rtl="0" algn="l">
              <a:lnSpc>
                <a:spcPct val="120032"/>
              </a:lnSpc>
              <a:spcBef>
                <a:spcPts val="0"/>
              </a:spcBef>
              <a:spcAft>
                <a:spcPts val="0"/>
              </a:spcAft>
              <a:buNone/>
            </a:pPr>
            <a:r>
              <a:rPr b="0" i="0" lang="en-US" spc="-12" sz="2476" u="none" cap="none" strike="noStrike">
                <a:solidFill>
                  <a:srgbClr val="0F1B2B"/>
                </a:solidFill>
                <a:latin typeface="Inter"/>
                <a:ea typeface="Inter"/>
                <a:cs typeface="Inter"/>
                <a:sym typeface="Inter"/>
              </a:rPr>
              <a:t>Realokasi Anggaran</a:t>
            </a:r>
            <a:endParaRPr/>
          </a:p>
        </p:txBody>
      </p:sp>
      <p:sp>
        <p:nvSpPr>
          <p:cNvPr id="682" name="Google Shape;682;p29"/>
          <p:cNvSpPr txBox="1"/>
          <p:nvPr/>
        </p:nvSpPr>
        <p:spPr>
          <a:xfrm>
            <a:off x="6507223" y="3812276"/>
            <a:ext cx="5287251" cy="279254"/>
          </a:xfrm>
          <a:prstGeom prst="rect">
            <a:avLst/>
          </a:prstGeom>
          <a:noFill/>
          <a:ln>
            <a:noFill/>
          </a:ln>
        </p:spPr>
        <p:txBody>
          <a:bodyPr anchorCtr="0" anchor="t" bIns="0" lIns="0" spcFirstLastPara="1" rIns="0" wrap="square" tIns="0">
            <a:spAutoFit/>
          </a:bodyPr>
          <a:lstStyle/>
          <a:p>
            <a:pPr indent="0" lvl="0" marL="0" marR="0" rtl="0" algn="l">
              <a:lnSpc>
                <a:spcPct val="129568"/>
              </a:lnSpc>
              <a:spcBef>
                <a:spcPts val="0"/>
              </a:spcBef>
              <a:spcAft>
                <a:spcPts val="0"/>
              </a:spcAft>
              <a:buNone/>
            </a:pPr>
            <a:r>
              <a:rPr b="0" i="0" lang="en-US" spc="15" sz="1576" u="none" cap="none" strike="noStrike">
                <a:solidFill>
                  <a:srgbClr val="66625A"/>
                </a:solidFill>
                <a:latin typeface="Inter"/>
                <a:ea typeface="Inter"/>
                <a:cs typeface="Inter"/>
                <a:sym typeface="Inter"/>
              </a:rPr>
              <a:t>Fase 2: Insentif Bernilai Tambah</a:t>
            </a:r>
            <a:endParaRPr/>
          </a:p>
        </p:txBody>
      </p:sp>
      <p:sp>
        <p:nvSpPr>
          <p:cNvPr id="683" name="Google Shape;683;p29"/>
          <p:cNvSpPr txBox="1"/>
          <p:nvPr/>
        </p:nvSpPr>
        <p:spPr>
          <a:xfrm>
            <a:off x="6507223" y="4173255"/>
            <a:ext cx="5287251" cy="1182443"/>
          </a:xfrm>
          <a:prstGeom prst="rect">
            <a:avLst/>
          </a:prstGeom>
          <a:noFill/>
          <a:ln>
            <a:noFill/>
          </a:ln>
        </p:spPr>
        <p:txBody>
          <a:bodyPr anchorCtr="0" anchor="t" bIns="0" lIns="0" spcFirstLastPara="1" rIns="0" wrap="square" tIns="0">
            <a:spAutoFit/>
          </a:bodyPr>
          <a:lstStyle/>
          <a:p>
            <a:pPr indent="0" lvl="0" marL="0" marR="0" rtl="0" algn="l">
              <a:lnSpc>
                <a:spcPct val="138005"/>
              </a:lnSpc>
              <a:spcBef>
                <a:spcPts val="0"/>
              </a:spcBef>
              <a:spcAft>
                <a:spcPts val="0"/>
              </a:spcAft>
              <a:buNone/>
            </a:pPr>
            <a:r>
              <a:rPr b="0" i="0" lang="en-US" sz="2176" u="none" cap="none" strike="noStrike">
                <a:solidFill>
                  <a:srgbClr val="2B3542"/>
                </a:solidFill>
                <a:latin typeface="Inter"/>
                <a:ea typeface="Inter"/>
                <a:cs typeface="Inter"/>
                <a:sym typeface="Inter"/>
              </a:rPr>
              <a:t>Alihkan anggaran ke bundling dan loyalty program yang mengikat volume pembelian tanpa mendegradasi persepsi harga reguler.</a:t>
            </a:r>
            <a:endParaRPr/>
          </a:p>
        </p:txBody>
      </p:sp>
      <p:sp>
        <p:nvSpPr>
          <p:cNvPr id="684" name="Google Shape;684;p29"/>
          <p:cNvSpPr txBox="1"/>
          <p:nvPr/>
        </p:nvSpPr>
        <p:spPr>
          <a:xfrm>
            <a:off x="6507223" y="6526492"/>
            <a:ext cx="5287251" cy="279254"/>
          </a:xfrm>
          <a:prstGeom prst="rect">
            <a:avLst/>
          </a:prstGeom>
          <a:noFill/>
          <a:ln>
            <a:noFill/>
          </a:ln>
        </p:spPr>
        <p:txBody>
          <a:bodyPr anchorCtr="0" anchor="t" bIns="0" lIns="0" spcFirstLastPara="1" rIns="0" wrap="square" tIns="0">
            <a:spAutoFit/>
          </a:bodyPr>
          <a:lstStyle/>
          <a:p>
            <a:pPr indent="0" lvl="0" marL="0" marR="0" rtl="0" algn="l">
              <a:lnSpc>
                <a:spcPct val="129568"/>
              </a:lnSpc>
              <a:spcBef>
                <a:spcPts val="0"/>
              </a:spcBef>
              <a:spcAft>
                <a:spcPts val="0"/>
              </a:spcAft>
              <a:buNone/>
            </a:pPr>
            <a:r>
              <a:rPr b="1" i="0" lang="en-US" spc="15" sz="1576" u="none" cap="none" strike="noStrike">
                <a:solidFill>
                  <a:srgbClr val="66625A"/>
                </a:solidFill>
                <a:latin typeface="Inter"/>
                <a:ea typeface="Inter"/>
                <a:cs typeface="Inter"/>
                <a:sym typeface="Inter"/>
              </a:rPr>
              <a:t>Tindakan:</a:t>
            </a:r>
            <a:r>
              <a:rPr b="0" i="0" lang="en-US" spc="15" sz="1576" u="none" cap="none" strike="noStrike">
                <a:solidFill>
                  <a:srgbClr val="66625A"/>
                </a:solidFill>
                <a:latin typeface="Inter"/>
                <a:ea typeface="Inter"/>
                <a:cs typeface="Inter"/>
                <a:sym typeface="Inter"/>
              </a:rPr>
              <a:t> Bundling produk fast &amp; slow moving</a:t>
            </a:r>
            <a:endParaRPr/>
          </a:p>
        </p:txBody>
      </p:sp>
      <p:sp>
        <p:nvSpPr>
          <p:cNvPr id="685" name="Google Shape;685;p29"/>
          <p:cNvSpPr txBox="1"/>
          <p:nvPr/>
        </p:nvSpPr>
        <p:spPr>
          <a:xfrm>
            <a:off x="12252017" y="2762441"/>
            <a:ext cx="1264958" cy="228819"/>
          </a:xfrm>
          <a:prstGeom prst="rect">
            <a:avLst/>
          </a:prstGeom>
          <a:noFill/>
          <a:ln>
            <a:noFill/>
          </a:ln>
        </p:spPr>
        <p:txBody>
          <a:bodyPr anchorCtr="0" anchor="t" bIns="0" lIns="0" spcFirstLastPara="1" rIns="0" wrap="square" tIns="0">
            <a:spAutoFit/>
          </a:bodyPr>
          <a:lstStyle/>
          <a:p>
            <a:pPr indent="0" lvl="0" marL="0" marR="0" rtl="0" algn="l">
              <a:lnSpc>
                <a:spcPct val="99586"/>
              </a:lnSpc>
              <a:spcBef>
                <a:spcPts val="0"/>
              </a:spcBef>
              <a:spcAft>
                <a:spcPts val="0"/>
              </a:spcAft>
              <a:buNone/>
            </a:pPr>
            <a:r>
              <a:rPr b="0" i="0" lang="en-US" sz="2176" u="none" cap="none" strike="noStrike">
                <a:solidFill>
                  <a:srgbClr val="0F1B2B"/>
                </a:solidFill>
                <a:latin typeface="Inter"/>
                <a:ea typeface="Inter"/>
                <a:cs typeface="Inter"/>
                <a:sym typeface="Inter"/>
              </a:rPr>
              <a:t>03</a:t>
            </a:r>
            <a:endParaRPr/>
          </a:p>
        </p:txBody>
      </p:sp>
      <p:sp>
        <p:nvSpPr>
          <p:cNvPr id="686" name="Google Shape;686;p29"/>
          <p:cNvSpPr/>
          <p:nvPr/>
        </p:nvSpPr>
        <p:spPr>
          <a:xfrm>
            <a:off x="12252017" y="3101921"/>
            <a:ext cx="5287137" cy="28575"/>
          </a:xfrm>
          <a:custGeom>
            <a:rect b="b" l="l" r="r" t="t"/>
            <a:pathLst>
              <a:path extrusionOk="0" h="38100" w="7049516">
                <a:moveTo>
                  <a:pt x="0" y="0"/>
                </a:moveTo>
                <a:lnTo>
                  <a:pt x="7049516" y="0"/>
                </a:lnTo>
                <a:lnTo>
                  <a:pt x="7049516" y="38100"/>
                </a:lnTo>
                <a:lnTo>
                  <a:pt x="0" y="38100"/>
                </a:lnTo>
                <a:close/>
              </a:path>
            </a:pathLst>
          </a:custGeom>
          <a:solidFill>
            <a:srgbClr val="14253D"/>
          </a:solidFill>
          <a:ln>
            <a:noFill/>
          </a:ln>
        </p:spPr>
      </p:sp>
      <p:sp>
        <p:nvSpPr>
          <p:cNvPr id="687" name="Google Shape;687;p29"/>
          <p:cNvSpPr txBox="1"/>
          <p:nvPr/>
        </p:nvSpPr>
        <p:spPr>
          <a:xfrm>
            <a:off x="12252017" y="3273514"/>
            <a:ext cx="5287251" cy="386953"/>
          </a:xfrm>
          <a:prstGeom prst="rect">
            <a:avLst/>
          </a:prstGeom>
          <a:noFill/>
          <a:ln>
            <a:noFill/>
          </a:ln>
        </p:spPr>
        <p:txBody>
          <a:bodyPr anchorCtr="0" anchor="t" bIns="0" lIns="0" spcFirstLastPara="1" rIns="0" wrap="square" tIns="0">
            <a:spAutoFit/>
          </a:bodyPr>
          <a:lstStyle/>
          <a:p>
            <a:pPr indent="0" lvl="0" marL="0" marR="0" rtl="0" algn="l">
              <a:lnSpc>
                <a:spcPct val="120032"/>
              </a:lnSpc>
              <a:spcBef>
                <a:spcPts val="0"/>
              </a:spcBef>
              <a:spcAft>
                <a:spcPts val="0"/>
              </a:spcAft>
              <a:buNone/>
            </a:pPr>
            <a:r>
              <a:rPr b="0" i="0" lang="en-US" spc="-12" sz="2476" u="none" cap="none" strike="noStrike">
                <a:solidFill>
                  <a:srgbClr val="0F1B2B"/>
                </a:solidFill>
                <a:latin typeface="Inter"/>
                <a:ea typeface="Inter"/>
                <a:cs typeface="Inter"/>
                <a:sym typeface="Inter"/>
              </a:rPr>
              <a:t>Pengukuran Granular</a:t>
            </a:r>
            <a:endParaRPr/>
          </a:p>
        </p:txBody>
      </p:sp>
      <p:sp>
        <p:nvSpPr>
          <p:cNvPr id="688" name="Google Shape;688;p29"/>
          <p:cNvSpPr txBox="1"/>
          <p:nvPr/>
        </p:nvSpPr>
        <p:spPr>
          <a:xfrm>
            <a:off x="12252017" y="3812276"/>
            <a:ext cx="5287251" cy="279254"/>
          </a:xfrm>
          <a:prstGeom prst="rect">
            <a:avLst/>
          </a:prstGeom>
          <a:noFill/>
          <a:ln>
            <a:noFill/>
          </a:ln>
        </p:spPr>
        <p:txBody>
          <a:bodyPr anchorCtr="0" anchor="t" bIns="0" lIns="0" spcFirstLastPara="1" rIns="0" wrap="square" tIns="0">
            <a:spAutoFit/>
          </a:bodyPr>
          <a:lstStyle/>
          <a:p>
            <a:pPr indent="0" lvl="0" marL="0" marR="0" rtl="0" algn="l">
              <a:lnSpc>
                <a:spcPct val="129568"/>
              </a:lnSpc>
              <a:spcBef>
                <a:spcPts val="0"/>
              </a:spcBef>
              <a:spcAft>
                <a:spcPts val="0"/>
              </a:spcAft>
              <a:buNone/>
            </a:pPr>
            <a:r>
              <a:rPr b="0" i="0" lang="en-US" spc="15" sz="1576" u="none" cap="none" strike="noStrike">
                <a:solidFill>
                  <a:srgbClr val="66625A"/>
                </a:solidFill>
                <a:latin typeface="Inter"/>
                <a:ea typeface="Inter"/>
                <a:cs typeface="Inter"/>
                <a:sym typeface="Inter"/>
              </a:rPr>
              <a:t>Fase 3: Pemantauan ROI</a:t>
            </a:r>
            <a:endParaRPr/>
          </a:p>
        </p:txBody>
      </p:sp>
      <p:sp>
        <p:nvSpPr>
          <p:cNvPr id="689" name="Google Shape;689;p29"/>
          <p:cNvSpPr txBox="1"/>
          <p:nvPr/>
        </p:nvSpPr>
        <p:spPr>
          <a:xfrm>
            <a:off x="12252017" y="4173255"/>
            <a:ext cx="5287251" cy="1182443"/>
          </a:xfrm>
          <a:prstGeom prst="rect">
            <a:avLst/>
          </a:prstGeom>
          <a:noFill/>
          <a:ln>
            <a:noFill/>
          </a:ln>
        </p:spPr>
        <p:txBody>
          <a:bodyPr anchorCtr="0" anchor="t" bIns="0" lIns="0" spcFirstLastPara="1" rIns="0" wrap="square" tIns="0">
            <a:spAutoFit/>
          </a:bodyPr>
          <a:lstStyle/>
          <a:p>
            <a:pPr indent="0" lvl="0" marL="0" marR="0" rtl="0" algn="l">
              <a:lnSpc>
                <a:spcPct val="138005"/>
              </a:lnSpc>
              <a:spcBef>
                <a:spcPts val="0"/>
              </a:spcBef>
              <a:spcAft>
                <a:spcPts val="0"/>
              </a:spcAft>
              <a:buNone/>
            </a:pPr>
            <a:r>
              <a:rPr b="0" i="0" lang="en-US" sz="2176" u="none" cap="none" strike="noStrike">
                <a:solidFill>
                  <a:srgbClr val="2B3542"/>
                </a:solidFill>
                <a:latin typeface="Inter"/>
                <a:ea typeface="Inter"/>
                <a:cs typeface="Inter"/>
                <a:sym typeface="Inter"/>
              </a:rPr>
              <a:t>Ukur promo uplift dan ROI per kategori, kanal, dan cohort pelanggan secara berkala melalui matriks analitik terpadu.</a:t>
            </a:r>
            <a:endParaRPr/>
          </a:p>
        </p:txBody>
      </p:sp>
      <p:sp>
        <p:nvSpPr>
          <p:cNvPr id="690" name="Google Shape;690;p29"/>
          <p:cNvSpPr txBox="1"/>
          <p:nvPr/>
        </p:nvSpPr>
        <p:spPr>
          <a:xfrm>
            <a:off x="12252017" y="6526492"/>
            <a:ext cx="5287251" cy="279254"/>
          </a:xfrm>
          <a:prstGeom prst="rect">
            <a:avLst/>
          </a:prstGeom>
          <a:noFill/>
          <a:ln>
            <a:noFill/>
          </a:ln>
        </p:spPr>
        <p:txBody>
          <a:bodyPr anchorCtr="0" anchor="t" bIns="0" lIns="0" spcFirstLastPara="1" rIns="0" wrap="square" tIns="0">
            <a:spAutoFit/>
          </a:bodyPr>
          <a:lstStyle/>
          <a:p>
            <a:pPr indent="0" lvl="0" marL="0" marR="0" rtl="0" algn="l">
              <a:lnSpc>
                <a:spcPct val="129568"/>
              </a:lnSpc>
              <a:spcBef>
                <a:spcPts val="0"/>
              </a:spcBef>
              <a:spcAft>
                <a:spcPts val="0"/>
              </a:spcAft>
              <a:buNone/>
            </a:pPr>
            <a:r>
              <a:rPr b="1" i="0" lang="en-US" spc="15" sz="1576" u="none" cap="none" strike="noStrike">
                <a:solidFill>
                  <a:srgbClr val="66625A"/>
                </a:solidFill>
                <a:latin typeface="Inter"/>
                <a:ea typeface="Inter"/>
                <a:cs typeface="Inter"/>
                <a:sym typeface="Inter"/>
              </a:rPr>
              <a:t>Tindakan:</a:t>
            </a:r>
            <a:r>
              <a:rPr b="0" i="0" lang="en-US" spc="15" sz="1576" u="none" cap="none" strike="noStrike">
                <a:solidFill>
                  <a:srgbClr val="66625A"/>
                </a:solidFill>
                <a:latin typeface="Inter"/>
                <a:ea typeface="Inter"/>
                <a:cs typeface="Inter"/>
                <a:sym typeface="Inter"/>
              </a:rPr>
              <a:t> Evaluasi efektivitas mingguan</a:t>
            </a:r>
            <a:endParaRPr/>
          </a:p>
        </p:txBody>
      </p:sp>
      <p:sp>
        <p:nvSpPr>
          <p:cNvPr id="691" name="Google Shape;691;p29"/>
          <p:cNvSpPr/>
          <p:nvPr/>
        </p:nvSpPr>
        <p:spPr>
          <a:xfrm>
            <a:off x="762581" y="6987578"/>
            <a:ext cx="16776668" cy="1533049"/>
          </a:xfrm>
          <a:custGeom>
            <a:rect b="b" l="l" r="r" t="t"/>
            <a:pathLst>
              <a:path extrusionOk="0" h="2044065" w="22368890">
                <a:moveTo>
                  <a:pt x="0" y="0"/>
                </a:moveTo>
                <a:lnTo>
                  <a:pt x="22368890" y="0"/>
                </a:lnTo>
                <a:lnTo>
                  <a:pt x="22368890" y="2044065"/>
                </a:lnTo>
                <a:lnTo>
                  <a:pt x="0" y="2044065"/>
                </a:lnTo>
                <a:close/>
              </a:path>
            </a:pathLst>
          </a:custGeom>
          <a:solidFill>
            <a:srgbClr val="EDF2F7"/>
          </a:solidFill>
          <a:ln>
            <a:noFill/>
          </a:ln>
        </p:spPr>
      </p:sp>
      <p:sp>
        <p:nvSpPr>
          <p:cNvPr id="692" name="Google Shape;692;p29"/>
          <p:cNvSpPr/>
          <p:nvPr/>
        </p:nvSpPr>
        <p:spPr>
          <a:xfrm>
            <a:off x="762581" y="6987578"/>
            <a:ext cx="16776668" cy="57150"/>
          </a:xfrm>
          <a:custGeom>
            <a:rect b="b" l="l" r="r" t="t"/>
            <a:pathLst>
              <a:path extrusionOk="0" h="76200" w="22368890">
                <a:moveTo>
                  <a:pt x="0" y="0"/>
                </a:moveTo>
                <a:lnTo>
                  <a:pt x="22368890" y="0"/>
                </a:lnTo>
                <a:lnTo>
                  <a:pt x="22368890" y="76200"/>
                </a:lnTo>
                <a:lnTo>
                  <a:pt x="0" y="76200"/>
                </a:lnTo>
                <a:close/>
              </a:path>
            </a:pathLst>
          </a:custGeom>
          <a:solidFill>
            <a:srgbClr val="0CC0DF"/>
          </a:solidFill>
          <a:ln>
            <a:noFill/>
          </a:ln>
        </p:spPr>
      </p:sp>
      <p:sp>
        <p:nvSpPr>
          <p:cNvPr id="693" name="Google Shape;693;p29"/>
          <p:cNvSpPr txBox="1"/>
          <p:nvPr/>
        </p:nvSpPr>
        <p:spPr>
          <a:xfrm>
            <a:off x="1105738" y="7225903"/>
            <a:ext cx="16433530" cy="226838"/>
          </a:xfrm>
          <a:prstGeom prst="rect">
            <a:avLst/>
          </a:prstGeom>
          <a:noFill/>
          <a:ln>
            <a:noFill/>
          </a:ln>
        </p:spPr>
        <p:txBody>
          <a:bodyPr anchorCtr="0" anchor="t" bIns="0" lIns="0" spcFirstLastPara="1" rIns="0" wrap="square" tIns="0">
            <a:spAutoFit/>
          </a:bodyPr>
          <a:lstStyle/>
          <a:p>
            <a:pPr indent="0" lvl="0" marL="0" marR="0" rtl="0" algn="l">
              <a:lnSpc>
                <a:spcPct val="119985"/>
              </a:lnSpc>
              <a:spcBef>
                <a:spcPts val="0"/>
              </a:spcBef>
              <a:spcAft>
                <a:spcPts val="0"/>
              </a:spcAft>
              <a:buNone/>
            </a:pPr>
            <a:r>
              <a:rPr b="0" i="0" lang="en-US" spc="142" sz="1426" u="none" cap="none" strike="noStrike">
                <a:solidFill>
                  <a:srgbClr val="2B3542"/>
                </a:solidFill>
                <a:latin typeface="Inter"/>
                <a:ea typeface="Inter"/>
                <a:cs typeface="Inter"/>
                <a:sym typeface="Inter"/>
              </a:rPr>
              <a:t>KAIDAH KOMERSIAL BARU</a:t>
            </a:r>
            <a:endParaRPr/>
          </a:p>
        </p:txBody>
      </p:sp>
      <p:sp>
        <p:nvSpPr>
          <p:cNvPr id="694" name="Google Shape;694;p29"/>
          <p:cNvSpPr txBox="1"/>
          <p:nvPr/>
        </p:nvSpPr>
        <p:spPr>
          <a:xfrm>
            <a:off x="1105738" y="7533742"/>
            <a:ext cx="16090373" cy="800995"/>
          </a:xfrm>
          <a:prstGeom prst="rect">
            <a:avLst/>
          </a:prstGeom>
          <a:noFill/>
          <a:ln>
            <a:noFill/>
          </a:ln>
        </p:spPr>
        <p:txBody>
          <a:bodyPr anchorCtr="0" anchor="t" bIns="0" lIns="0" spcFirstLastPara="1" rIns="0" wrap="square" tIns="0">
            <a:spAutoFit/>
          </a:bodyPr>
          <a:lstStyle/>
          <a:p>
            <a:pPr indent="0" lvl="0" marL="0" marR="0" rtl="0" algn="l">
              <a:lnSpc>
                <a:spcPct val="138005"/>
              </a:lnSpc>
              <a:spcBef>
                <a:spcPts val="0"/>
              </a:spcBef>
              <a:spcAft>
                <a:spcPts val="0"/>
              </a:spcAft>
              <a:buNone/>
            </a:pPr>
            <a:r>
              <a:rPr b="0" i="0" lang="en-US" sz="2176" u="none" cap="none" strike="noStrike">
                <a:solidFill>
                  <a:srgbClr val="2B3542"/>
                </a:solidFill>
                <a:latin typeface="Inter"/>
                <a:ea typeface="Inter"/>
                <a:cs typeface="Inter"/>
                <a:sym typeface="Inter"/>
              </a:rPr>
              <a:t>Setiap alokasi dana promosi wajib memiliki proyeksi elastisitas positif (&gt;1,0); kategori inelastis dikunci pada harga reguler untuk mengamankan margin 38,5%.</a:t>
            </a:r>
            <a:endParaRPr/>
          </a:p>
        </p:txBody>
      </p:sp>
      <p:sp>
        <p:nvSpPr>
          <p:cNvPr id="695" name="Google Shape;695;p29"/>
          <p:cNvSpPr txBox="1"/>
          <p:nvPr/>
        </p:nvSpPr>
        <p:spPr>
          <a:xfrm>
            <a:off x="762581" y="8690724"/>
            <a:ext cx="17539268" cy="272996"/>
          </a:xfrm>
          <a:prstGeom prst="rect">
            <a:avLst/>
          </a:prstGeom>
          <a:noFill/>
          <a:ln>
            <a:noFill/>
          </a:ln>
        </p:spPr>
        <p:txBody>
          <a:bodyPr anchorCtr="0" anchor="t" bIns="0" lIns="0" spcFirstLastPara="1" rIns="0" wrap="square" tIns="0">
            <a:spAutoFit/>
          </a:bodyPr>
          <a:lstStyle/>
          <a:p>
            <a:pPr indent="0" lvl="0" marL="0" marR="0" rtl="0" algn="l">
              <a:lnSpc>
                <a:spcPct val="134361"/>
              </a:lnSpc>
              <a:spcBef>
                <a:spcPts val="0"/>
              </a:spcBef>
              <a:spcAft>
                <a:spcPts val="0"/>
              </a:spcAft>
              <a:buNone/>
            </a:pPr>
            <a:r>
              <a:rPr b="0" i="0" lang="en-US" spc="85" sz="1426" u="none" cap="none" strike="noStrike">
                <a:solidFill>
                  <a:srgbClr val="66625A"/>
                </a:solidFill>
                <a:latin typeface="Inter"/>
                <a:ea typeface="Inter"/>
                <a:cs typeface="Inter"/>
                <a:sym typeface="Inter"/>
              </a:rPr>
              <a:t>SUMBER: KERANGKA KERJA REVENUE GROWTH MANAGEMENT (RGM) &amp; TRADE PROMOTION OPTIMIZATION FMCG</a:t>
            </a:r>
            <a:endParaRPr/>
          </a:p>
        </p:txBody>
      </p:sp>
      <p:sp>
        <p:nvSpPr>
          <p:cNvPr id="696" name="Google Shape;696;p29"/>
          <p:cNvSpPr/>
          <p:nvPr/>
        </p:nvSpPr>
        <p:spPr>
          <a:xfrm>
            <a:off x="0" y="9723091"/>
            <a:ext cx="18301811" cy="14287"/>
          </a:xfrm>
          <a:custGeom>
            <a:rect b="b" l="l" r="r" t="t"/>
            <a:pathLst>
              <a:path extrusionOk="0" h="19050" w="24402414">
                <a:moveTo>
                  <a:pt x="0" y="0"/>
                </a:moveTo>
                <a:lnTo>
                  <a:pt x="24402414" y="0"/>
                </a:lnTo>
                <a:lnTo>
                  <a:pt x="24402414" y="19050"/>
                </a:lnTo>
                <a:lnTo>
                  <a:pt x="0" y="19050"/>
                </a:lnTo>
                <a:close/>
              </a:path>
            </a:pathLst>
          </a:custGeom>
          <a:solidFill>
            <a:srgbClr val="2B3542">
              <a:alpha val="3922"/>
            </a:srgbClr>
          </a:solidFill>
          <a:ln>
            <a:noFill/>
          </a:ln>
        </p:spPr>
      </p:sp>
      <p:grpSp>
        <p:nvGrpSpPr>
          <p:cNvPr id="697" name="Google Shape;697;p29"/>
          <p:cNvGrpSpPr/>
          <p:nvPr/>
        </p:nvGrpSpPr>
        <p:grpSpPr>
          <a:xfrm>
            <a:off x="293380" y="9612742"/>
            <a:ext cx="7167785" cy="521294"/>
            <a:chOff x="0" y="-28575"/>
            <a:chExt cx="9557046" cy="695058"/>
          </a:xfrm>
        </p:grpSpPr>
        <p:sp>
          <p:nvSpPr>
            <p:cNvPr id="698" name="Google Shape;698;p29"/>
            <p:cNvSpPr/>
            <p:nvPr/>
          </p:nvSpPr>
          <p:spPr>
            <a:xfrm>
              <a:off x="0" y="0"/>
              <a:ext cx="9557046" cy="666483"/>
            </a:xfrm>
            <a:custGeom>
              <a:rect b="b" l="l" r="r" t="t"/>
              <a:pathLst>
                <a:path extrusionOk="0" h="666483" w="9557046">
                  <a:moveTo>
                    <a:pt x="0" y="0"/>
                  </a:moveTo>
                  <a:lnTo>
                    <a:pt x="9557046" y="0"/>
                  </a:lnTo>
                  <a:lnTo>
                    <a:pt x="9557046" y="666483"/>
                  </a:lnTo>
                  <a:lnTo>
                    <a:pt x="0" y="666483"/>
                  </a:lnTo>
                  <a:close/>
                </a:path>
              </a:pathLst>
            </a:custGeom>
            <a:blipFill rotWithShape="1">
              <a:blip r:embed="rId3">
                <a:alphaModFix amt="0"/>
              </a:blip>
              <a:stretch>
                <a:fillRect b="-181075" l="0" r="17296" t="-181075"/>
              </a:stretch>
            </a:blipFill>
            <a:ln>
              <a:noFill/>
            </a:ln>
          </p:spPr>
        </p:sp>
        <p:sp>
          <p:nvSpPr>
            <p:cNvPr id="699" name="Google Shape;699;p29"/>
            <p:cNvSpPr txBox="1"/>
            <p:nvPr/>
          </p:nvSpPr>
          <p:spPr>
            <a:xfrm>
              <a:off x="0" y="-28575"/>
              <a:ext cx="9557042" cy="695052"/>
            </a:xfrm>
            <a:prstGeom prst="rect">
              <a:avLst/>
            </a:prstGeom>
            <a:noFill/>
            <a:ln>
              <a:noFill/>
            </a:ln>
          </p:spPr>
          <p:txBody>
            <a:bodyPr anchorCtr="0" anchor="ctr" bIns="0" lIns="0" spcFirstLastPara="1" rIns="0" wrap="square" tIns="0">
              <a:noAutofit/>
            </a:bodyPr>
            <a:lstStyle/>
            <a:p>
              <a:pPr indent="0" lvl="0" marL="0" marR="0" rtl="0" algn="l">
                <a:lnSpc>
                  <a:spcPct val="138008"/>
                </a:lnSpc>
                <a:spcBef>
                  <a:spcPts val="0"/>
                </a:spcBef>
                <a:spcAft>
                  <a:spcPts val="0"/>
                </a:spcAft>
                <a:buNone/>
              </a:pPr>
              <a:r>
                <a:rPr b="0" i="0" lang="en-US" spc="142" sz="1426" u="none" cap="none" strike="noStrike">
                  <a:solidFill>
                    <a:srgbClr val="2B3542"/>
                  </a:solidFill>
                  <a:latin typeface="Inter"/>
                  <a:ea typeface="Inter"/>
                  <a:cs typeface="Inter"/>
                  <a:sym typeface="Inter"/>
                </a:rPr>
                <a:t>GLOBAL FMCG SUPPLY CHAIN ANALYTICS — EXECUTIVE REPORT</a:t>
              </a:r>
              <a:endParaRPr/>
            </a:p>
          </p:txBody>
        </p:sp>
      </p:grpSp>
      <p:grpSp>
        <p:nvGrpSpPr>
          <p:cNvPr id="700" name="Google Shape;700;p29"/>
          <p:cNvGrpSpPr/>
          <p:nvPr/>
        </p:nvGrpSpPr>
        <p:grpSpPr>
          <a:xfrm>
            <a:off x="15463530" y="-52044"/>
            <a:ext cx="4516946" cy="1127273"/>
            <a:chOff x="0" y="-241102"/>
            <a:chExt cx="6022595" cy="1503032"/>
          </a:xfrm>
        </p:grpSpPr>
        <p:grpSp>
          <p:nvGrpSpPr>
            <p:cNvPr id="701" name="Google Shape;701;p29"/>
            <p:cNvGrpSpPr/>
            <p:nvPr/>
          </p:nvGrpSpPr>
          <p:grpSpPr>
            <a:xfrm>
              <a:off x="0" y="-241102"/>
              <a:ext cx="6022595" cy="1503032"/>
              <a:chOff x="0" y="-47625"/>
              <a:chExt cx="1189648" cy="296895"/>
            </a:xfrm>
          </p:grpSpPr>
          <p:sp>
            <p:nvSpPr>
              <p:cNvPr id="702" name="Google Shape;702;p29"/>
              <p:cNvSpPr/>
              <p:nvPr/>
            </p:nvSpPr>
            <p:spPr>
              <a:xfrm>
                <a:off x="0" y="0"/>
                <a:ext cx="1189648" cy="249270"/>
              </a:xfrm>
              <a:custGeom>
                <a:rect b="b" l="l" r="r" t="t"/>
                <a:pathLst>
                  <a:path extrusionOk="0" h="249270" w="1189648">
                    <a:moveTo>
                      <a:pt x="87413" y="0"/>
                    </a:moveTo>
                    <a:lnTo>
                      <a:pt x="1102236" y="0"/>
                    </a:lnTo>
                    <a:cubicBezTo>
                      <a:pt x="1125419" y="0"/>
                      <a:pt x="1147653" y="9210"/>
                      <a:pt x="1164046" y="25603"/>
                    </a:cubicBezTo>
                    <a:cubicBezTo>
                      <a:pt x="1180439" y="41996"/>
                      <a:pt x="1189648" y="64229"/>
                      <a:pt x="1189648" y="87413"/>
                    </a:cubicBezTo>
                    <a:lnTo>
                      <a:pt x="1189648" y="161858"/>
                    </a:lnTo>
                    <a:cubicBezTo>
                      <a:pt x="1189648" y="185041"/>
                      <a:pt x="1180439" y="207275"/>
                      <a:pt x="1164046" y="223668"/>
                    </a:cubicBezTo>
                    <a:cubicBezTo>
                      <a:pt x="1147653" y="240061"/>
                      <a:pt x="1125419" y="249270"/>
                      <a:pt x="1102236" y="249270"/>
                    </a:cubicBezTo>
                    <a:lnTo>
                      <a:pt x="87413" y="249270"/>
                    </a:lnTo>
                    <a:cubicBezTo>
                      <a:pt x="64229" y="249270"/>
                      <a:pt x="41996" y="240061"/>
                      <a:pt x="25603" y="223668"/>
                    </a:cubicBezTo>
                    <a:cubicBezTo>
                      <a:pt x="9210" y="207275"/>
                      <a:pt x="0" y="185041"/>
                      <a:pt x="0" y="161858"/>
                    </a:cubicBezTo>
                    <a:lnTo>
                      <a:pt x="0" y="87413"/>
                    </a:lnTo>
                    <a:cubicBezTo>
                      <a:pt x="0" y="64229"/>
                      <a:pt x="9210" y="41996"/>
                      <a:pt x="25603" y="25603"/>
                    </a:cubicBezTo>
                    <a:cubicBezTo>
                      <a:pt x="41996" y="9210"/>
                      <a:pt x="64229" y="0"/>
                      <a:pt x="87413" y="0"/>
                    </a:cubicBezTo>
                    <a:close/>
                  </a:path>
                </a:pathLst>
              </a:custGeom>
              <a:solidFill>
                <a:srgbClr val="FE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3" name="Google Shape;703;p29"/>
              <p:cNvSpPr txBox="1"/>
              <p:nvPr/>
            </p:nvSpPr>
            <p:spPr>
              <a:xfrm>
                <a:off x="0" y="-47625"/>
                <a:ext cx="1189648" cy="296895"/>
              </a:xfrm>
              <a:prstGeom prst="rect">
                <a:avLst/>
              </a:prstGeom>
              <a:noFill/>
              <a:ln>
                <a:noFill/>
              </a:ln>
            </p:spPr>
            <p:txBody>
              <a:bodyPr anchorCtr="0" anchor="ctr" bIns="50800" lIns="50800" spcFirstLastPara="1" rIns="50800" wrap="square" tIns="50800">
                <a:noAutofit/>
              </a:bodyPr>
              <a:lstStyle/>
              <a:p>
                <a:pPr indent="0" lvl="0" marL="0" marR="0" rtl="0" algn="ctr">
                  <a:lnSpc>
                    <a:spcPct val="155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704" name="Google Shape;704;p29"/>
            <p:cNvSpPr/>
            <p:nvPr/>
          </p:nvSpPr>
          <p:spPr>
            <a:xfrm>
              <a:off x="483631" y="226255"/>
              <a:ext cx="2676306" cy="809419"/>
            </a:xfrm>
            <a:custGeom>
              <a:rect b="b" l="l" r="r" t="t"/>
              <a:pathLst>
                <a:path extrusionOk="0" h="809419" w="2676306">
                  <a:moveTo>
                    <a:pt x="0" y="0"/>
                  </a:moveTo>
                  <a:lnTo>
                    <a:pt x="2676305" y="0"/>
                  </a:lnTo>
                  <a:lnTo>
                    <a:pt x="2676305" y="809420"/>
                  </a:lnTo>
                  <a:lnTo>
                    <a:pt x="0" y="809420"/>
                  </a:lnTo>
                  <a:lnTo>
                    <a:pt x="0" y="0"/>
                  </a:lnTo>
                  <a:close/>
                </a:path>
              </a:pathLst>
            </a:custGeom>
            <a:blipFill rotWithShape="1">
              <a:blip r:embed="rId4">
                <a:alphaModFix/>
              </a:blip>
              <a:stretch>
                <a:fillRect b="0" l="0" r="0" t="0"/>
              </a:stretch>
            </a:blipFill>
            <a:ln>
              <a:noFill/>
            </a:ln>
          </p:spPr>
        </p:sp>
      </p:gr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712" name="Shape 712"/>
        <p:cNvGrpSpPr/>
        <p:nvPr/>
      </p:nvGrpSpPr>
      <p:grpSpPr>
        <a:xfrm>
          <a:off x="0" y="0"/>
          <a:ext cx="0" cy="0"/>
          <a:chOff x="0" y="0"/>
          <a:chExt cx="0" cy="0"/>
        </a:xfrm>
      </p:grpSpPr>
      <p:sp>
        <p:nvSpPr>
          <p:cNvPr id="713" name="Google Shape;713;p30"/>
          <p:cNvSpPr txBox="1"/>
          <p:nvPr/>
        </p:nvSpPr>
        <p:spPr>
          <a:xfrm>
            <a:off x="762581" y="753075"/>
            <a:ext cx="17539268" cy="226838"/>
          </a:xfrm>
          <a:prstGeom prst="rect">
            <a:avLst/>
          </a:prstGeom>
          <a:noFill/>
          <a:ln>
            <a:noFill/>
          </a:ln>
        </p:spPr>
        <p:txBody>
          <a:bodyPr anchorCtr="0" anchor="t" bIns="0" lIns="0" spcFirstLastPara="1" rIns="0" wrap="square" tIns="0">
            <a:spAutoFit/>
          </a:bodyPr>
          <a:lstStyle/>
          <a:p>
            <a:pPr indent="0" lvl="0" marL="0" marR="0" rtl="0" algn="l">
              <a:lnSpc>
                <a:spcPct val="119985"/>
              </a:lnSpc>
              <a:spcBef>
                <a:spcPts val="0"/>
              </a:spcBef>
              <a:spcAft>
                <a:spcPts val="0"/>
              </a:spcAft>
              <a:buNone/>
            </a:pPr>
            <a:r>
              <a:rPr b="0" i="0" lang="en-US" spc="199" sz="1426" u="none" cap="none" strike="noStrike">
                <a:solidFill>
                  <a:srgbClr val="1B2638"/>
                </a:solidFill>
                <a:latin typeface="Inter"/>
                <a:ea typeface="Inter"/>
                <a:cs typeface="Inter"/>
                <a:sym typeface="Inter"/>
              </a:rPr>
              <a:t>14 ROADMAP SOLUSI: TATA KELOLA S&amp;OP</a:t>
            </a:r>
            <a:endParaRPr/>
          </a:p>
        </p:txBody>
      </p:sp>
      <p:sp>
        <p:nvSpPr>
          <p:cNvPr id="714" name="Google Shape;714;p30"/>
          <p:cNvSpPr txBox="1"/>
          <p:nvPr/>
        </p:nvSpPr>
        <p:spPr>
          <a:xfrm>
            <a:off x="762581" y="1075230"/>
            <a:ext cx="14851261" cy="563911"/>
          </a:xfrm>
          <a:prstGeom prst="rect">
            <a:avLst/>
          </a:prstGeom>
          <a:noFill/>
          <a:ln>
            <a:noFill/>
          </a:ln>
        </p:spPr>
        <p:txBody>
          <a:bodyPr anchorCtr="0" anchor="t" bIns="0" lIns="0" spcFirstLastPara="1" rIns="0" wrap="square" tIns="0">
            <a:spAutoFit/>
          </a:bodyPr>
          <a:lstStyle/>
          <a:p>
            <a:pPr indent="0" lvl="0" marL="0" marR="0" rtl="0" algn="l">
              <a:lnSpc>
                <a:spcPct val="111620"/>
              </a:lnSpc>
              <a:spcBef>
                <a:spcPts val="0"/>
              </a:spcBef>
              <a:spcAft>
                <a:spcPts val="0"/>
              </a:spcAft>
              <a:buNone/>
            </a:pPr>
            <a:r>
              <a:rPr b="0" i="0" lang="en-US" spc="-18" sz="3752" u="none" cap="none" strike="noStrike">
                <a:solidFill>
                  <a:srgbClr val="0F1B2B"/>
                </a:solidFill>
                <a:latin typeface="Arimo"/>
                <a:ea typeface="Arimo"/>
                <a:cs typeface="Arimo"/>
                <a:sym typeface="Arimo"/>
              </a:rPr>
              <a:t>S&amp;OP terpadu mengubah dashboard menjadi ritme keputusan bulanan</a:t>
            </a:r>
            <a:endParaRPr/>
          </a:p>
        </p:txBody>
      </p:sp>
      <p:sp>
        <p:nvSpPr>
          <p:cNvPr id="715" name="Google Shape;715;p30"/>
          <p:cNvSpPr/>
          <p:nvPr/>
        </p:nvSpPr>
        <p:spPr>
          <a:xfrm>
            <a:off x="762581" y="1887874"/>
            <a:ext cx="16776573" cy="28575"/>
          </a:xfrm>
          <a:custGeom>
            <a:rect b="b" l="l" r="r" t="t"/>
            <a:pathLst>
              <a:path extrusionOk="0" h="38100" w="22368763">
                <a:moveTo>
                  <a:pt x="0" y="19050"/>
                </a:moveTo>
                <a:cubicBezTo>
                  <a:pt x="0" y="8509"/>
                  <a:pt x="8509" y="0"/>
                  <a:pt x="19050" y="0"/>
                </a:cubicBezTo>
                <a:lnTo>
                  <a:pt x="22349713" y="0"/>
                </a:lnTo>
                <a:cubicBezTo>
                  <a:pt x="22360254" y="0"/>
                  <a:pt x="22368763" y="8509"/>
                  <a:pt x="22368763" y="19050"/>
                </a:cubicBezTo>
                <a:cubicBezTo>
                  <a:pt x="22368763" y="29591"/>
                  <a:pt x="22360254" y="38100"/>
                  <a:pt x="22349713" y="38100"/>
                </a:cubicBezTo>
                <a:lnTo>
                  <a:pt x="19050" y="38100"/>
                </a:lnTo>
                <a:cubicBezTo>
                  <a:pt x="8509" y="38100"/>
                  <a:pt x="0" y="29591"/>
                  <a:pt x="0" y="19050"/>
                </a:cubicBezTo>
                <a:close/>
              </a:path>
            </a:pathLst>
          </a:custGeom>
          <a:solidFill>
            <a:srgbClr val="8C87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6" name="Google Shape;716;p30"/>
          <p:cNvSpPr txBox="1"/>
          <p:nvPr/>
        </p:nvSpPr>
        <p:spPr>
          <a:xfrm>
            <a:off x="762581" y="2228621"/>
            <a:ext cx="1264958" cy="228819"/>
          </a:xfrm>
          <a:prstGeom prst="rect">
            <a:avLst/>
          </a:prstGeom>
          <a:noFill/>
          <a:ln>
            <a:noFill/>
          </a:ln>
        </p:spPr>
        <p:txBody>
          <a:bodyPr anchorCtr="0" anchor="t" bIns="0" lIns="0" spcFirstLastPara="1" rIns="0" wrap="square" tIns="0">
            <a:spAutoFit/>
          </a:bodyPr>
          <a:lstStyle/>
          <a:p>
            <a:pPr indent="0" lvl="0" marL="0" marR="0" rtl="0" algn="l">
              <a:lnSpc>
                <a:spcPct val="99586"/>
              </a:lnSpc>
              <a:spcBef>
                <a:spcPts val="0"/>
              </a:spcBef>
              <a:spcAft>
                <a:spcPts val="0"/>
              </a:spcAft>
              <a:buNone/>
            </a:pPr>
            <a:r>
              <a:rPr b="0" i="0" lang="en-US" sz="2176" u="none" cap="none" strike="noStrike">
                <a:solidFill>
                  <a:srgbClr val="0F1B2B"/>
                </a:solidFill>
                <a:latin typeface="Inter"/>
                <a:ea typeface="Inter"/>
                <a:cs typeface="Inter"/>
                <a:sym typeface="Inter"/>
              </a:rPr>
              <a:t>01</a:t>
            </a:r>
            <a:endParaRPr/>
          </a:p>
        </p:txBody>
      </p:sp>
      <p:sp>
        <p:nvSpPr>
          <p:cNvPr id="717" name="Google Shape;717;p30"/>
          <p:cNvSpPr/>
          <p:nvPr/>
        </p:nvSpPr>
        <p:spPr>
          <a:xfrm>
            <a:off x="762581" y="2568102"/>
            <a:ext cx="5287137" cy="28575"/>
          </a:xfrm>
          <a:custGeom>
            <a:rect b="b" l="l" r="r" t="t"/>
            <a:pathLst>
              <a:path extrusionOk="0" h="38100" w="7049516">
                <a:moveTo>
                  <a:pt x="0" y="0"/>
                </a:moveTo>
                <a:lnTo>
                  <a:pt x="7049516" y="0"/>
                </a:lnTo>
                <a:lnTo>
                  <a:pt x="7049516" y="38100"/>
                </a:lnTo>
                <a:lnTo>
                  <a:pt x="0" y="38100"/>
                </a:lnTo>
                <a:close/>
              </a:path>
            </a:pathLst>
          </a:custGeom>
          <a:solidFill>
            <a:srgbClr val="14253D"/>
          </a:solidFill>
          <a:ln>
            <a:noFill/>
          </a:ln>
        </p:spPr>
      </p:sp>
      <p:sp>
        <p:nvSpPr>
          <p:cNvPr id="718" name="Google Shape;718;p30"/>
          <p:cNvSpPr txBox="1"/>
          <p:nvPr/>
        </p:nvSpPr>
        <p:spPr>
          <a:xfrm>
            <a:off x="762581" y="2739695"/>
            <a:ext cx="5287099" cy="386953"/>
          </a:xfrm>
          <a:prstGeom prst="rect">
            <a:avLst/>
          </a:prstGeom>
          <a:noFill/>
          <a:ln>
            <a:noFill/>
          </a:ln>
        </p:spPr>
        <p:txBody>
          <a:bodyPr anchorCtr="0" anchor="t" bIns="0" lIns="0" spcFirstLastPara="1" rIns="0" wrap="square" tIns="0">
            <a:spAutoFit/>
          </a:bodyPr>
          <a:lstStyle/>
          <a:p>
            <a:pPr indent="0" lvl="0" marL="0" marR="0" rtl="0" algn="l">
              <a:lnSpc>
                <a:spcPct val="120032"/>
              </a:lnSpc>
              <a:spcBef>
                <a:spcPts val="0"/>
              </a:spcBef>
              <a:spcAft>
                <a:spcPts val="0"/>
              </a:spcAft>
              <a:buNone/>
            </a:pPr>
            <a:r>
              <a:rPr b="0" i="0" lang="en-US" spc="-12" sz="2476" u="none" cap="none" strike="noStrike">
                <a:solidFill>
                  <a:srgbClr val="0F1B2B"/>
                </a:solidFill>
                <a:latin typeface="Inter"/>
                <a:ea typeface="Inter"/>
                <a:cs typeface="Inter"/>
                <a:sym typeface="Inter"/>
              </a:rPr>
              <a:t>Procurement Action Plan</a:t>
            </a:r>
            <a:endParaRPr/>
          </a:p>
        </p:txBody>
      </p:sp>
      <p:sp>
        <p:nvSpPr>
          <p:cNvPr id="719" name="Google Shape;719;p30"/>
          <p:cNvSpPr txBox="1"/>
          <p:nvPr/>
        </p:nvSpPr>
        <p:spPr>
          <a:xfrm>
            <a:off x="762581" y="3278467"/>
            <a:ext cx="5287099" cy="279254"/>
          </a:xfrm>
          <a:prstGeom prst="rect">
            <a:avLst/>
          </a:prstGeom>
          <a:noFill/>
          <a:ln>
            <a:noFill/>
          </a:ln>
        </p:spPr>
        <p:txBody>
          <a:bodyPr anchorCtr="0" anchor="t" bIns="0" lIns="0" spcFirstLastPara="1" rIns="0" wrap="square" tIns="0">
            <a:spAutoFit/>
          </a:bodyPr>
          <a:lstStyle/>
          <a:p>
            <a:pPr indent="0" lvl="0" marL="0" marR="0" rtl="0" algn="l">
              <a:lnSpc>
                <a:spcPct val="129568"/>
              </a:lnSpc>
              <a:spcBef>
                <a:spcPts val="0"/>
              </a:spcBef>
              <a:spcAft>
                <a:spcPts val="0"/>
              </a:spcAft>
              <a:buNone/>
            </a:pPr>
            <a:r>
              <a:rPr b="0" i="0" lang="en-US" spc="15" sz="1576" u="none" cap="none" strike="noStrike">
                <a:solidFill>
                  <a:srgbClr val="66625A"/>
                </a:solidFill>
                <a:latin typeface="Inter"/>
                <a:ea typeface="Inter"/>
                <a:cs typeface="Inter"/>
                <a:sym typeface="Inter"/>
              </a:rPr>
              <a:t>Ritme 1: Sinkronisasi PO</a:t>
            </a:r>
            <a:endParaRPr/>
          </a:p>
        </p:txBody>
      </p:sp>
      <p:sp>
        <p:nvSpPr>
          <p:cNvPr id="720" name="Google Shape;720;p30"/>
          <p:cNvSpPr txBox="1"/>
          <p:nvPr/>
        </p:nvSpPr>
        <p:spPr>
          <a:xfrm>
            <a:off x="762581" y="3639436"/>
            <a:ext cx="5287099" cy="1563891"/>
          </a:xfrm>
          <a:prstGeom prst="rect">
            <a:avLst/>
          </a:prstGeom>
          <a:noFill/>
          <a:ln>
            <a:noFill/>
          </a:ln>
        </p:spPr>
        <p:txBody>
          <a:bodyPr anchorCtr="0" anchor="t" bIns="0" lIns="0" spcFirstLastPara="1" rIns="0" wrap="square" tIns="0">
            <a:spAutoFit/>
          </a:bodyPr>
          <a:lstStyle/>
          <a:p>
            <a:pPr indent="0" lvl="0" marL="0" marR="0" rtl="0" algn="l">
              <a:lnSpc>
                <a:spcPct val="138005"/>
              </a:lnSpc>
              <a:spcBef>
                <a:spcPts val="0"/>
              </a:spcBef>
              <a:spcAft>
                <a:spcPts val="0"/>
              </a:spcAft>
              <a:buNone/>
            </a:pPr>
            <a:r>
              <a:rPr b="0" i="0" lang="en-US" sz="2176" u="none" cap="none" strike="noStrike">
                <a:solidFill>
                  <a:srgbClr val="2B3542"/>
                </a:solidFill>
                <a:latin typeface="Inter"/>
                <a:ea typeface="Inter"/>
                <a:cs typeface="Inter"/>
                <a:sym typeface="Inter"/>
              </a:rPr>
              <a:t>Jadikan Procurement Action Plan sebagai acuan rapat S&amp;OP dan penerbitan PO untuk menyelaraskan operasi gudang dan purchasing.</a:t>
            </a:r>
            <a:endParaRPr/>
          </a:p>
        </p:txBody>
      </p:sp>
      <p:sp>
        <p:nvSpPr>
          <p:cNvPr id="721" name="Google Shape;721;p30"/>
          <p:cNvSpPr txBox="1"/>
          <p:nvPr/>
        </p:nvSpPr>
        <p:spPr>
          <a:xfrm>
            <a:off x="762581" y="6526492"/>
            <a:ext cx="5287099" cy="279254"/>
          </a:xfrm>
          <a:prstGeom prst="rect">
            <a:avLst/>
          </a:prstGeom>
          <a:noFill/>
          <a:ln>
            <a:noFill/>
          </a:ln>
        </p:spPr>
        <p:txBody>
          <a:bodyPr anchorCtr="0" anchor="t" bIns="0" lIns="0" spcFirstLastPara="1" rIns="0" wrap="square" tIns="0">
            <a:spAutoFit/>
          </a:bodyPr>
          <a:lstStyle/>
          <a:p>
            <a:pPr indent="0" lvl="0" marL="0" marR="0" rtl="0" algn="l">
              <a:lnSpc>
                <a:spcPct val="129568"/>
              </a:lnSpc>
              <a:spcBef>
                <a:spcPts val="0"/>
              </a:spcBef>
              <a:spcAft>
                <a:spcPts val="0"/>
              </a:spcAft>
              <a:buNone/>
            </a:pPr>
            <a:r>
              <a:rPr b="1" i="0" lang="en-US" spc="15" sz="1576" u="none" cap="none" strike="noStrike">
                <a:solidFill>
                  <a:srgbClr val="66625A"/>
                </a:solidFill>
                <a:latin typeface="Inter"/>
                <a:ea typeface="Inter"/>
                <a:cs typeface="Inter"/>
                <a:sym typeface="Inter"/>
              </a:rPr>
              <a:t>Fokus:</a:t>
            </a:r>
            <a:r>
              <a:rPr b="0" i="0" lang="en-US" spc="15" sz="1576" u="none" cap="none" strike="noStrike">
                <a:solidFill>
                  <a:srgbClr val="66625A"/>
                </a:solidFill>
                <a:latin typeface="Inter"/>
                <a:ea typeface="Inter"/>
                <a:cs typeface="Inter"/>
                <a:sym typeface="Inter"/>
              </a:rPr>
              <a:t> Penerbitan order terkoordinasi</a:t>
            </a:r>
            <a:endParaRPr/>
          </a:p>
        </p:txBody>
      </p:sp>
      <p:sp>
        <p:nvSpPr>
          <p:cNvPr id="722" name="Google Shape;722;p30"/>
          <p:cNvSpPr txBox="1"/>
          <p:nvPr/>
        </p:nvSpPr>
        <p:spPr>
          <a:xfrm>
            <a:off x="6507223" y="2228621"/>
            <a:ext cx="1264958" cy="228819"/>
          </a:xfrm>
          <a:prstGeom prst="rect">
            <a:avLst/>
          </a:prstGeom>
          <a:noFill/>
          <a:ln>
            <a:noFill/>
          </a:ln>
        </p:spPr>
        <p:txBody>
          <a:bodyPr anchorCtr="0" anchor="t" bIns="0" lIns="0" spcFirstLastPara="1" rIns="0" wrap="square" tIns="0">
            <a:spAutoFit/>
          </a:bodyPr>
          <a:lstStyle/>
          <a:p>
            <a:pPr indent="0" lvl="0" marL="0" marR="0" rtl="0" algn="l">
              <a:lnSpc>
                <a:spcPct val="99586"/>
              </a:lnSpc>
              <a:spcBef>
                <a:spcPts val="0"/>
              </a:spcBef>
              <a:spcAft>
                <a:spcPts val="0"/>
              </a:spcAft>
              <a:buNone/>
            </a:pPr>
            <a:r>
              <a:rPr b="0" i="0" lang="en-US" sz="2176" u="none" cap="none" strike="noStrike">
                <a:solidFill>
                  <a:srgbClr val="0F1B2B"/>
                </a:solidFill>
                <a:latin typeface="Inter"/>
                <a:ea typeface="Inter"/>
                <a:cs typeface="Inter"/>
                <a:sym typeface="Inter"/>
              </a:rPr>
              <a:t>02</a:t>
            </a:r>
            <a:endParaRPr/>
          </a:p>
        </p:txBody>
      </p:sp>
      <p:sp>
        <p:nvSpPr>
          <p:cNvPr id="723" name="Google Shape;723;p30"/>
          <p:cNvSpPr/>
          <p:nvPr/>
        </p:nvSpPr>
        <p:spPr>
          <a:xfrm>
            <a:off x="6507223" y="2568102"/>
            <a:ext cx="5287137" cy="28575"/>
          </a:xfrm>
          <a:custGeom>
            <a:rect b="b" l="l" r="r" t="t"/>
            <a:pathLst>
              <a:path extrusionOk="0" h="38100" w="7049516">
                <a:moveTo>
                  <a:pt x="0" y="0"/>
                </a:moveTo>
                <a:lnTo>
                  <a:pt x="7049516" y="0"/>
                </a:lnTo>
                <a:lnTo>
                  <a:pt x="7049516" y="38100"/>
                </a:lnTo>
                <a:lnTo>
                  <a:pt x="0" y="38100"/>
                </a:lnTo>
                <a:close/>
              </a:path>
            </a:pathLst>
          </a:custGeom>
          <a:solidFill>
            <a:srgbClr val="14253D"/>
          </a:solidFill>
          <a:ln>
            <a:noFill/>
          </a:ln>
        </p:spPr>
      </p:sp>
      <p:sp>
        <p:nvSpPr>
          <p:cNvPr id="724" name="Google Shape;724;p30"/>
          <p:cNvSpPr txBox="1"/>
          <p:nvPr/>
        </p:nvSpPr>
        <p:spPr>
          <a:xfrm>
            <a:off x="6507223" y="2739695"/>
            <a:ext cx="5287251" cy="386953"/>
          </a:xfrm>
          <a:prstGeom prst="rect">
            <a:avLst/>
          </a:prstGeom>
          <a:noFill/>
          <a:ln>
            <a:noFill/>
          </a:ln>
        </p:spPr>
        <p:txBody>
          <a:bodyPr anchorCtr="0" anchor="t" bIns="0" lIns="0" spcFirstLastPara="1" rIns="0" wrap="square" tIns="0">
            <a:spAutoFit/>
          </a:bodyPr>
          <a:lstStyle/>
          <a:p>
            <a:pPr indent="0" lvl="0" marL="0" marR="0" rtl="0" algn="l">
              <a:lnSpc>
                <a:spcPct val="120032"/>
              </a:lnSpc>
              <a:spcBef>
                <a:spcPts val="0"/>
              </a:spcBef>
              <a:spcAft>
                <a:spcPts val="0"/>
              </a:spcAft>
              <a:buNone/>
            </a:pPr>
            <a:r>
              <a:rPr b="0" i="0" lang="en-US" spc="-12" sz="2476" u="none" cap="none" strike="noStrike">
                <a:solidFill>
                  <a:srgbClr val="0F1B2B"/>
                </a:solidFill>
                <a:latin typeface="Inter"/>
                <a:ea typeface="Inter"/>
                <a:cs typeface="Inter"/>
                <a:sym typeface="Inter"/>
              </a:rPr>
              <a:t>Evaluasi Matriks Vendor</a:t>
            </a:r>
            <a:endParaRPr/>
          </a:p>
        </p:txBody>
      </p:sp>
      <p:sp>
        <p:nvSpPr>
          <p:cNvPr id="725" name="Google Shape;725;p30"/>
          <p:cNvSpPr txBox="1"/>
          <p:nvPr/>
        </p:nvSpPr>
        <p:spPr>
          <a:xfrm>
            <a:off x="6507223" y="3278467"/>
            <a:ext cx="5287251" cy="279254"/>
          </a:xfrm>
          <a:prstGeom prst="rect">
            <a:avLst/>
          </a:prstGeom>
          <a:noFill/>
          <a:ln>
            <a:noFill/>
          </a:ln>
        </p:spPr>
        <p:txBody>
          <a:bodyPr anchorCtr="0" anchor="t" bIns="0" lIns="0" spcFirstLastPara="1" rIns="0" wrap="square" tIns="0">
            <a:spAutoFit/>
          </a:bodyPr>
          <a:lstStyle/>
          <a:p>
            <a:pPr indent="0" lvl="0" marL="0" marR="0" rtl="0" algn="l">
              <a:lnSpc>
                <a:spcPct val="129568"/>
              </a:lnSpc>
              <a:spcBef>
                <a:spcPts val="0"/>
              </a:spcBef>
              <a:spcAft>
                <a:spcPts val="0"/>
              </a:spcAft>
              <a:buNone/>
            </a:pPr>
            <a:r>
              <a:rPr b="0" i="0" lang="en-US" spc="15" sz="1576" u="none" cap="none" strike="noStrike">
                <a:solidFill>
                  <a:srgbClr val="66625A"/>
                </a:solidFill>
                <a:latin typeface="Inter"/>
                <a:ea typeface="Inter"/>
                <a:cs typeface="Inter"/>
                <a:sym typeface="Inter"/>
              </a:rPr>
              <a:t>Ritme 2: Benchmark Kinerja</a:t>
            </a:r>
            <a:endParaRPr/>
          </a:p>
        </p:txBody>
      </p:sp>
      <p:sp>
        <p:nvSpPr>
          <p:cNvPr id="726" name="Google Shape;726;p30"/>
          <p:cNvSpPr txBox="1"/>
          <p:nvPr/>
        </p:nvSpPr>
        <p:spPr>
          <a:xfrm>
            <a:off x="6507223" y="3639436"/>
            <a:ext cx="5287251" cy="1182443"/>
          </a:xfrm>
          <a:prstGeom prst="rect">
            <a:avLst/>
          </a:prstGeom>
          <a:noFill/>
          <a:ln>
            <a:noFill/>
          </a:ln>
        </p:spPr>
        <p:txBody>
          <a:bodyPr anchorCtr="0" anchor="t" bIns="0" lIns="0" spcFirstLastPara="1" rIns="0" wrap="square" tIns="0">
            <a:spAutoFit/>
          </a:bodyPr>
          <a:lstStyle/>
          <a:p>
            <a:pPr indent="0" lvl="0" marL="0" marR="0" rtl="0" algn="l">
              <a:lnSpc>
                <a:spcPct val="138005"/>
              </a:lnSpc>
              <a:spcBef>
                <a:spcPts val="0"/>
              </a:spcBef>
              <a:spcAft>
                <a:spcPts val="0"/>
              </a:spcAft>
              <a:buNone/>
            </a:pPr>
            <a:r>
              <a:rPr b="0" i="0" lang="en-US" sz="2176" u="none" cap="none" strike="noStrike">
                <a:solidFill>
                  <a:srgbClr val="2B3542"/>
                </a:solidFill>
                <a:latin typeface="Inter"/>
                <a:ea typeface="Inter"/>
                <a:cs typeface="Inter"/>
                <a:sym typeface="Inter"/>
              </a:rPr>
              <a:t>Evaluasi vendor melalui matriks Lead Time vs OTIF secara transparan untuk memetakan keandalan pemasok regional.</a:t>
            </a:r>
            <a:endParaRPr/>
          </a:p>
        </p:txBody>
      </p:sp>
      <p:sp>
        <p:nvSpPr>
          <p:cNvPr id="727" name="Google Shape;727;p30"/>
          <p:cNvSpPr txBox="1"/>
          <p:nvPr/>
        </p:nvSpPr>
        <p:spPr>
          <a:xfrm>
            <a:off x="6507223" y="6526492"/>
            <a:ext cx="5287251" cy="279254"/>
          </a:xfrm>
          <a:prstGeom prst="rect">
            <a:avLst/>
          </a:prstGeom>
          <a:noFill/>
          <a:ln>
            <a:noFill/>
          </a:ln>
        </p:spPr>
        <p:txBody>
          <a:bodyPr anchorCtr="0" anchor="t" bIns="0" lIns="0" spcFirstLastPara="1" rIns="0" wrap="square" tIns="0">
            <a:spAutoFit/>
          </a:bodyPr>
          <a:lstStyle/>
          <a:p>
            <a:pPr indent="0" lvl="0" marL="0" marR="0" rtl="0" algn="l">
              <a:lnSpc>
                <a:spcPct val="129568"/>
              </a:lnSpc>
              <a:spcBef>
                <a:spcPts val="0"/>
              </a:spcBef>
              <a:spcAft>
                <a:spcPts val="0"/>
              </a:spcAft>
              <a:buNone/>
            </a:pPr>
            <a:r>
              <a:rPr b="1" i="0" lang="en-US" spc="15" sz="1576" u="none" cap="none" strike="noStrike">
                <a:solidFill>
                  <a:srgbClr val="66625A"/>
                </a:solidFill>
                <a:latin typeface="Inter"/>
                <a:ea typeface="Inter"/>
                <a:cs typeface="Inter"/>
                <a:sym typeface="Inter"/>
              </a:rPr>
              <a:t>Fokus:</a:t>
            </a:r>
            <a:r>
              <a:rPr b="0" i="0" lang="en-US" spc="15" sz="1576" u="none" cap="none" strike="noStrike">
                <a:solidFill>
                  <a:srgbClr val="66625A"/>
                </a:solidFill>
                <a:latin typeface="Inter"/>
                <a:ea typeface="Inter"/>
                <a:cs typeface="Inter"/>
                <a:sym typeface="Inter"/>
              </a:rPr>
              <a:t> Akurasi pengiriman harian</a:t>
            </a:r>
            <a:endParaRPr/>
          </a:p>
        </p:txBody>
      </p:sp>
      <p:sp>
        <p:nvSpPr>
          <p:cNvPr id="728" name="Google Shape;728;p30"/>
          <p:cNvSpPr txBox="1"/>
          <p:nvPr/>
        </p:nvSpPr>
        <p:spPr>
          <a:xfrm>
            <a:off x="12252017" y="2228621"/>
            <a:ext cx="1264958" cy="228819"/>
          </a:xfrm>
          <a:prstGeom prst="rect">
            <a:avLst/>
          </a:prstGeom>
          <a:noFill/>
          <a:ln>
            <a:noFill/>
          </a:ln>
        </p:spPr>
        <p:txBody>
          <a:bodyPr anchorCtr="0" anchor="t" bIns="0" lIns="0" spcFirstLastPara="1" rIns="0" wrap="square" tIns="0">
            <a:spAutoFit/>
          </a:bodyPr>
          <a:lstStyle/>
          <a:p>
            <a:pPr indent="0" lvl="0" marL="0" marR="0" rtl="0" algn="l">
              <a:lnSpc>
                <a:spcPct val="99586"/>
              </a:lnSpc>
              <a:spcBef>
                <a:spcPts val="0"/>
              </a:spcBef>
              <a:spcAft>
                <a:spcPts val="0"/>
              </a:spcAft>
              <a:buNone/>
            </a:pPr>
            <a:r>
              <a:rPr b="0" i="0" lang="en-US" sz="2176" u="none" cap="none" strike="noStrike">
                <a:solidFill>
                  <a:srgbClr val="0F1B2B"/>
                </a:solidFill>
                <a:latin typeface="Inter"/>
                <a:ea typeface="Inter"/>
                <a:cs typeface="Inter"/>
                <a:sym typeface="Inter"/>
              </a:rPr>
              <a:t>03</a:t>
            </a:r>
            <a:endParaRPr/>
          </a:p>
        </p:txBody>
      </p:sp>
      <p:sp>
        <p:nvSpPr>
          <p:cNvPr id="729" name="Google Shape;729;p30"/>
          <p:cNvSpPr/>
          <p:nvPr/>
        </p:nvSpPr>
        <p:spPr>
          <a:xfrm>
            <a:off x="12252017" y="2568102"/>
            <a:ext cx="5287137" cy="28575"/>
          </a:xfrm>
          <a:custGeom>
            <a:rect b="b" l="l" r="r" t="t"/>
            <a:pathLst>
              <a:path extrusionOk="0" h="38100" w="7049516">
                <a:moveTo>
                  <a:pt x="0" y="0"/>
                </a:moveTo>
                <a:lnTo>
                  <a:pt x="7049516" y="0"/>
                </a:lnTo>
                <a:lnTo>
                  <a:pt x="7049516" y="38100"/>
                </a:lnTo>
                <a:lnTo>
                  <a:pt x="0" y="38100"/>
                </a:lnTo>
                <a:close/>
              </a:path>
            </a:pathLst>
          </a:custGeom>
          <a:solidFill>
            <a:srgbClr val="14253D"/>
          </a:solidFill>
          <a:ln>
            <a:noFill/>
          </a:ln>
        </p:spPr>
      </p:sp>
      <p:sp>
        <p:nvSpPr>
          <p:cNvPr id="730" name="Google Shape;730;p30"/>
          <p:cNvSpPr txBox="1"/>
          <p:nvPr/>
        </p:nvSpPr>
        <p:spPr>
          <a:xfrm>
            <a:off x="12252017" y="2739695"/>
            <a:ext cx="5287251" cy="386953"/>
          </a:xfrm>
          <a:prstGeom prst="rect">
            <a:avLst/>
          </a:prstGeom>
          <a:noFill/>
          <a:ln>
            <a:noFill/>
          </a:ln>
        </p:spPr>
        <p:txBody>
          <a:bodyPr anchorCtr="0" anchor="t" bIns="0" lIns="0" spcFirstLastPara="1" rIns="0" wrap="square" tIns="0">
            <a:spAutoFit/>
          </a:bodyPr>
          <a:lstStyle/>
          <a:p>
            <a:pPr indent="0" lvl="0" marL="0" marR="0" rtl="0" algn="l">
              <a:lnSpc>
                <a:spcPct val="120032"/>
              </a:lnSpc>
              <a:spcBef>
                <a:spcPts val="0"/>
              </a:spcBef>
              <a:spcAft>
                <a:spcPts val="0"/>
              </a:spcAft>
              <a:buNone/>
            </a:pPr>
            <a:r>
              <a:rPr b="0" i="0" lang="en-US" spc="-12" sz="2476" u="none" cap="none" strike="noStrike">
                <a:solidFill>
                  <a:srgbClr val="0F1B2B"/>
                </a:solidFill>
                <a:latin typeface="Inter"/>
                <a:ea typeface="Inter"/>
                <a:cs typeface="Inter"/>
                <a:sym typeface="Inter"/>
              </a:rPr>
              <a:t>Penyesuaian Alokasi Kuota</a:t>
            </a:r>
            <a:endParaRPr/>
          </a:p>
        </p:txBody>
      </p:sp>
      <p:sp>
        <p:nvSpPr>
          <p:cNvPr id="731" name="Google Shape;731;p30"/>
          <p:cNvSpPr txBox="1"/>
          <p:nvPr/>
        </p:nvSpPr>
        <p:spPr>
          <a:xfrm>
            <a:off x="12252017" y="3278467"/>
            <a:ext cx="5287251" cy="279254"/>
          </a:xfrm>
          <a:prstGeom prst="rect">
            <a:avLst/>
          </a:prstGeom>
          <a:noFill/>
          <a:ln>
            <a:noFill/>
          </a:ln>
        </p:spPr>
        <p:txBody>
          <a:bodyPr anchorCtr="0" anchor="t" bIns="0" lIns="0" spcFirstLastPara="1" rIns="0" wrap="square" tIns="0">
            <a:spAutoFit/>
          </a:bodyPr>
          <a:lstStyle/>
          <a:p>
            <a:pPr indent="0" lvl="0" marL="0" marR="0" rtl="0" algn="l">
              <a:lnSpc>
                <a:spcPct val="129568"/>
              </a:lnSpc>
              <a:spcBef>
                <a:spcPts val="0"/>
              </a:spcBef>
              <a:spcAft>
                <a:spcPts val="0"/>
              </a:spcAft>
              <a:buNone/>
            </a:pPr>
            <a:r>
              <a:rPr b="0" i="0" lang="en-US" spc="15" sz="1576" u="none" cap="none" strike="noStrike">
                <a:solidFill>
                  <a:srgbClr val="66625A"/>
                </a:solidFill>
                <a:latin typeface="Inter"/>
                <a:ea typeface="Inter"/>
                <a:cs typeface="Inter"/>
                <a:sym typeface="Inter"/>
              </a:rPr>
              <a:t>Ritme 3: Reward &amp; Penalty</a:t>
            </a:r>
            <a:endParaRPr/>
          </a:p>
        </p:txBody>
      </p:sp>
      <p:sp>
        <p:nvSpPr>
          <p:cNvPr id="732" name="Google Shape;732;p30"/>
          <p:cNvSpPr txBox="1"/>
          <p:nvPr/>
        </p:nvSpPr>
        <p:spPr>
          <a:xfrm>
            <a:off x="12252017" y="3639436"/>
            <a:ext cx="5287251" cy="1182443"/>
          </a:xfrm>
          <a:prstGeom prst="rect">
            <a:avLst/>
          </a:prstGeom>
          <a:noFill/>
          <a:ln>
            <a:noFill/>
          </a:ln>
        </p:spPr>
        <p:txBody>
          <a:bodyPr anchorCtr="0" anchor="t" bIns="0" lIns="0" spcFirstLastPara="1" rIns="0" wrap="square" tIns="0">
            <a:spAutoFit/>
          </a:bodyPr>
          <a:lstStyle/>
          <a:p>
            <a:pPr indent="0" lvl="0" marL="0" marR="0" rtl="0" algn="l">
              <a:lnSpc>
                <a:spcPct val="138005"/>
              </a:lnSpc>
              <a:spcBef>
                <a:spcPts val="0"/>
              </a:spcBef>
              <a:spcAft>
                <a:spcPts val="0"/>
              </a:spcAft>
              <a:buNone/>
            </a:pPr>
            <a:r>
              <a:rPr b="0" i="0" lang="en-US" sz="2176" u="none" cap="none" strike="noStrike">
                <a:solidFill>
                  <a:srgbClr val="2B3542"/>
                </a:solidFill>
                <a:latin typeface="Inter"/>
                <a:ea typeface="Inter"/>
                <a:cs typeface="Inter"/>
                <a:sym typeface="Inter"/>
              </a:rPr>
              <a:t>Sesuaikan penalti dan alokasi kuota PO berdasarkan performa supplier untuk mendorong kepatuhan SLA yang ketat.</a:t>
            </a:r>
            <a:endParaRPr/>
          </a:p>
        </p:txBody>
      </p:sp>
      <p:sp>
        <p:nvSpPr>
          <p:cNvPr id="733" name="Google Shape;733;p30"/>
          <p:cNvSpPr txBox="1"/>
          <p:nvPr/>
        </p:nvSpPr>
        <p:spPr>
          <a:xfrm>
            <a:off x="12252017" y="6526492"/>
            <a:ext cx="5287251" cy="279254"/>
          </a:xfrm>
          <a:prstGeom prst="rect">
            <a:avLst/>
          </a:prstGeom>
          <a:noFill/>
          <a:ln>
            <a:noFill/>
          </a:ln>
        </p:spPr>
        <p:txBody>
          <a:bodyPr anchorCtr="0" anchor="t" bIns="0" lIns="0" spcFirstLastPara="1" rIns="0" wrap="square" tIns="0">
            <a:spAutoFit/>
          </a:bodyPr>
          <a:lstStyle/>
          <a:p>
            <a:pPr indent="0" lvl="0" marL="0" marR="0" rtl="0" algn="l">
              <a:lnSpc>
                <a:spcPct val="129568"/>
              </a:lnSpc>
              <a:spcBef>
                <a:spcPts val="0"/>
              </a:spcBef>
              <a:spcAft>
                <a:spcPts val="0"/>
              </a:spcAft>
              <a:buNone/>
            </a:pPr>
            <a:r>
              <a:rPr b="1" i="0" lang="en-US" spc="15" sz="1576" u="none" cap="none" strike="noStrike">
                <a:solidFill>
                  <a:srgbClr val="66625A"/>
                </a:solidFill>
                <a:latin typeface="Inter"/>
                <a:ea typeface="Inter"/>
                <a:cs typeface="Inter"/>
                <a:sym typeface="Inter"/>
              </a:rPr>
              <a:t>Fokus:</a:t>
            </a:r>
            <a:r>
              <a:rPr b="0" i="0" lang="en-US" spc="15" sz="1576" u="none" cap="none" strike="noStrike">
                <a:solidFill>
                  <a:srgbClr val="66625A"/>
                </a:solidFill>
                <a:latin typeface="Inter"/>
                <a:ea typeface="Inter"/>
                <a:cs typeface="Inter"/>
                <a:sym typeface="Inter"/>
              </a:rPr>
              <a:t> Disiplin kontrak pengadaan</a:t>
            </a:r>
            <a:endParaRPr/>
          </a:p>
        </p:txBody>
      </p:sp>
      <p:sp>
        <p:nvSpPr>
          <p:cNvPr id="734" name="Google Shape;734;p30"/>
          <p:cNvSpPr/>
          <p:nvPr/>
        </p:nvSpPr>
        <p:spPr>
          <a:xfrm>
            <a:off x="762581" y="6987578"/>
            <a:ext cx="16776668" cy="1533049"/>
          </a:xfrm>
          <a:custGeom>
            <a:rect b="b" l="l" r="r" t="t"/>
            <a:pathLst>
              <a:path extrusionOk="0" h="2044065" w="22368890">
                <a:moveTo>
                  <a:pt x="0" y="0"/>
                </a:moveTo>
                <a:lnTo>
                  <a:pt x="22368890" y="0"/>
                </a:lnTo>
                <a:lnTo>
                  <a:pt x="22368890" y="2044065"/>
                </a:lnTo>
                <a:lnTo>
                  <a:pt x="0" y="2044065"/>
                </a:lnTo>
                <a:close/>
              </a:path>
            </a:pathLst>
          </a:custGeom>
          <a:solidFill>
            <a:srgbClr val="EDF2F7"/>
          </a:solidFill>
          <a:ln>
            <a:noFill/>
          </a:ln>
        </p:spPr>
      </p:sp>
      <p:sp>
        <p:nvSpPr>
          <p:cNvPr id="735" name="Google Shape;735;p30"/>
          <p:cNvSpPr/>
          <p:nvPr/>
        </p:nvSpPr>
        <p:spPr>
          <a:xfrm>
            <a:off x="762581" y="6987578"/>
            <a:ext cx="16776668" cy="57150"/>
          </a:xfrm>
          <a:custGeom>
            <a:rect b="b" l="l" r="r" t="t"/>
            <a:pathLst>
              <a:path extrusionOk="0" h="76200" w="22368890">
                <a:moveTo>
                  <a:pt x="0" y="0"/>
                </a:moveTo>
                <a:lnTo>
                  <a:pt x="22368890" y="0"/>
                </a:lnTo>
                <a:lnTo>
                  <a:pt x="22368890" y="76200"/>
                </a:lnTo>
                <a:lnTo>
                  <a:pt x="0" y="76200"/>
                </a:lnTo>
                <a:close/>
              </a:path>
            </a:pathLst>
          </a:custGeom>
          <a:solidFill>
            <a:srgbClr val="0CC0DF"/>
          </a:solidFill>
          <a:ln>
            <a:noFill/>
          </a:ln>
        </p:spPr>
      </p:sp>
      <p:sp>
        <p:nvSpPr>
          <p:cNvPr id="736" name="Google Shape;736;p30"/>
          <p:cNvSpPr txBox="1"/>
          <p:nvPr/>
        </p:nvSpPr>
        <p:spPr>
          <a:xfrm>
            <a:off x="1105738" y="7225903"/>
            <a:ext cx="16433530" cy="226838"/>
          </a:xfrm>
          <a:prstGeom prst="rect">
            <a:avLst/>
          </a:prstGeom>
          <a:noFill/>
          <a:ln>
            <a:noFill/>
          </a:ln>
        </p:spPr>
        <p:txBody>
          <a:bodyPr anchorCtr="0" anchor="t" bIns="0" lIns="0" spcFirstLastPara="1" rIns="0" wrap="square" tIns="0">
            <a:spAutoFit/>
          </a:bodyPr>
          <a:lstStyle/>
          <a:p>
            <a:pPr indent="0" lvl="0" marL="0" marR="0" rtl="0" algn="l">
              <a:lnSpc>
                <a:spcPct val="119985"/>
              </a:lnSpc>
              <a:spcBef>
                <a:spcPts val="0"/>
              </a:spcBef>
              <a:spcAft>
                <a:spcPts val="0"/>
              </a:spcAft>
              <a:buNone/>
            </a:pPr>
            <a:r>
              <a:rPr b="0" i="0" lang="en-US" spc="142" sz="1426" u="none" cap="none" strike="noStrike">
                <a:solidFill>
                  <a:srgbClr val="2B3542"/>
                </a:solidFill>
                <a:latin typeface="Inter"/>
                <a:ea typeface="Inter"/>
                <a:cs typeface="Inter"/>
                <a:sym typeface="Inter"/>
              </a:rPr>
              <a:t>DAMPAK TATA KELOLA</a:t>
            </a:r>
            <a:endParaRPr/>
          </a:p>
        </p:txBody>
      </p:sp>
      <p:sp>
        <p:nvSpPr>
          <p:cNvPr id="737" name="Google Shape;737;p30"/>
          <p:cNvSpPr txBox="1"/>
          <p:nvPr/>
        </p:nvSpPr>
        <p:spPr>
          <a:xfrm>
            <a:off x="1105738" y="7533742"/>
            <a:ext cx="16090373" cy="800995"/>
          </a:xfrm>
          <a:prstGeom prst="rect">
            <a:avLst/>
          </a:prstGeom>
          <a:noFill/>
          <a:ln>
            <a:noFill/>
          </a:ln>
        </p:spPr>
        <p:txBody>
          <a:bodyPr anchorCtr="0" anchor="t" bIns="0" lIns="0" spcFirstLastPara="1" rIns="0" wrap="square" tIns="0">
            <a:spAutoFit/>
          </a:bodyPr>
          <a:lstStyle/>
          <a:p>
            <a:pPr indent="0" lvl="0" marL="0" marR="0" rtl="0" algn="l">
              <a:lnSpc>
                <a:spcPct val="138005"/>
              </a:lnSpc>
              <a:spcBef>
                <a:spcPts val="0"/>
              </a:spcBef>
              <a:spcAft>
                <a:spcPts val="0"/>
              </a:spcAft>
              <a:buNone/>
            </a:pPr>
            <a:r>
              <a:rPr b="0" i="0" lang="en-US" sz="2176" u="none" cap="none" strike="noStrike">
                <a:solidFill>
                  <a:srgbClr val="2B3542"/>
                </a:solidFill>
                <a:latin typeface="Inter"/>
                <a:ea typeface="Inter"/>
                <a:cs typeface="Inter"/>
                <a:sym typeface="Inter"/>
              </a:rPr>
              <a:t>Integrasi S&amp;OP bulanan menghapus silo fungsional antara Commercial, Inventory Planning, dan Procurement menuju satu angka komitmen bersama.</a:t>
            </a:r>
            <a:endParaRPr/>
          </a:p>
        </p:txBody>
      </p:sp>
      <p:sp>
        <p:nvSpPr>
          <p:cNvPr id="738" name="Google Shape;738;p30"/>
          <p:cNvSpPr txBox="1"/>
          <p:nvPr/>
        </p:nvSpPr>
        <p:spPr>
          <a:xfrm>
            <a:off x="762581" y="8690724"/>
            <a:ext cx="17539268" cy="272996"/>
          </a:xfrm>
          <a:prstGeom prst="rect">
            <a:avLst/>
          </a:prstGeom>
          <a:noFill/>
          <a:ln>
            <a:noFill/>
          </a:ln>
        </p:spPr>
        <p:txBody>
          <a:bodyPr anchorCtr="0" anchor="t" bIns="0" lIns="0" spcFirstLastPara="1" rIns="0" wrap="square" tIns="0">
            <a:spAutoFit/>
          </a:bodyPr>
          <a:lstStyle/>
          <a:p>
            <a:pPr indent="0" lvl="0" marL="0" marR="0" rtl="0" algn="l">
              <a:lnSpc>
                <a:spcPct val="134361"/>
              </a:lnSpc>
              <a:spcBef>
                <a:spcPts val="0"/>
              </a:spcBef>
              <a:spcAft>
                <a:spcPts val="0"/>
              </a:spcAft>
              <a:buNone/>
            </a:pPr>
            <a:r>
              <a:rPr b="0" i="0" lang="en-US" spc="85" sz="1426" u="none" cap="none" strike="noStrike">
                <a:solidFill>
                  <a:srgbClr val="66625A"/>
                </a:solidFill>
                <a:latin typeface="Inter"/>
                <a:ea typeface="Inter"/>
                <a:cs typeface="Inter"/>
                <a:sym typeface="Inter"/>
              </a:rPr>
              <a:t>SUMBER: PIAGAM TATA KELOLA S&amp;OP TERPADU; PEDOMAN KEMITRAAN PEMASOK GLOBAL FMCG</a:t>
            </a:r>
            <a:endParaRPr/>
          </a:p>
        </p:txBody>
      </p:sp>
      <p:sp>
        <p:nvSpPr>
          <p:cNvPr id="739" name="Google Shape;739;p30"/>
          <p:cNvSpPr/>
          <p:nvPr/>
        </p:nvSpPr>
        <p:spPr>
          <a:xfrm>
            <a:off x="0" y="9723091"/>
            <a:ext cx="18301811" cy="14287"/>
          </a:xfrm>
          <a:custGeom>
            <a:rect b="b" l="l" r="r" t="t"/>
            <a:pathLst>
              <a:path extrusionOk="0" h="19050" w="24402414">
                <a:moveTo>
                  <a:pt x="0" y="0"/>
                </a:moveTo>
                <a:lnTo>
                  <a:pt x="24402414" y="0"/>
                </a:lnTo>
                <a:lnTo>
                  <a:pt x="24402414" y="19050"/>
                </a:lnTo>
                <a:lnTo>
                  <a:pt x="0" y="19050"/>
                </a:lnTo>
                <a:close/>
              </a:path>
            </a:pathLst>
          </a:custGeom>
          <a:solidFill>
            <a:srgbClr val="2B3542">
              <a:alpha val="3922"/>
            </a:srgbClr>
          </a:solidFill>
          <a:ln>
            <a:noFill/>
          </a:ln>
        </p:spPr>
      </p:sp>
      <p:grpSp>
        <p:nvGrpSpPr>
          <p:cNvPr id="740" name="Google Shape;740;p30"/>
          <p:cNvGrpSpPr/>
          <p:nvPr/>
        </p:nvGrpSpPr>
        <p:grpSpPr>
          <a:xfrm>
            <a:off x="293380" y="9612742"/>
            <a:ext cx="7167785" cy="521294"/>
            <a:chOff x="0" y="-28575"/>
            <a:chExt cx="9557046" cy="695058"/>
          </a:xfrm>
        </p:grpSpPr>
        <p:sp>
          <p:nvSpPr>
            <p:cNvPr id="741" name="Google Shape;741;p30"/>
            <p:cNvSpPr/>
            <p:nvPr/>
          </p:nvSpPr>
          <p:spPr>
            <a:xfrm>
              <a:off x="0" y="0"/>
              <a:ext cx="9557046" cy="666483"/>
            </a:xfrm>
            <a:custGeom>
              <a:rect b="b" l="l" r="r" t="t"/>
              <a:pathLst>
                <a:path extrusionOk="0" h="666483" w="9557046">
                  <a:moveTo>
                    <a:pt x="0" y="0"/>
                  </a:moveTo>
                  <a:lnTo>
                    <a:pt x="9557046" y="0"/>
                  </a:lnTo>
                  <a:lnTo>
                    <a:pt x="9557046" y="666483"/>
                  </a:lnTo>
                  <a:lnTo>
                    <a:pt x="0" y="666483"/>
                  </a:lnTo>
                  <a:close/>
                </a:path>
              </a:pathLst>
            </a:custGeom>
            <a:blipFill rotWithShape="1">
              <a:blip r:embed="rId3">
                <a:alphaModFix amt="0"/>
              </a:blip>
              <a:stretch>
                <a:fillRect b="-181075" l="0" r="17296" t="-181075"/>
              </a:stretch>
            </a:blipFill>
            <a:ln>
              <a:noFill/>
            </a:ln>
          </p:spPr>
        </p:sp>
        <p:sp>
          <p:nvSpPr>
            <p:cNvPr id="742" name="Google Shape;742;p30"/>
            <p:cNvSpPr txBox="1"/>
            <p:nvPr/>
          </p:nvSpPr>
          <p:spPr>
            <a:xfrm>
              <a:off x="0" y="-28575"/>
              <a:ext cx="9557042" cy="695052"/>
            </a:xfrm>
            <a:prstGeom prst="rect">
              <a:avLst/>
            </a:prstGeom>
            <a:noFill/>
            <a:ln>
              <a:noFill/>
            </a:ln>
          </p:spPr>
          <p:txBody>
            <a:bodyPr anchorCtr="0" anchor="ctr" bIns="0" lIns="0" spcFirstLastPara="1" rIns="0" wrap="square" tIns="0">
              <a:noAutofit/>
            </a:bodyPr>
            <a:lstStyle/>
            <a:p>
              <a:pPr indent="0" lvl="0" marL="0" marR="0" rtl="0" algn="l">
                <a:lnSpc>
                  <a:spcPct val="138008"/>
                </a:lnSpc>
                <a:spcBef>
                  <a:spcPts val="0"/>
                </a:spcBef>
                <a:spcAft>
                  <a:spcPts val="0"/>
                </a:spcAft>
                <a:buNone/>
              </a:pPr>
              <a:r>
                <a:rPr b="0" i="0" lang="en-US" spc="142" sz="1426" u="none" cap="none" strike="noStrike">
                  <a:solidFill>
                    <a:srgbClr val="2B3542"/>
                  </a:solidFill>
                  <a:latin typeface="Inter"/>
                  <a:ea typeface="Inter"/>
                  <a:cs typeface="Inter"/>
                  <a:sym typeface="Inter"/>
                </a:rPr>
                <a:t>GLOBAL FMCG SUPPLY CHAIN ANALYTICS — EXECUTIVE REPORT</a:t>
              </a:r>
              <a:endParaRPr/>
            </a:p>
          </p:txBody>
        </p:sp>
      </p:grpSp>
      <p:grpSp>
        <p:nvGrpSpPr>
          <p:cNvPr id="743" name="Google Shape;743;p30"/>
          <p:cNvGrpSpPr/>
          <p:nvPr/>
        </p:nvGrpSpPr>
        <p:grpSpPr>
          <a:xfrm>
            <a:off x="15480401" y="64663"/>
            <a:ext cx="4516946" cy="1127273"/>
            <a:chOff x="0" y="-241102"/>
            <a:chExt cx="6022595" cy="1503032"/>
          </a:xfrm>
        </p:grpSpPr>
        <p:grpSp>
          <p:nvGrpSpPr>
            <p:cNvPr id="744" name="Google Shape;744;p30"/>
            <p:cNvGrpSpPr/>
            <p:nvPr/>
          </p:nvGrpSpPr>
          <p:grpSpPr>
            <a:xfrm>
              <a:off x="0" y="-241102"/>
              <a:ext cx="6022595" cy="1503032"/>
              <a:chOff x="0" y="-47625"/>
              <a:chExt cx="1189648" cy="296895"/>
            </a:xfrm>
          </p:grpSpPr>
          <p:sp>
            <p:nvSpPr>
              <p:cNvPr id="745" name="Google Shape;745;p30"/>
              <p:cNvSpPr/>
              <p:nvPr/>
            </p:nvSpPr>
            <p:spPr>
              <a:xfrm>
                <a:off x="0" y="0"/>
                <a:ext cx="1189648" cy="249270"/>
              </a:xfrm>
              <a:custGeom>
                <a:rect b="b" l="l" r="r" t="t"/>
                <a:pathLst>
                  <a:path extrusionOk="0" h="249270" w="1189648">
                    <a:moveTo>
                      <a:pt x="87413" y="0"/>
                    </a:moveTo>
                    <a:lnTo>
                      <a:pt x="1102236" y="0"/>
                    </a:lnTo>
                    <a:cubicBezTo>
                      <a:pt x="1125419" y="0"/>
                      <a:pt x="1147653" y="9210"/>
                      <a:pt x="1164046" y="25603"/>
                    </a:cubicBezTo>
                    <a:cubicBezTo>
                      <a:pt x="1180439" y="41996"/>
                      <a:pt x="1189648" y="64229"/>
                      <a:pt x="1189648" y="87413"/>
                    </a:cubicBezTo>
                    <a:lnTo>
                      <a:pt x="1189648" y="161858"/>
                    </a:lnTo>
                    <a:cubicBezTo>
                      <a:pt x="1189648" y="185041"/>
                      <a:pt x="1180439" y="207275"/>
                      <a:pt x="1164046" y="223668"/>
                    </a:cubicBezTo>
                    <a:cubicBezTo>
                      <a:pt x="1147653" y="240061"/>
                      <a:pt x="1125419" y="249270"/>
                      <a:pt x="1102236" y="249270"/>
                    </a:cubicBezTo>
                    <a:lnTo>
                      <a:pt x="87413" y="249270"/>
                    </a:lnTo>
                    <a:cubicBezTo>
                      <a:pt x="64229" y="249270"/>
                      <a:pt x="41996" y="240061"/>
                      <a:pt x="25603" y="223668"/>
                    </a:cubicBezTo>
                    <a:cubicBezTo>
                      <a:pt x="9210" y="207275"/>
                      <a:pt x="0" y="185041"/>
                      <a:pt x="0" y="161858"/>
                    </a:cubicBezTo>
                    <a:lnTo>
                      <a:pt x="0" y="87413"/>
                    </a:lnTo>
                    <a:cubicBezTo>
                      <a:pt x="0" y="64229"/>
                      <a:pt x="9210" y="41996"/>
                      <a:pt x="25603" y="25603"/>
                    </a:cubicBezTo>
                    <a:cubicBezTo>
                      <a:pt x="41996" y="9210"/>
                      <a:pt x="64229" y="0"/>
                      <a:pt x="87413" y="0"/>
                    </a:cubicBezTo>
                    <a:close/>
                  </a:path>
                </a:pathLst>
              </a:custGeom>
              <a:solidFill>
                <a:srgbClr val="FE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6" name="Google Shape;746;p30"/>
              <p:cNvSpPr txBox="1"/>
              <p:nvPr/>
            </p:nvSpPr>
            <p:spPr>
              <a:xfrm>
                <a:off x="0" y="-47625"/>
                <a:ext cx="1189648" cy="296895"/>
              </a:xfrm>
              <a:prstGeom prst="rect">
                <a:avLst/>
              </a:prstGeom>
              <a:noFill/>
              <a:ln>
                <a:noFill/>
              </a:ln>
            </p:spPr>
            <p:txBody>
              <a:bodyPr anchorCtr="0" anchor="ctr" bIns="50800" lIns="50800" spcFirstLastPara="1" rIns="50800" wrap="square" tIns="50800">
                <a:noAutofit/>
              </a:bodyPr>
              <a:lstStyle/>
              <a:p>
                <a:pPr indent="0" lvl="0" marL="0" marR="0" rtl="0" algn="ctr">
                  <a:lnSpc>
                    <a:spcPct val="155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747" name="Google Shape;747;p30"/>
            <p:cNvSpPr/>
            <p:nvPr/>
          </p:nvSpPr>
          <p:spPr>
            <a:xfrm>
              <a:off x="483631" y="226255"/>
              <a:ext cx="2676306" cy="809419"/>
            </a:xfrm>
            <a:custGeom>
              <a:rect b="b" l="l" r="r" t="t"/>
              <a:pathLst>
                <a:path extrusionOk="0" h="809419" w="2676306">
                  <a:moveTo>
                    <a:pt x="0" y="0"/>
                  </a:moveTo>
                  <a:lnTo>
                    <a:pt x="2676305" y="0"/>
                  </a:lnTo>
                  <a:lnTo>
                    <a:pt x="2676305" y="809420"/>
                  </a:lnTo>
                  <a:lnTo>
                    <a:pt x="0" y="809420"/>
                  </a:lnTo>
                  <a:lnTo>
                    <a:pt x="0" y="0"/>
                  </a:lnTo>
                  <a:close/>
                </a:path>
              </a:pathLst>
            </a:custGeom>
            <a:blipFill rotWithShape="1">
              <a:blip r:embed="rId4">
                <a:alphaModFix/>
              </a:blip>
              <a:stretch>
                <a:fillRect b="0" l="0" r="0" t="0"/>
              </a:stretch>
            </a:blipFill>
            <a:ln>
              <a:noFill/>
            </a:ln>
          </p:spPr>
        </p:sp>
      </p:gr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755" name="Shape 755"/>
        <p:cNvGrpSpPr/>
        <p:nvPr/>
      </p:nvGrpSpPr>
      <p:grpSpPr>
        <a:xfrm>
          <a:off x="0" y="0"/>
          <a:ext cx="0" cy="0"/>
          <a:chOff x="0" y="0"/>
          <a:chExt cx="0" cy="0"/>
        </a:xfrm>
      </p:grpSpPr>
      <p:sp>
        <p:nvSpPr>
          <p:cNvPr id="756" name="Google Shape;756;p31"/>
          <p:cNvSpPr/>
          <p:nvPr/>
        </p:nvSpPr>
        <p:spPr>
          <a:xfrm>
            <a:off x="0" y="0"/>
            <a:ext cx="18301811" cy="10295001"/>
          </a:xfrm>
          <a:custGeom>
            <a:rect b="b" l="l" r="r" t="t"/>
            <a:pathLst>
              <a:path extrusionOk="0" h="13726668" w="24402414">
                <a:moveTo>
                  <a:pt x="0" y="0"/>
                </a:moveTo>
                <a:lnTo>
                  <a:pt x="24402414" y="0"/>
                </a:lnTo>
                <a:lnTo>
                  <a:pt x="24402414" y="13726668"/>
                </a:lnTo>
                <a:lnTo>
                  <a:pt x="0" y="13726668"/>
                </a:lnTo>
                <a:close/>
              </a:path>
            </a:pathLst>
          </a:custGeom>
          <a:solidFill>
            <a:srgbClr val="EDF2F7"/>
          </a:solidFill>
          <a:ln>
            <a:noFill/>
          </a:ln>
        </p:spPr>
      </p:sp>
      <p:sp>
        <p:nvSpPr>
          <p:cNvPr id="757" name="Google Shape;757;p31"/>
          <p:cNvSpPr txBox="1"/>
          <p:nvPr/>
        </p:nvSpPr>
        <p:spPr>
          <a:xfrm>
            <a:off x="1067610" y="753075"/>
            <a:ext cx="17081716" cy="226838"/>
          </a:xfrm>
          <a:prstGeom prst="rect">
            <a:avLst/>
          </a:prstGeom>
          <a:noFill/>
          <a:ln>
            <a:noFill/>
          </a:ln>
        </p:spPr>
        <p:txBody>
          <a:bodyPr anchorCtr="0" anchor="t" bIns="0" lIns="0" spcFirstLastPara="1" rIns="0" wrap="square" tIns="0">
            <a:spAutoFit/>
          </a:bodyPr>
          <a:lstStyle/>
          <a:p>
            <a:pPr indent="0" lvl="0" marL="0" marR="0" rtl="0" algn="l">
              <a:lnSpc>
                <a:spcPct val="119985"/>
              </a:lnSpc>
              <a:spcBef>
                <a:spcPts val="0"/>
              </a:spcBef>
              <a:spcAft>
                <a:spcPts val="0"/>
              </a:spcAft>
              <a:buNone/>
            </a:pPr>
            <a:r>
              <a:rPr b="0" i="0" lang="en-US" spc="199" sz="1426" u="none" cap="none" strike="noStrike">
                <a:solidFill>
                  <a:srgbClr val="012252"/>
                </a:solidFill>
                <a:latin typeface="Inter"/>
                <a:ea typeface="Inter"/>
                <a:cs typeface="Inter"/>
                <a:sym typeface="Inter"/>
              </a:rPr>
              <a:t>15 KESIMPULAN &amp; DAMPAK STRATEGIS</a:t>
            </a:r>
            <a:endParaRPr/>
          </a:p>
        </p:txBody>
      </p:sp>
      <p:sp>
        <p:nvSpPr>
          <p:cNvPr id="758" name="Google Shape;758;p31"/>
          <p:cNvSpPr/>
          <p:nvPr/>
        </p:nvSpPr>
        <p:spPr>
          <a:xfrm>
            <a:off x="1067610" y="1244432"/>
            <a:ext cx="343090" cy="85725"/>
          </a:xfrm>
          <a:custGeom>
            <a:rect b="b" l="l" r="r" t="t"/>
            <a:pathLst>
              <a:path extrusionOk="0" h="114300" w="457454">
                <a:moveTo>
                  <a:pt x="0" y="57150"/>
                </a:moveTo>
                <a:cubicBezTo>
                  <a:pt x="0" y="25654"/>
                  <a:pt x="25654" y="0"/>
                  <a:pt x="57150" y="0"/>
                </a:cubicBezTo>
                <a:lnTo>
                  <a:pt x="400304" y="0"/>
                </a:lnTo>
                <a:cubicBezTo>
                  <a:pt x="431927" y="0"/>
                  <a:pt x="457454" y="25654"/>
                  <a:pt x="457454" y="57150"/>
                </a:cubicBezTo>
                <a:cubicBezTo>
                  <a:pt x="457454" y="88773"/>
                  <a:pt x="431800" y="114300"/>
                  <a:pt x="400304" y="114300"/>
                </a:cubicBezTo>
                <a:lnTo>
                  <a:pt x="57150" y="114300"/>
                </a:lnTo>
                <a:cubicBezTo>
                  <a:pt x="25654" y="114427"/>
                  <a:pt x="0" y="88773"/>
                  <a:pt x="0" y="57150"/>
                </a:cubicBezTo>
                <a:close/>
              </a:path>
            </a:pathLst>
          </a:custGeom>
          <a:solidFill>
            <a:srgbClr val="C467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9" name="Google Shape;759;p31"/>
          <p:cNvSpPr txBox="1"/>
          <p:nvPr/>
        </p:nvSpPr>
        <p:spPr>
          <a:xfrm>
            <a:off x="1067610" y="1780632"/>
            <a:ext cx="16166630" cy="1087786"/>
          </a:xfrm>
          <a:prstGeom prst="rect">
            <a:avLst/>
          </a:prstGeom>
          <a:noFill/>
          <a:ln>
            <a:noFill/>
          </a:ln>
        </p:spPr>
        <p:txBody>
          <a:bodyPr anchorCtr="0" anchor="t" bIns="0" lIns="0" spcFirstLastPara="1" rIns="0" wrap="square" tIns="0">
            <a:spAutoFit/>
          </a:bodyPr>
          <a:lstStyle/>
          <a:p>
            <a:pPr indent="0" lvl="0" marL="0" marR="0" rtl="0" algn="l">
              <a:lnSpc>
                <a:spcPct val="111620"/>
              </a:lnSpc>
              <a:spcBef>
                <a:spcPts val="0"/>
              </a:spcBef>
              <a:spcAft>
                <a:spcPts val="0"/>
              </a:spcAft>
              <a:buNone/>
            </a:pPr>
            <a:r>
              <a:rPr b="0" i="0" lang="en-US" spc="-18" sz="3752" u="none" cap="none" strike="noStrike">
                <a:solidFill>
                  <a:srgbClr val="012252"/>
                </a:solidFill>
                <a:latin typeface="Arimo"/>
                <a:ea typeface="Arimo"/>
                <a:cs typeface="Arimo"/>
                <a:sym typeface="Arimo"/>
              </a:rPr>
              <a:t>Strategi Rantai Pasok Masa Depan: Memitigasi Risiko Melalui Analitik Prediktif</a:t>
            </a:r>
            <a:endParaRPr/>
          </a:p>
        </p:txBody>
      </p:sp>
      <p:sp>
        <p:nvSpPr>
          <p:cNvPr id="760" name="Google Shape;760;p31"/>
          <p:cNvSpPr txBox="1"/>
          <p:nvPr/>
        </p:nvSpPr>
        <p:spPr>
          <a:xfrm>
            <a:off x="1067610" y="3006690"/>
            <a:ext cx="16166630" cy="925201"/>
          </a:xfrm>
          <a:prstGeom prst="rect">
            <a:avLst/>
          </a:prstGeom>
          <a:noFill/>
          <a:ln>
            <a:noFill/>
          </a:ln>
        </p:spPr>
        <p:txBody>
          <a:bodyPr anchorCtr="0" anchor="t" bIns="0" lIns="0" spcFirstLastPara="1" rIns="0" wrap="square" tIns="0">
            <a:spAutoFit/>
          </a:bodyPr>
          <a:lstStyle/>
          <a:p>
            <a:pPr indent="0" lvl="0" marL="0" marR="0" rtl="0" algn="l">
              <a:lnSpc>
                <a:spcPct val="138045"/>
              </a:lnSpc>
              <a:spcBef>
                <a:spcPts val="0"/>
              </a:spcBef>
              <a:spcAft>
                <a:spcPts val="0"/>
              </a:spcAft>
              <a:buNone/>
            </a:pPr>
            <a:r>
              <a:rPr b="0" i="0" lang="en-US" sz="2476" u="none" cap="none" strike="noStrike">
                <a:solidFill>
                  <a:srgbClr val="012252"/>
                </a:solidFill>
                <a:latin typeface="Inter"/>
                <a:ea typeface="Inter"/>
                <a:cs typeface="Inter"/>
                <a:sym typeface="Inter"/>
              </a:rPr>
              <a:t>Integrasi analisis data Python dan dashboard interaktif Power BI membentuk fondasi pengambilan keputusan S&amp;OP lintas negara.</a:t>
            </a:r>
            <a:endParaRPr/>
          </a:p>
        </p:txBody>
      </p:sp>
      <p:sp>
        <p:nvSpPr>
          <p:cNvPr id="761" name="Google Shape;761;p31"/>
          <p:cNvSpPr/>
          <p:nvPr/>
        </p:nvSpPr>
        <p:spPr>
          <a:xfrm>
            <a:off x="1053313" y="4378223"/>
            <a:ext cx="524256" cy="524256"/>
          </a:xfrm>
          <a:custGeom>
            <a:rect b="b" l="l" r="r" t="t"/>
            <a:pathLst>
              <a:path extrusionOk="0" h="699008" w="699008">
                <a:moveTo>
                  <a:pt x="0" y="349504"/>
                </a:moveTo>
                <a:cubicBezTo>
                  <a:pt x="0" y="156464"/>
                  <a:pt x="156464" y="0"/>
                  <a:pt x="349504" y="0"/>
                </a:cubicBezTo>
                <a:cubicBezTo>
                  <a:pt x="542544" y="0"/>
                  <a:pt x="699008" y="156464"/>
                  <a:pt x="699008" y="349504"/>
                </a:cubicBezTo>
                <a:cubicBezTo>
                  <a:pt x="699008" y="542544"/>
                  <a:pt x="542544" y="699008"/>
                  <a:pt x="349504" y="699008"/>
                </a:cubicBezTo>
                <a:cubicBezTo>
                  <a:pt x="156464" y="699008"/>
                  <a:pt x="0" y="542544"/>
                  <a:pt x="0" y="349504"/>
                </a:cubicBezTo>
                <a:close/>
              </a:path>
            </a:pathLst>
          </a:custGeom>
          <a:blipFill rotWithShape="1">
            <a:blip r:embed="rId3">
              <a:alphaModFix amt="0"/>
            </a:blip>
            <a:stretch>
              <a:fillRect b="-5" l="-78308" r="-78313" t="0"/>
            </a:stretch>
          </a:blipFill>
          <a:ln cap="sq" cmpd="sng" w="28575">
            <a:solidFill>
              <a:srgbClr val="CCD1D6"/>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2" name="Google Shape;762;p31"/>
          <p:cNvSpPr txBox="1"/>
          <p:nvPr/>
        </p:nvSpPr>
        <p:spPr>
          <a:xfrm>
            <a:off x="1236955" y="4545016"/>
            <a:ext cx="1071924" cy="219265"/>
          </a:xfrm>
          <a:prstGeom prst="rect">
            <a:avLst/>
          </a:prstGeom>
          <a:noFill/>
          <a:ln>
            <a:noFill/>
          </a:ln>
        </p:spPr>
        <p:txBody>
          <a:bodyPr anchorCtr="0" anchor="t" bIns="0" lIns="0" spcFirstLastPara="1" rIns="0" wrap="square" tIns="0">
            <a:spAutoFit/>
          </a:bodyPr>
          <a:lstStyle/>
          <a:p>
            <a:pPr indent="0" lvl="0" marL="0" marR="0" rtl="0" algn="l">
              <a:lnSpc>
                <a:spcPct val="99589"/>
              </a:lnSpc>
              <a:spcBef>
                <a:spcPts val="0"/>
              </a:spcBef>
              <a:spcAft>
                <a:spcPts val="0"/>
              </a:spcAft>
              <a:buNone/>
            </a:pPr>
            <a:r>
              <a:rPr b="0" i="0" lang="en-US" sz="1951" u="none" cap="none" strike="noStrike">
                <a:solidFill>
                  <a:srgbClr val="012252"/>
                </a:solidFill>
                <a:latin typeface="Inter"/>
                <a:ea typeface="Inter"/>
                <a:cs typeface="Inter"/>
                <a:sym typeface="Inter"/>
              </a:rPr>
              <a:t>1</a:t>
            </a:r>
            <a:endParaRPr/>
          </a:p>
        </p:txBody>
      </p:sp>
      <p:sp>
        <p:nvSpPr>
          <p:cNvPr id="763" name="Google Shape;763;p31"/>
          <p:cNvSpPr txBox="1"/>
          <p:nvPr/>
        </p:nvSpPr>
        <p:spPr>
          <a:xfrm>
            <a:off x="1792053" y="4350763"/>
            <a:ext cx="15442178" cy="857777"/>
          </a:xfrm>
          <a:prstGeom prst="rect">
            <a:avLst/>
          </a:prstGeom>
          <a:noFill/>
          <a:ln>
            <a:noFill/>
          </a:ln>
        </p:spPr>
        <p:txBody>
          <a:bodyPr anchorCtr="0" anchor="t" bIns="0" lIns="0" spcFirstLastPara="1" rIns="0" wrap="square" tIns="0">
            <a:spAutoFit/>
          </a:bodyPr>
          <a:lstStyle/>
          <a:p>
            <a:pPr indent="0" lvl="0" marL="0" marR="0" rtl="0" algn="l">
              <a:lnSpc>
                <a:spcPct val="138045"/>
              </a:lnSpc>
              <a:spcBef>
                <a:spcPts val="0"/>
              </a:spcBef>
              <a:spcAft>
                <a:spcPts val="0"/>
              </a:spcAft>
              <a:buNone/>
            </a:pPr>
            <a:r>
              <a:rPr b="1" i="0" lang="en-US" sz="2476" u="none" cap="none" strike="noStrike">
                <a:solidFill>
                  <a:srgbClr val="012252"/>
                </a:solidFill>
                <a:latin typeface="Inter"/>
                <a:ea typeface="Inter"/>
                <a:cs typeface="Inter"/>
                <a:sym typeface="Inter"/>
              </a:rPr>
              <a:t>Pemulihan potensi penjualan:</a:t>
            </a:r>
            <a:r>
              <a:rPr b="0" i="0" lang="en-US" sz="2476" u="none" cap="none" strike="noStrike">
                <a:solidFill>
                  <a:srgbClr val="012252"/>
                </a:solidFill>
                <a:latin typeface="Inter"/>
                <a:ea typeface="Inter"/>
                <a:cs typeface="Inter"/>
                <a:sym typeface="Inter"/>
              </a:rPr>
              <a:t> risiko stockout turun hingga </a:t>
            </a:r>
            <a:r>
              <a:rPr b="0" i="0" lang="en-US" sz="2476" u="none" cap="none" strike="noStrike">
                <a:solidFill>
                  <a:srgbClr val="0CC0DF"/>
                </a:solidFill>
                <a:latin typeface="Inter"/>
                <a:ea typeface="Inter"/>
                <a:cs typeface="Inter"/>
                <a:sym typeface="Inter"/>
              </a:rPr>
              <a:t>40%</a:t>
            </a:r>
            <a:r>
              <a:rPr b="0" i="0" lang="en-US" sz="2476" u="none" cap="none" strike="noStrike">
                <a:solidFill>
                  <a:srgbClr val="012252"/>
                </a:solidFill>
                <a:latin typeface="Inter"/>
                <a:ea typeface="Inter"/>
                <a:cs typeface="Inter"/>
                <a:sym typeface="Inter"/>
              </a:rPr>
              <a:t> melalui safety stock dinamis pada SKU kelas A.</a:t>
            </a:r>
            <a:endParaRPr/>
          </a:p>
        </p:txBody>
      </p:sp>
      <p:sp>
        <p:nvSpPr>
          <p:cNvPr id="764" name="Google Shape;764;p31"/>
          <p:cNvSpPr/>
          <p:nvPr/>
        </p:nvSpPr>
        <p:spPr>
          <a:xfrm>
            <a:off x="1053313" y="5967012"/>
            <a:ext cx="524256" cy="524256"/>
          </a:xfrm>
          <a:custGeom>
            <a:rect b="b" l="l" r="r" t="t"/>
            <a:pathLst>
              <a:path extrusionOk="0" h="699008" w="699008">
                <a:moveTo>
                  <a:pt x="0" y="349504"/>
                </a:moveTo>
                <a:cubicBezTo>
                  <a:pt x="0" y="156464"/>
                  <a:pt x="156464" y="0"/>
                  <a:pt x="349504" y="0"/>
                </a:cubicBezTo>
                <a:cubicBezTo>
                  <a:pt x="542544" y="0"/>
                  <a:pt x="699008" y="156464"/>
                  <a:pt x="699008" y="349504"/>
                </a:cubicBezTo>
                <a:cubicBezTo>
                  <a:pt x="699008" y="542544"/>
                  <a:pt x="542544" y="699008"/>
                  <a:pt x="349504" y="699008"/>
                </a:cubicBezTo>
                <a:cubicBezTo>
                  <a:pt x="156464" y="699008"/>
                  <a:pt x="0" y="542544"/>
                  <a:pt x="0" y="349504"/>
                </a:cubicBezTo>
                <a:close/>
              </a:path>
            </a:pathLst>
          </a:custGeom>
          <a:blipFill rotWithShape="1">
            <a:blip r:embed="rId3">
              <a:alphaModFix amt="0"/>
            </a:blip>
            <a:stretch>
              <a:fillRect b="-5" l="-78308" r="-78313" t="0"/>
            </a:stretch>
          </a:blipFill>
          <a:ln cap="sq" cmpd="sng" w="28575">
            <a:solidFill>
              <a:srgbClr val="CCD1D6"/>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5" name="Google Shape;765;p31"/>
          <p:cNvSpPr txBox="1"/>
          <p:nvPr/>
        </p:nvSpPr>
        <p:spPr>
          <a:xfrm>
            <a:off x="1236955" y="6133814"/>
            <a:ext cx="1071924" cy="219265"/>
          </a:xfrm>
          <a:prstGeom prst="rect">
            <a:avLst/>
          </a:prstGeom>
          <a:noFill/>
          <a:ln>
            <a:noFill/>
          </a:ln>
        </p:spPr>
        <p:txBody>
          <a:bodyPr anchorCtr="0" anchor="t" bIns="0" lIns="0" spcFirstLastPara="1" rIns="0" wrap="square" tIns="0">
            <a:spAutoFit/>
          </a:bodyPr>
          <a:lstStyle/>
          <a:p>
            <a:pPr indent="0" lvl="0" marL="0" marR="0" rtl="0" algn="l">
              <a:lnSpc>
                <a:spcPct val="99589"/>
              </a:lnSpc>
              <a:spcBef>
                <a:spcPts val="0"/>
              </a:spcBef>
              <a:spcAft>
                <a:spcPts val="0"/>
              </a:spcAft>
              <a:buNone/>
            </a:pPr>
            <a:r>
              <a:rPr b="0" i="0" lang="en-US" sz="1951" u="none" cap="none" strike="noStrike">
                <a:solidFill>
                  <a:srgbClr val="012252"/>
                </a:solidFill>
                <a:latin typeface="Inter"/>
                <a:ea typeface="Inter"/>
                <a:cs typeface="Inter"/>
                <a:sym typeface="Inter"/>
              </a:rPr>
              <a:t>2</a:t>
            </a:r>
            <a:endParaRPr/>
          </a:p>
        </p:txBody>
      </p:sp>
      <p:sp>
        <p:nvSpPr>
          <p:cNvPr id="766" name="Google Shape;766;p31"/>
          <p:cNvSpPr txBox="1"/>
          <p:nvPr/>
        </p:nvSpPr>
        <p:spPr>
          <a:xfrm>
            <a:off x="1792053" y="5939561"/>
            <a:ext cx="15442178" cy="857777"/>
          </a:xfrm>
          <a:prstGeom prst="rect">
            <a:avLst/>
          </a:prstGeom>
          <a:noFill/>
          <a:ln>
            <a:noFill/>
          </a:ln>
        </p:spPr>
        <p:txBody>
          <a:bodyPr anchorCtr="0" anchor="t" bIns="0" lIns="0" spcFirstLastPara="1" rIns="0" wrap="square" tIns="0">
            <a:spAutoFit/>
          </a:bodyPr>
          <a:lstStyle/>
          <a:p>
            <a:pPr indent="0" lvl="0" marL="0" marR="0" rtl="0" algn="l">
              <a:lnSpc>
                <a:spcPct val="138045"/>
              </a:lnSpc>
              <a:spcBef>
                <a:spcPts val="0"/>
              </a:spcBef>
              <a:spcAft>
                <a:spcPts val="0"/>
              </a:spcAft>
              <a:buNone/>
            </a:pPr>
            <a:r>
              <a:rPr b="1" i="0" lang="en-US" sz="2476" u="none" cap="none" strike="noStrike">
                <a:solidFill>
                  <a:srgbClr val="012252"/>
                </a:solidFill>
                <a:latin typeface="Inter"/>
                <a:ea typeface="Inter"/>
                <a:cs typeface="Inter"/>
                <a:sym typeface="Inter"/>
              </a:rPr>
              <a:t>Efisiensi modal kerja:</a:t>
            </a:r>
            <a:r>
              <a:rPr b="0" i="0" lang="en-US" sz="2476" u="none" cap="none" strike="noStrike">
                <a:solidFill>
                  <a:srgbClr val="012252"/>
                </a:solidFill>
                <a:latin typeface="Inter"/>
                <a:ea typeface="Inter"/>
                <a:cs typeface="Inter"/>
                <a:sym typeface="Inter"/>
              </a:rPr>
              <a:t> holding cost turun </a:t>
            </a:r>
            <a:r>
              <a:rPr b="0" i="0" lang="en-US" sz="2476" u="none" cap="none" strike="noStrike">
                <a:solidFill>
                  <a:srgbClr val="0CC0DF"/>
                </a:solidFill>
                <a:latin typeface="Inter"/>
                <a:ea typeface="Inter"/>
                <a:cs typeface="Inter"/>
                <a:sym typeface="Inter"/>
              </a:rPr>
              <a:t>15–20%</a:t>
            </a:r>
            <a:r>
              <a:rPr b="0" i="0" lang="en-US" sz="2476" u="none" cap="none" strike="noStrike">
                <a:solidFill>
                  <a:srgbClr val="012252"/>
                </a:solidFill>
                <a:latin typeface="Inter"/>
                <a:ea typeface="Inter"/>
                <a:cs typeface="Inter"/>
                <a:sym typeface="Inter"/>
              </a:rPr>
              <a:t> melalui pembersihan overstock </a:t>
            </a:r>
            <a:r>
              <a:rPr b="0" i="0" lang="en-US" sz="2476" u="none" cap="none" strike="noStrike">
                <a:solidFill>
                  <a:srgbClr val="0394BE"/>
                </a:solidFill>
                <a:latin typeface="Inter"/>
                <a:ea typeface="Inter"/>
                <a:cs typeface="Inter"/>
                <a:sym typeface="Inter"/>
              </a:rPr>
              <a:t>kategori C ($76,0M</a:t>
            </a:r>
            <a:r>
              <a:rPr b="0" i="0" lang="en-US" sz="2476" u="none" cap="none" strike="noStrike">
                <a:solidFill>
                  <a:srgbClr val="012252"/>
                </a:solidFill>
                <a:latin typeface="Inter"/>
                <a:ea typeface="Inter"/>
                <a:cs typeface="Inter"/>
                <a:sym typeface="Inter"/>
              </a:rPr>
              <a:t> berkurang secara bertahap).</a:t>
            </a:r>
            <a:endParaRPr/>
          </a:p>
        </p:txBody>
      </p:sp>
      <p:sp>
        <p:nvSpPr>
          <p:cNvPr id="767" name="Google Shape;767;p31"/>
          <p:cNvSpPr/>
          <p:nvPr/>
        </p:nvSpPr>
        <p:spPr>
          <a:xfrm>
            <a:off x="1053313" y="7963767"/>
            <a:ext cx="524256" cy="524256"/>
          </a:xfrm>
          <a:custGeom>
            <a:rect b="b" l="l" r="r" t="t"/>
            <a:pathLst>
              <a:path extrusionOk="0" h="699008" w="699008">
                <a:moveTo>
                  <a:pt x="0" y="349504"/>
                </a:moveTo>
                <a:cubicBezTo>
                  <a:pt x="0" y="156464"/>
                  <a:pt x="156464" y="0"/>
                  <a:pt x="349504" y="0"/>
                </a:cubicBezTo>
                <a:cubicBezTo>
                  <a:pt x="542544" y="0"/>
                  <a:pt x="699008" y="156464"/>
                  <a:pt x="699008" y="349504"/>
                </a:cubicBezTo>
                <a:cubicBezTo>
                  <a:pt x="699008" y="542544"/>
                  <a:pt x="542544" y="699008"/>
                  <a:pt x="349504" y="699008"/>
                </a:cubicBezTo>
                <a:cubicBezTo>
                  <a:pt x="156464" y="699008"/>
                  <a:pt x="0" y="542544"/>
                  <a:pt x="0" y="349504"/>
                </a:cubicBezTo>
                <a:close/>
              </a:path>
            </a:pathLst>
          </a:custGeom>
          <a:blipFill rotWithShape="1">
            <a:blip r:embed="rId3">
              <a:alphaModFix amt="0"/>
            </a:blip>
            <a:stretch>
              <a:fillRect b="-5" l="-78308" r="-78313" t="0"/>
            </a:stretch>
          </a:blipFill>
          <a:ln cap="sq" cmpd="sng" w="28575">
            <a:solidFill>
              <a:srgbClr val="CCD1D6"/>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8" name="Google Shape;768;p31"/>
          <p:cNvSpPr txBox="1"/>
          <p:nvPr/>
        </p:nvSpPr>
        <p:spPr>
          <a:xfrm>
            <a:off x="1236955" y="8130559"/>
            <a:ext cx="1071924" cy="219265"/>
          </a:xfrm>
          <a:prstGeom prst="rect">
            <a:avLst/>
          </a:prstGeom>
          <a:noFill/>
          <a:ln>
            <a:noFill/>
          </a:ln>
        </p:spPr>
        <p:txBody>
          <a:bodyPr anchorCtr="0" anchor="t" bIns="0" lIns="0" spcFirstLastPara="1" rIns="0" wrap="square" tIns="0">
            <a:spAutoFit/>
          </a:bodyPr>
          <a:lstStyle/>
          <a:p>
            <a:pPr indent="0" lvl="0" marL="0" marR="0" rtl="0" algn="l">
              <a:lnSpc>
                <a:spcPct val="99589"/>
              </a:lnSpc>
              <a:spcBef>
                <a:spcPts val="0"/>
              </a:spcBef>
              <a:spcAft>
                <a:spcPts val="0"/>
              </a:spcAft>
              <a:buNone/>
            </a:pPr>
            <a:r>
              <a:rPr b="0" i="0" lang="en-US" sz="1951" u="none" cap="none" strike="noStrike">
                <a:solidFill>
                  <a:srgbClr val="012252"/>
                </a:solidFill>
                <a:latin typeface="Inter"/>
                <a:ea typeface="Inter"/>
                <a:cs typeface="Inter"/>
                <a:sym typeface="Inter"/>
              </a:rPr>
              <a:t>3</a:t>
            </a:r>
            <a:endParaRPr/>
          </a:p>
        </p:txBody>
      </p:sp>
      <p:sp>
        <p:nvSpPr>
          <p:cNvPr id="769" name="Google Shape;769;p31"/>
          <p:cNvSpPr txBox="1"/>
          <p:nvPr/>
        </p:nvSpPr>
        <p:spPr>
          <a:xfrm>
            <a:off x="1792053" y="7936306"/>
            <a:ext cx="15442178" cy="925201"/>
          </a:xfrm>
          <a:prstGeom prst="rect">
            <a:avLst/>
          </a:prstGeom>
          <a:noFill/>
          <a:ln>
            <a:noFill/>
          </a:ln>
        </p:spPr>
        <p:txBody>
          <a:bodyPr anchorCtr="0" anchor="t" bIns="0" lIns="0" spcFirstLastPara="1" rIns="0" wrap="square" tIns="0">
            <a:spAutoFit/>
          </a:bodyPr>
          <a:lstStyle/>
          <a:p>
            <a:pPr indent="0" lvl="0" marL="0" marR="0" rtl="0" algn="l">
              <a:lnSpc>
                <a:spcPct val="138045"/>
              </a:lnSpc>
              <a:spcBef>
                <a:spcPts val="0"/>
              </a:spcBef>
              <a:spcAft>
                <a:spcPts val="0"/>
              </a:spcAft>
              <a:buNone/>
            </a:pPr>
            <a:r>
              <a:rPr b="1" i="0" lang="en-US" sz="2476" u="none" cap="none" strike="noStrike">
                <a:solidFill>
                  <a:srgbClr val="012252"/>
                </a:solidFill>
                <a:latin typeface="Inter"/>
                <a:ea typeface="Inter"/>
                <a:cs typeface="Inter"/>
                <a:sym typeface="Inter"/>
              </a:rPr>
              <a:t>Proteksi profitabilitas:</a:t>
            </a:r>
            <a:r>
              <a:rPr b="0" i="0" lang="en-US" sz="2476" u="none" cap="none" strike="noStrike">
                <a:solidFill>
                  <a:srgbClr val="012252"/>
                </a:solidFill>
                <a:latin typeface="Inter"/>
                <a:ea typeface="Inter"/>
                <a:cs typeface="Inter"/>
                <a:sym typeface="Inter"/>
              </a:rPr>
              <a:t> margin bersih meningkat melalui strategi promosi terarah pada kategori yang terbukti elastis.</a:t>
            </a:r>
            <a:endParaRPr/>
          </a:p>
        </p:txBody>
      </p:sp>
      <p:sp>
        <p:nvSpPr>
          <p:cNvPr id="770" name="Google Shape;770;p31"/>
          <p:cNvSpPr/>
          <p:nvPr/>
        </p:nvSpPr>
        <p:spPr>
          <a:xfrm>
            <a:off x="1067610" y="5416963"/>
            <a:ext cx="16166592" cy="19050"/>
          </a:xfrm>
          <a:custGeom>
            <a:rect b="b" l="l" r="r" t="t"/>
            <a:pathLst>
              <a:path extrusionOk="0" h="25400" w="21555456">
                <a:moveTo>
                  <a:pt x="0" y="0"/>
                </a:moveTo>
                <a:lnTo>
                  <a:pt x="21555456" y="0"/>
                </a:lnTo>
                <a:lnTo>
                  <a:pt x="21555456" y="25400"/>
                </a:lnTo>
                <a:lnTo>
                  <a:pt x="0" y="25400"/>
                </a:lnTo>
                <a:close/>
              </a:path>
            </a:pathLst>
          </a:custGeom>
          <a:solidFill>
            <a:srgbClr val="8C877D"/>
          </a:solidFill>
          <a:ln>
            <a:noFill/>
          </a:ln>
        </p:spPr>
      </p:sp>
      <p:sp>
        <p:nvSpPr>
          <p:cNvPr id="771" name="Google Shape;771;p31"/>
          <p:cNvSpPr/>
          <p:nvPr/>
        </p:nvSpPr>
        <p:spPr>
          <a:xfrm>
            <a:off x="1067610" y="7413708"/>
            <a:ext cx="16166592" cy="19050"/>
          </a:xfrm>
          <a:custGeom>
            <a:rect b="b" l="l" r="r" t="t"/>
            <a:pathLst>
              <a:path extrusionOk="0" h="25400" w="21555456">
                <a:moveTo>
                  <a:pt x="0" y="0"/>
                </a:moveTo>
                <a:lnTo>
                  <a:pt x="21555456" y="0"/>
                </a:lnTo>
                <a:lnTo>
                  <a:pt x="21555456" y="25400"/>
                </a:lnTo>
                <a:lnTo>
                  <a:pt x="0" y="25400"/>
                </a:lnTo>
                <a:close/>
              </a:path>
            </a:pathLst>
          </a:custGeom>
          <a:solidFill>
            <a:srgbClr val="8C877D"/>
          </a:solidFill>
          <a:ln>
            <a:noFill/>
          </a:ln>
        </p:spPr>
      </p:sp>
      <p:grpSp>
        <p:nvGrpSpPr>
          <p:cNvPr id="772" name="Google Shape;772;p31"/>
          <p:cNvGrpSpPr/>
          <p:nvPr/>
        </p:nvGrpSpPr>
        <p:grpSpPr>
          <a:xfrm>
            <a:off x="15480401" y="64663"/>
            <a:ext cx="4516946" cy="1127273"/>
            <a:chOff x="0" y="-241102"/>
            <a:chExt cx="6022595" cy="1503032"/>
          </a:xfrm>
        </p:grpSpPr>
        <p:grpSp>
          <p:nvGrpSpPr>
            <p:cNvPr id="773" name="Google Shape;773;p31"/>
            <p:cNvGrpSpPr/>
            <p:nvPr/>
          </p:nvGrpSpPr>
          <p:grpSpPr>
            <a:xfrm>
              <a:off x="0" y="-241102"/>
              <a:ext cx="6022595" cy="1503032"/>
              <a:chOff x="0" y="-47625"/>
              <a:chExt cx="1189648" cy="296895"/>
            </a:xfrm>
          </p:grpSpPr>
          <p:sp>
            <p:nvSpPr>
              <p:cNvPr id="774" name="Google Shape;774;p31"/>
              <p:cNvSpPr/>
              <p:nvPr/>
            </p:nvSpPr>
            <p:spPr>
              <a:xfrm>
                <a:off x="0" y="0"/>
                <a:ext cx="1189648" cy="249270"/>
              </a:xfrm>
              <a:custGeom>
                <a:rect b="b" l="l" r="r" t="t"/>
                <a:pathLst>
                  <a:path extrusionOk="0" h="249270" w="1189648">
                    <a:moveTo>
                      <a:pt x="87413" y="0"/>
                    </a:moveTo>
                    <a:lnTo>
                      <a:pt x="1102236" y="0"/>
                    </a:lnTo>
                    <a:cubicBezTo>
                      <a:pt x="1125419" y="0"/>
                      <a:pt x="1147653" y="9210"/>
                      <a:pt x="1164046" y="25603"/>
                    </a:cubicBezTo>
                    <a:cubicBezTo>
                      <a:pt x="1180439" y="41996"/>
                      <a:pt x="1189648" y="64229"/>
                      <a:pt x="1189648" y="87413"/>
                    </a:cubicBezTo>
                    <a:lnTo>
                      <a:pt x="1189648" y="161858"/>
                    </a:lnTo>
                    <a:cubicBezTo>
                      <a:pt x="1189648" y="185041"/>
                      <a:pt x="1180439" y="207275"/>
                      <a:pt x="1164046" y="223668"/>
                    </a:cubicBezTo>
                    <a:cubicBezTo>
                      <a:pt x="1147653" y="240061"/>
                      <a:pt x="1125419" y="249270"/>
                      <a:pt x="1102236" y="249270"/>
                    </a:cubicBezTo>
                    <a:lnTo>
                      <a:pt x="87413" y="249270"/>
                    </a:lnTo>
                    <a:cubicBezTo>
                      <a:pt x="64229" y="249270"/>
                      <a:pt x="41996" y="240061"/>
                      <a:pt x="25603" y="223668"/>
                    </a:cubicBezTo>
                    <a:cubicBezTo>
                      <a:pt x="9210" y="207275"/>
                      <a:pt x="0" y="185041"/>
                      <a:pt x="0" y="161858"/>
                    </a:cubicBezTo>
                    <a:lnTo>
                      <a:pt x="0" y="87413"/>
                    </a:lnTo>
                    <a:cubicBezTo>
                      <a:pt x="0" y="64229"/>
                      <a:pt x="9210" y="41996"/>
                      <a:pt x="25603" y="25603"/>
                    </a:cubicBezTo>
                    <a:cubicBezTo>
                      <a:pt x="41996" y="9210"/>
                      <a:pt x="64229" y="0"/>
                      <a:pt x="87413" y="0"/>
                    </a:cubicBezTo>
                    <a:close/>
                  </a:path>
                </a:pathLst>
              </a:custGeom>
              <a:solidFill>
                <a:srgbClr val="FE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5" name="Google Shape;775;p31"/>
              <p:cNvSpPr txBox="1"/>
              <p:nvPr/>
            </p:nvSpPr>
            <p:spPr>
              <a:xfrm>
                <a:off x="0" y="-47625"/>
                <a:ext cx="1189648" cy="296895"/>
              </a:xfrm>
              <a:prstGeom prst="rect">
                <a:avLst/>
              </a:prstGeom>
              <a:noFill/>
              <a:ln>
                <a:noFill/>
              </a:ln>
            </p:spPr>
            <p:txBody>
              <a:bodyPr anchorCtr="0" anchor="ctr" bIns="50800" lIns="50800" spcFirstLastPara="1" rIns="50800" wrap="square" tIns="50800">
                <a:noAutofit/>
              </a:bodyPr>
              <a:lstStyle/>
              <a:p>
                <a:pPr indent="0" lvl="0" marL="0" marR="0" rtl="0" algn="ctr">
                  <a:lnSpc>
                    <a:spcPct val="155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776" name="Google Shape;776;p31"/>
            <p:cNvSpPr/>
            <p:nvPr/>
          </p:nvSpPr>
          <p:spPr>
            <a:xfrm>
              <a:off x="483631" y="226255"/>
              <a:ext cx="2676306" cy="809419"/>
            </a:xfrm>
            <a:custGeom>
              <a:rect b="b" l="l" r="r" t="t"/>
              <a:pathLst>
                <a:path extrusionOk="0" h="809419" w="2676306">
                  <a:moveTo>
                    <a:pt x="0" y="0"/>
                  </a:moveTo>
                  <a:lnTo>
                    <a:pt x="2676305" y="0"/>
                  </a:lnTo>
                  <a:lnTo>
                    <a:pt x="2676305" y="809420"/>
                  </a:lnTo>
                  <a:lnTo>
                    <a:pt x="0" y="809420"/>
                  </a:lnTo>
                  <a:lnTo>
                    <a:pt x="0" y="0"/>
                  </a:lnTo>
                  <a:close/>
                </a:path>
              </a:pathLst>
            </a:custGeom>
            <a:blipFill rotWithShape="1">
              <a:blip r:embed="rId4">
                <a:alphaModFix/>
              </a:blip>
              <a:stretch>
                <a:fillRect b="0" l="0" r="0" t="0"/>
              </a:stretch>
            </a:blipFill>
            <a:ln>
              <a:noFill/>
            </a:ln>
          </p:spPr>
        </p:sp>
      </p:gr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7EEF9"/>
        </a:solidFill>
      </p:bgPr>
    </p:bg>
    <p:spTree>
      <p:nvGrpSpPr>
        <p:cNvPr id="780" name="Shape 780"/>
        <p:cNvGrpSpPr/>
        <p:nvPr/>
      </p:nvGrpSpPr>
      <p:grpSpPr>
        <a:xfrm>
          <a:off x="0" y="0"/>
          <a:ext cx="0" cy="0"/>
          <a:chOff x="0" y="0"/>
          <a:chExt cx="0" cy="0"/>
        </a:xfrm>
      </p:grpSpPr>
      <p:grpSp>
        <p:nvGrpSpPr>
          <p:cNvPr id="781" name="Google Shape;781;p32"/>
          <p:cNvGrpSpPr/>
          <p:nvPr/>
        </p:nvGrpSpPr>
        <p:grpSpPr>
          <a:xfrm>
            <a:off x="-1091704" y="4877752"/>
            <a:ext cx="8331780" cy="6598961"/>
            <a:chOff x="0" y="0"/>
            <a:chExt cx="11109040" cy="8798615"/>
          </a:xfrm>
        </p:grpSpPr>
        <p:sp>
          <p:nvSpPr>
            <p:cNvPr id="782" name="Google Shape;782;p32"/>
            <p:cNvSpPr/>
            <p:nvPr/>
          </p:nvSpPr>
          <p:spPr>
            <a:xfrm>
              <a:off x="0" y="0"/>
              <a:ext cx="11109040" cy="8798615"/>
            </a:xfrm>
            <a:custGeom>
              <a:rect b="b" l="l" r="r" t="t"/>
              <a:pathLst>
                <a:path extrusionOk="0" h="8798615" w="11109040">
                  <a:moveTo>
                    <a:pt x="0" y="0"/>
                  </a:moveTo>
                  <a:lnTo>
                    <a:pt x="11109040" y="0"/>
                  </a:lnTo>
                  <a:lnTo>
                    <a:pt x="11109040" y="8798615"/>
                  </a:lnTo>
                  <a:lnTo>
                    <a:pt x="0" y="8798615"/>
                  </a:lnTo>
                  <a:lnTo>
                    <a:pt x="0" y="0"/>
                  </a:lnTo>
                  <a:close/>
                </a:path>
              </a:pathLst>
            </a:custGeom>
            <a:blipFill rotWithShape="1">
              <a:blip r:embed="rId3">
                <a:alphaModFix amt="50000"/>
              </a:blip>
              <a:stretch>
                <a:fillRect b="-110141" l="-48131" r="0" t="0"/>
              </a:stretch>
            </a:blipFill>
            <a:ln>
              <a:noFill/>
            </a:ln>
          </p:spPr>
        </p:sp>
        <p:sp>
          <p:nvSpPr>
            <p:cNvPr id="783" name="Google Shape;783;p32"/>
            <p:cNvSpPr/>
            <p:nvPr/>
          </p:nvSpPr>
          <p:spPr>
            <a:xfrm>
              <a:off x="725193" y="1699015"/>
              <a:ext cx="6726445" cy="6876477"/>
            </a:xfrm>
            <a:custGeom>
              <a:rect b="b" l="l" r="r" t="t"/>
              <a:pathLst>
                <a:path extrusionOk="0" h="6876477" w="6726445">
                  <a:moveTo>
                    <a:pt x="0" y="0"/>
                  </a:moveTo>
                  <a:lnTo>
                    <a:pt x="6726445" y="0"/>
                  </a:lnTo>
                  <a:lnTo>
                    <a:pt x="6726445" y="6876477"/>
                  </a:lnTo>
                  <a:lnTo>
                    <a:pt x="0" y="6876477"/>
                  </a:lnTo>
                  <a:lnTo>
                    <a:pt x="0" y="0"/>
                  </a:lnTo>
                  <a:close/>
                </a:path>
              </a:pathLst>
            </a:custGeom>
            <a:blipFill rotWithShape="1">
              <a:blip r:embed="rId4">
                <a:alphaModFix amt="70000"/>
              </a:blip>
              <a:stretch>
                <a:fillRect b="0" l="0" r="0" t="0"/>
              </a:stretch>
            </a:blipFill>
            <a:ln>
              <a:noFill/>
            </a:ln>
          </p:spPr>
        </p:sp>
      </p:grpSp>
      <p:grpSp>
        <p:nvGrpSpPr>
          <p:cNvPr id="784" name="Google Shape;784;p32"/>
          <p:cNvGrpSpPr/>
          <p:nvPr/>
        </p:nvGrpSpPr>
        <p:grpSpPr>
          <a:xfrm>
            <a:off x="11557083" y="-1667082"/>
            <a:ext cx="8165933" cy="6344023"/>
            <a:chOff x="0" y="0"/>
            <a:chExt cx="10887911" cy="8458698"/>
          </a:xfrm>
        </p:grpSpPr>
        <p:sp>
          <p:nvSpPr>
            <p:cNvPr id="785" name="Google Shape;785;p32"/>
            <p:cNvSpPr/>
            <p:nvPr/>
          </p:nvSpPr>
          <p:spPr>
            <a:xfrm>
              <a:off x="168244" y="1236767"/>
              <a:ext cx="10719667" cy="7221931"/>
            </a:xfrm>
            <a:custGeom>
              <a:rect b="b" l="l" r="r" t="t"/>
              <a:pathLst>
                <a:path extrusionOk="0" h="7221931" w="10719667">
                  <a:moveTo>
                    <a:pt x="0" y="0"/>
                  </a:moveTo>
                  <a:lnTo>
                    <a:pt x="10719667" y="0"/>
                  </a:lnTo>
                  <a:lnTo>
                    <a:pt x="10719667" y="7221932"/>
                  </a:lnTo>
                  <a:lnTo>
                    <a:pt x="0" y="7221932"/>
                  </a:lnTo>
                  <a:lnTo>
                    <a:pt x="0" y="0"/>
                  </a:lnTo>
                  <a:close/>
                </a:path>
              </a:pathLst>
            </a:custGeom>
            <a:blipFill rotWithShape="1">
              <a:blip r:embed="rId5">
                <a:alphaModFix amt="40000"/>
              </a:blip>
              <a:stretch>
                <a:fillRect b="0" l="0" r="-57671" t="-41357"/>
              </a:stretch>
            </a:blipFill>
            <a:ln>
              <a:noFill/>
            </a:ln>
          </p:spPr>
        </p:sp>
        <p:sp>
          <p:nvSpPr>
            <p:cNvPr id="786" name="Google Shape;786;p32"/>
            <p:cNvSpPr/>
            <p:nvPr/>
          </p:nvSpPr>
          <p:spPr>
            <a:xfrm>
              <a:off x="0" y="0"/>
              <a:ext cx="6509685" cy="6654882"/>
            </a:xfrm>
            <a:custGeom>
              <a:rect b="b" l="l" r="r" t="t"/>
              <a:pathLst>
                <a:path extrusionOk="0" h="6654882" w="6509685">
                  <a:moveTo>
                    <a:pt x="0" y="0"/>
                  </a:moveTo>
                  <a:lnTo>
                    <a:pt x="6509685" y="0"/>
                  </a:lnTo>
                  <a:lnTo>
                    <a:pt x="6509685" y="6654882"/>
                  </a:lnTo>
                  <a:lnTo>
                    <a:pt x="0" y="6654882"/>
                  </a:lnTo>
                  <a:lnTo>
                    <a:pt x="0" y="0"/>
                  </a:lnTo>
                  <a:close/>
                </a:path>
              </a:pathLst>
            </a:custGeom>
            <a:blipFill rotWithShape="1">
              <a:blip r:embed="rId4">
                <a:alphaModFix amt="70000"/>
              </a:blip>
              <a:stretch>
                <a:fillRect b="0" l="0" r="0" t="0"/>
              </a:stretch>
            </a:blipFill>
            <a:ln>
              <a:noFill/>
            </a:ln>
          </p:spPr>
        </p:sp>
      </p:grpSp>
      <p:grpSp>
        <p:nvGrpSpPr>
          <p:cNvPr id="787" name="Google Shape;787;p32"/>
          <p:cNvGrpSpPr/>
          <p:nvPr/>
        </p:nvGrpSpPr>
        <p:grpSpPr>
          <a:xfrm>
            <a:off x="593940" y="8523512"/>
            <a:ext cx="3884701" cy="737798"/>
            <a:chOff x="0" y="-93082"/>
            <a:chExt cx="5179602" cy="983731"/>
          </a:xfrm>
        </p:grpSpPr>
        <p:grpSp>
          <p:nvGrpSpPr>
            <p:cNvPr id="788" name="Google Shape;788;p32"/>
            <p:cNvGrpSpPr/>
            <p:nvPr/>
          </p:nvGrpSpPr>
          <p:grpSpPr>
            <a:xfrm>
              <a:off x="0" y="-93082"/>
              <a:ext cx="5179602" cy="983731"/>
              <a:chOff x="0" y="-38100"/>
              <a:chExt cx="2120097" cy="402658"/>
            </a:xfrm>
          </p:grpSpPr>
          <p:sp>
            <p:nvSpPr>
              <p:cNvPr id="789" name="Google Shape;789;p32"/>
              <p:cNvSpPr/>
              <p:nvPr/>
            </p:nvSpPr>
            <p:spPr>
              <a:xfrm>
                <a:off x="0" y="0"/>
                <a:ext cx="2120097" cy="364558"/>
              </a:xfrm>
              <a:custGeom>
                <a:rect b="b" l="l" r="r" t="t"/>
                <a:pathLst>
                  <a:path extrusionOk="0" h="364558" w="2120097">
                    <a:moveTo>
                      <a:pt x="203200" y="0"/>
                    </a:moveTo>
                    <a:lnTo>
                      <a:pt x="2120097" y="0"/>
                    </a:lnTo>
                    <a:lnTo>
                      <a:pt x="1916897" y="364558"/>
                    </a:lnTo>
                    <a:lnTo>
                      <a:pt x="0" y="364558"/>
                    </a:lnTo>
                    <a:lnTo>
                      <a:pt x="203200" y="0"/>
                    </a:lnTo>
                    <a:close/>
                  </a:path>
                </a:pathLst>
              </a:custGeom>
              <a:solidFill>
                <a:srgbClr val="223448"/>
              </a:solidFill>
              <a:ln>
                <a:noFill/>
              </a:ln>
            </p:spPr>
          </p:sp>
          <p:sp>
            <p:nvSpPr>
              <p:cNvPr id="790" name="Google Shape;790;p32"/>
              <p:cNvSpPr txBox="1"/>
              <p:nvPr/>
            </p:nvSpPr>
            <p:spPr>
              <a:xfrm>
                <a:off x="101600" y="-38100"/>
                <a:ext cx="1916897" cy="402658"/>
              </a:xfrm>
              <a:prstGeom prst="rect">
                <a:avLst/>
              </a:prstGeom>
              <a:noFill/>
              <a:ln>
                <a:noFill/>
              </a:ln>
            </p:spPr>
            <p:txBody>
              <a:bodyPr anchorCtr="0" anchor="ctr" bIns="79375" lIns="79375" spcFirstLastPara="1" rIns="79375" wrap="square" tIns="79375">
                <a:noAutofit/>
              </a:bodyPr>
              <a:lstStyle/>
              <a:p>
                <a:pPr indent="0" lvl="0" marL="0" marR="0" rtl="0" algn="ctr">
                  <a:lnSpc>
                    <a:spcPct val="1410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791" name="Google Shape;791;p32"/>
            <p:cNvSpPr txBox="1"/>
            <p:nvPr/>
          </p:nvSpPr>
          <p:spPr>
            <a:xfrm>
              <a:off x="733351" y="125561"/>
              <a:ext cx="3712900" cy="543664"/>
            </a:xfrm>
            <a:prstGeom prst="rect">
              <a:avLst/>
            </a:prstGeom>
            <a:noFill/>
            <a:ln>
              <a:noFill/>
            </a:ln>
          </p:spPr>
          <p:txBody>
            <a:bodyPr anchorCtr="0" anchor="t" bIns="0" lIns="0" spcFirstLastPara="1" rIns="0" wrap="square" tIns="0">
              <a:spAutoFit/>
            </a:bodyPr>
            <a:lstStyle/>
            <a:p>
              <a:pPr indent="0" lvl="0" marL="0" marR="0" rtl="0" algn="ctr">
                <a:lnSpc>
                  <a:spcPct val="140031"/>
                </a:lnSpc>
                <a:spcBef>
                  <a:spcPts val="0"/>
                </a:spcBef>
                <a:spcAft>
                  <a:spcPts val="0"/>
                </a:spcAft>
                <a:buNone/>
              </a:pPr>
              <a:r>
                <a:rPr b="1" i="0" lang="en-US" spc="100" sz="2508" u="none" cap="none" strike="noStrike">
                  <a:solidFill>
                    <a:srgbClr val="FFFFFF"/>
                  </a:solidFill>
                  <a:latin typeface="Arial"/>
                  <a:ea typeface="Arial"/>
                  <a:cs typeface="Arial"/>
                  <a:sym typeface="Arial"/>
                </a:rPr>
                <a:t>2026.10.11</a:t>
              </a:r>
              <a:endParaRPr/>
            </a:p>
          </p:txBody>
        </p:sp>
      </p:grpSp>
      <p:grpSp>
        <p:nvGrpSpPr>
          <p:cNvPr id="792" name="Google Shape;792;p32"/>
          <p:cNvGrpSpPr/>
          <p:nvPr/>
        </p:nvGrpSpPr>
        <p:grpSpPr>
          <a:xfrm>
            <a:off x="0" y="9485662"/>
            <a:ext cx="18288000" cy="801338"/>
            <a:chOff x="0" y="-38100"/>
            <a:chExt cx="5177070" cy="226847"/>
          </a:xfrm>
        </p:grpSpPr>
        <p:sp>
          <p:nvSpPr>
            <p:cNvPr id="793" name="Google Shape;793;p32"/>
            <p:cNvSpPr/>
            <p:nvPr/>
          </p:nvSpPr>
          <p:spPr>
            <a:xfrm>
              <a:off x="0" y="0"/>
              <a:ext cx="5177070" cy="188747"/>
            </a:xfrm>
            <a:custGeom>
              <a:rect b="b" l="l" r="r" t="t"/>
              <a:pathLst>
                <a:path extrusionOk="0" h="188747" w="5177070">
                  <a:moveTo>
                    <a:pt x="0" y="0"/>
                  </a:moveTo>
                  <a:lnTo>
                    <a:pt x="5177070" y="0"/>
                  </a:lnTo>
                  <a:lnTo>
                    <a:pt x="5177070" y="188747"/>
                  </a:lnTo>
                  <a:lnTo>
                    <a:pt x="0" y="188747"/>
                  </a:lnTo>
                  <a:close/>
                </a:path>
              </a:pathLst>
            </a:custGeom>
            <a:solidFill>
              <a:srgbClr val="223448"/>
            </a:solidFill>
            <a:ln>
              <a:noFill/>
            </a:ln>
          </p:spPr>
        </p:sp>
        <p:sp>
          <p:nvSpPr>
            <p:cNvPr id="794" name="Google Shape;794;p32"/>
            <p:cNvSpPr txBox="1"/>
            <p:nvPr/>
          </p:nvSpPr>
          <p:spPr>
            <a:xfrm>
              <a:off x="0" y="-38100"/>
              <a:ext cx="5177070" cy="226847"/>
            </a:xfrm>
            <a:prstGeom prst="rect">
              <a:avLst/>
            </a:prstGeom>
            <a:noFill/>
            <a:ln>
              <a:noFill/>
            </a:ln>
          </p:spPr>
          <p:txBody>
            <a:bodyPr anchorCtr="0" anchor="ctr" bIns="70875" lIns="70875" spcFirstLastPara="1" rIns="70875" wrap="square" tIns="70875">
              <a:noAutofit/>
            </a:bodyPr>
            <a:lstStyle/>
            <a:p>
              <a:pPr indent="0" lvl="0" marL="0" marR="0" rtl="0" algn="ctr">
                <a:lnSpc>
                  <a:spcPct val="1410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795" name="Google Shape;795;p32"/>
          <p:cNvSpPr/>
          <p:nvPr/>
        </p:nvSpPr>
        <p:spPr>
          <a:xfrm>
            <a:off x="15544800" y="7377133"/>
            <a:ext cx="1714500" cy="17145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rotWithShape="1">
            <a:blip r:embed="rId6">
              <a:alphaModFix/>
            </a:blip>
            <a:stretch>
              <a:fillRect b="-14435" l="0" r="0" t="-14435"/>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96" name="Google Shape;796;p32"/>
          <p:cNvGrpSpPr/>
          <p:nvPr/>
        </p:nvGrpSpPr>
        <p:grpSpPr>
          <a:xfrm>
            <a:off x="-1664533" y="101823"/>
            <a:ext cx="4516946" cy="1127273"/>
            <a:chOff x="0" y="-241102"/>
            <a:chExt cx="6022595" cy="1503032"/>
          </a:xfrm>
        </p:grpSpPr>
        <p:grpSp>
          <p:nvGrpSpPr>
            <p:cNvPr id="797" name="Google Shape;797;p32"/>
            <p:cNvGrpSpPr/>
            <p:nvPr/>
          </p:nvGrpSpPr>
          <p:grpSpPr>
            <a:xfrm>
              <a:off x="0" y="-241102"/>
              <a:ext cx="6022595" cy="1503032"/>
              <a:chOff x="0" y="-47625"/>
              <a:chExt cx="1189648" cy="296895"/>
            </a:xfrm>
          </p:grpSpPr>
          <p:sp>
            <p:nvSpPr>
              <p:cNvPr id="798" name="Google Shape;798;p32"/>
              <p:cNvSpPr/>
              <p:nvPr/>
            </p:nvSpPr>
            <p:spPr>
              <a:xfrm>
                <a:off x="0" y="0"/>
                <a:ext cx="1189648" cy="249270"/>
              </a:xfrm>
              <a:custGeom>
                <a:rect b="b" l="l" r="r" t="t"/>
                <a:pathLst>
                  <a:path extrusionOk="0" h="249270" w="1189648">
                    <a:moveTo>
                      <a:pt x="87413" y="0"/>
                    </a:moveTo>
                    <a:lnTo>
                      <a:pt x="1102236" y="0"/>
                    </a:lnTo>
                    <a:cubicBezTo>
                      <a:pt x="1125419" y="0"/>
                      <a:pt x="1147653" y="9210"/>
                      <a:pt x="1164046" y="25603"/>
                    </a:cubicBezTo>
                    <a:cubicBezTo>
                      <a:pt x="1180439" y="41996"/>
                      <a:pt x="1189648" y="64229"/>
                      <a:pt x="1189648" y="87413"/>
                    </a:cubicBezTo>
                    <a:lnTo>
                      <a:pt x="1189648" y="161858"/>
                    </a:lnTo>
                    <a:cubicBezTo>
                      <a:pt x="1189648" y="185041"/>
                      <a:pt x="1180439" y="207275"/>
                      <a:pt x="1164046" y="223668"/>
                    </a:cubicBezTo>
                    <a:cubicBezTo>
                      <a:pt x="1147653" y="240061"/>
                      <a:pt x="1125419" y="249270"/>
                      <a:pt x="1102236" y="249270"/>
                    </a:cubicBezTo>
                    <a:lnTo>
                      <a:pt x="87413" y="249270"/>
                    </a:lnTo>
                    <a:cubicBezTo>
                      <a:pt x="64229" y="249270"/>
                      <a:pt x="41996" y="240061"/>
                      <a:pt x="25603" y="223668"/>
                    </a:cubicBezTo>
                    <a:cubicBezTo>
                      <a:pt x="9210" y="207275"/>
                      <a:pt x="0" y="185041"/>
                      <a:pt x="0" y="161858"/>
                    </a:cubicBezTo>
                    <a:lnTo>
                      <a:pt x="0" y="87413"/>
                    </a:lnTo>
                    <a:cubicBezTo>
                      <a:pt x="0" y="64229"/>
                      <a:pt x="9210" y="41996"/>
                      <a:pt x="25603" y="25603"/>
                    </a:cubicBezTo>
                    <a:cubicBezTo>
                      <a:pt x="41996" y="9210"/>
                      <a:pt x="64229" y="0"/>
                      <a:pt x="87413" y="0"/>
                    </a:cubicBezTo>
                    <a:close/>
                  </a:path>
                </a:pathLst>
              </a:custGeom>
              <a:solidFill>
                <a:srgbClr val="FE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9" name="Google Shape;799;p32"/>
              <p:cNvSpPr txBox="1"/>
              <p:nvPr/>
            </p:nvSpPr>
            <p:spPr>
              <a:xfrm>
                <a:off x="0" y="-47625"/>
                <a:ext cx="1189648" cy="296895"/>
              </a:xfrm>
              <a:prstGeom prst="rect">
                <a:avLst/>
              </a:prstGeom>
              <a:noFill/>
              <a:ln>
                <a:noFill/>
              </a:ln>
            </p:spPr>
            <p:txBody>
              <a:bodyPr anchorCtr="0" anchor="ctr" bIns="50800" lIns="50800" spcFirstLastPara="1" rIns="50800" wrap="square" tIns="50800">
                <a:noAutofit/>
              </a:bodyPr>
              <a:lstStyle/>
              <a:p>
                <a:pPr indent="0" lvl="0" marL="0" marR="0" rtl="0" algn="ctr">
                  <a:lnSpc>
                    <a:spcPct val="155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800" name="Google Shape;800;p32"/>
            <p:cNvSpPr/>
            <p:nvPr/>
          </p:nvSpPr>
          <p:spPr>
            <a:xfrm>
              <a:off x="2718636" y="226255"/>
              <a:ext cx="2676306" cy="809419"/>
            </a:xfrm>
            <a:custGeom>
              <a:rect b="b" l="l" r="r" t="t"/>
              <a:pathLst>
                <a:path extrusionOk="0" h="809419" w="2676306">
                  <a:moveTo>
                    <a:pt x="0" y="0"/>
                  </a:moveTo>
                  <a:lnTo>
                    <a:pt x="2676305" y="0"/>
                  </a:lnTo>
                  <a:lnTo>
                    <a:pt x="2676305" y="809420"/>
                  </a:lnTo>
                  <a:lnTo>
                    <a:pt x="0" y="809420"/>
                  </a:lnTo>
                  <a:lnTo>
                    <a:pt x="0" y="0"/>
                  </a:lnTo>
                  <a:close/>
                </a:path>
              </a:pathLst>
            </a:custGeom>
            <a:blipFill rotWithShape="1">
              <a:blip r:embed="rId7">
                <a:alphaModFix/>
              </a:blip>
              <a:stretch>
                <a:fillRect b="0" l="0" r="0" t="0"/>
              </a:stretch>
            </a:blipFill>
            <a:ln>
              <a:noFill/>
            </a:ln>
          </p:spPr>
        </p:sp>
      </p:grpSp>
      <p:grpSp>
        <p:nvGrpSpPr>
          <p:cNvPr id="801" name="Google Shape;801;p32"/>
          <p:cNvGrpSpPr/>
          <p:nvPr/>
        </p:nvGrpSpPr>
        <p:grpSpPr>
          <a:xfrm>
            <a:off x="13468602" y="7581025"/>
            <a:ext cx="1781070" cy="377095"/>
            <a:chOff x="0" y="0"/>
            <a:chExt cx="2374760" cy="502793"/>
          </a:xfrm>
        </p:grpSpPr>
        <p:sp>
          <p:nvSpPr>
            <p:cNvPr id="802" name="Google Shape;802;p32"/>
            <p:cNvSpPr/>
            <p:nvPr/>
          </p:nvSpPr>
          <p:spPr>
            <a:xfrm>
              <a:off x="0" y="0"/>
              <a:ext cx="2374760" cy="502793"/>
            </a:xfrm>
            <a:custGeom>
              <a:rect b="b" l="l" r="r" t="t"/>
              <a:pathLst>
                <a:path extrusionOk="0" h="502793" w="2374760">
                  <a:moveTo>
                    <a:pt x="0" y="111125"/>
                  </a:moveTo>
                  <a:cubicBezTo>
                    <a:pt x="0" y="49784"/>
                    <a:pt x="36128" y="0"/>
                    <a:pt x="80642" y="0"/>
                  </a:cubicBezTo>
                  <a:lnTo>
                    <a:pt x="2294117" y="0"/>
                  </a:lnTo>
                  <a:cubicBezTo>
                    <a:pt x="2338631" y="0"/>
                    <a:pt x="2374760" y="49784"/>
                    <a:pt x="2374760" y="111125"/>
                  </a:cubicBezTo>
                  <a:lnTo>
                    <a:pt x="2374760" y="391668"/>
                  </a:lnTo>
                  <a:cubicBezTo>
                    <a:pt x="2374760" y="453009"/>
                    <a:pt x="2338631" y="502793"/>
                    <a:pt x="2294117" y="502793"/>
                  </a:cubicBezTo>
                  <a:lnTo>
                    <a:pt x="80642" y="502793"/>
                  </a:lnTo>
                  <a:cubicBezTo>
                    <a:pt x="36128" y="502793"/>
                    <a:pt x="0" y="453136"/>
                    <a:pt x="0" y="391668"/>
                  </a:cubicBezTo>
                  <a:close/>
                </a:path>
              </a:pathLst>
            </a:custGeom>
            <a:solidFill>
              <a:srgbClr val="DADBF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3" name="Google Shape;803;p32"/>
            <p:cNvSpPr txBox="1"/>
            <p:nvPr/>
          </p:nvSpPr>
          <p:spPr>
            <a:xfrm>
              <a:off x="139730" y="128467"/>
              <a:ext cx="2207100" cy="277200"/>
            </a:xfrm>
            <a:prstGeom prst="rect">
              <a:avLst/>
            </a:prstGeom>
            <a:noFill/>
            <a:ln>
              <a:noFill/>
            </a:ln>
          </p:spPr>
          <p:txBody>
            <a:bodyPr anchorCtr="0" anchor="t" bIns="0" lIns="0" spcFirstLastPara="1" rIns="0" wrap="square" tIns="0">
              <a:spAutoFit/>
            </a:bodyPr>
            <a:lstStyle/>
            <a:p>
              <a:pPr indent="0" lvl="0" marL="0" marR="0" rtl="0" algn="l">
                <a:lnSpc>
                  <a:spcPct val="115185"/>
                </a:lnSpc>
                <a:spcBef>
                  <a:spcPts val="0"/>
                </a:spcBef>
                <a:spcAft>
                  <a:spcPts val="0"/>
                </a:spcAft>
                <a:buNone/>
              </a:pPr>
              <a:r>
                <a:rPr b="0" i="0" lang="en-US" sz="1350" u="none" cap="none" strike="noStrike">
                  <a:solidFill>
                    <a:srgbClr val="272525"/>
                  </a:solidFill>
                  <a:latin typeface="Inter"/>
                  <a:ea typeface="Inter"/>
                  <a:cs typeface="Inter"/>
                  <a:sym typeface="Inter"/>
                </a:rPr>
                <a:t>Data &amp; BI Analyst</a:t>
              </a:r>
              <a:endParaRPr/>
            </a:p>
          </p:txBody>
        </p:sp>
      </p:grpSp>
      <p:sp>
        <p:nvSpPr>
          <p:cNvPr id="804" name="Google Shape;804;p32"/>
          <p:cNvSpPr/>
          <p:nvPr/>
        </p:nvSpPr>
        <p:spPr>
          <a:xfrm>
            <a:off x="849868" y="7857250"/>
            <a:ext cx="2538833" cy="377095"/>
          </a:xfrm>
          <a:custGeom>
            <a:rect b="b" l="l" r="r" t="t"/>
            <a:pathLst>
              <a:path extrusionOk="0" h="502793" w="3385110">
                <a:moveTo>
                  <a:pt x="0" y="111125"/>
                </a:moveTo>
                <a:cubicBezTo>
                  <a:pt x="0" y="49784"/>
                  <a:pt x="51499" y="0"/>
                  <a:pt x="114952" y="0"/>
                </a:cubicBezTo>
                <a:lnTo>
                  <a:pt x="3270158" y="0"/>
                </a:lnTo>
                <a:cubicBezTo>
                  <a:pt x="3333612" y="0"/>
                  <a:pt x="3385110" y="49784"/>
                  <a:pt x="3385110" y="111125"/>
                </a:cubicBezTo>
                <a:lnTo>
                  <a:pt x="3385110" y="391668"/>
                </a:lnTo>
                <a:cubicBezTo>
                  <a:pt x="3385110" y="453009"/>
                  <a:pt x="3333612" y="502793"/>
                  <a:pt x="3270158" y="502793"/>
                </a:cubicBezTo>
                <a:lnTo>
                  <a:pt x="114952" y="502793"/>
                </a:lnTo>
                <a:cubicBezTo>
                  <a:pt x="51499" y="502793"/>
                  <a:pt x="0" y="453136"/>
                  <a:pt x="0" y="391668"/>
                </a:cubicBezTo>
                <a:close/>
              </a:path>
            </a:pathLst>
          </a:custGeom>
          <a:solidFill>
            <a:srgbClr val="B2D6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5" name="Google Shape;805;p32"/>
          <p:cNvSpPr/>
          <p:nvPr/>
        </p:nvSpPr>
        <p:spPr>
          <a:xfrm>
            <a:off x="3565749" y="7838200"/>
            <a:ext cx="2405312" cy="396145"/>
          </a:xfrm>
          <a:custGeom>
            <a:rect b="b" l="l" r="r" t="t"/>
            <a:pathLst>
              <a:path extrusionOk="0" h="528193" w="3207083">
                <a:moveTo>
                  <a:pt x="0" y="116713"/>
                </a:moveTo>
                <a:cubicBezTo>
                  <a:pt x="0" y="52324"/>
                  <a:pt x="56870" y="0"/>
                  <a:pt x="126853" y="0"/>
                </a:cubicBezTo>
                <a:lnTo>
                  <a:pt x="3080229" y="0"/>
                </a:lnTo>
                <a:cubicBezTo>
                  <a:pt x="3150351" y="0"/>
                  <a:pt x="3207083" y="52324"/>
                  <a:pt x="3207083" y="116713"/>
                </a:cubicBezTo>
                <a:lnTo>
                  <a:pt x="3207083" y="411480"/>
                </a:lnTo>
                <a:cubicBezTo>
                  <a:pt x="3207083" y="475996"/>
                  <a:pt x="3150213" y="528193"/>
                  <a:pt x="3080229" y="528193"/>
                </a:cubicBezTo>
                <a:lnTo>
                  <a:pt x="126853" y="528193"/>
                </a:lnTo>
                <a:cubicBezTo>
                  <a:pt x="56870" y="528193"/>
                  <a:pt x="0" y="475996"/>
                  <a:pt x="0" y="411480"/>
                </a:cubicBezTo>
                <a:close/>
              </a:path>
            </a:pathLst>
          </a:custGeom>
          <a:blipFill rotWithShape="1">
            <a:blip r:embed="rId8">
              <a:alphaModFix amt="0"/>
            </a:blip>
            <a:stretch>
              <a:fillRect b="-58856" l="0" r="7992" t="-58847"/>
            </a:stretch>
          </a:blipFill>
          <a:ln cap="sq" cmpd="sng" w="19050">
            <a:solidFill>
              <a:srgbClr val="4950BC"/>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6" name="Google Shape;806;p32"/>
          <p:cNvSpPr/>
          <p:nvPr/>
        </p:nvSpPr>
        <p:spPr>
          <a:xfrm>
            <a:off x="6156820" y="7838200"/>
            <a:ext cx="2987168" cy="396145"/>
          </a:xfrm>
          <a:custGeom>
            <a:rect b="b" l="l" r="r" t="t"/>
            <a:pathLst>
              <a:path extrusionOk="0" h="528193" w="3982891">
                <a:moveTo>
                  <a:pt x="0" y="116713"/>
                </a:moveTo>
                <a:cubicBezTo>
                  <a:pt x="0" y="52324"/>
                  <a:pt x="64916" y="0"/>
                  <a:pt x="144801" y="0"/>
                </a:cubicBezTo>
                <a:lnTo>
                  <a:pt x="3838090" y="0"/>
                </a:lnTo>
                <a:cubicBezTo>
                  <a:pt x="3918133" y="0"/>
                  <a:pt x="3982891" y="52324"/>
                  <a:pt x="3982891" y="116713"/>
                </a:cubicBezTo>
                <a:lnTo>
                  <a:pt x="3982891" y="411480"/>
                </a:lnTo>
                <a:cubicBezTo>
                  <a:pt x="3982891" y="475996"/>
                  <a:pt x="3917975" y="528193"/>
                  <a:pt x="3838090" y="528193"/>
                </a:cubicBezTo>
                <a:lnTo>
                  <a:pt x="144801" y="528193"/>
                </a:lnTo>
                <a:cubicBezTo>
                  <a:pt x="64916" y="528193"/>
                  <a:pt x="0" y="475996"/>
                  <a:pt x="0" y="411480"/>
                </a:cubicBezTo>
                <a:close/>
              </a:path>
            </a:pathLst>
          </a:custGeom>
          <a:blipFill rotWithShape="1">
            <a:blip r:embed="rId8">
              <a:alphaModFix amt="0"/>
            </a:blip>
            <a:stretch>
              <a:fillRect b="-68432" l="0" r="19397" t="-68423"/>
            </a:stretch>
          </a:blipFill>
          <a:ln cap="sq" cmpd="sng" w="19050">
            <a:solidFill>
              <a:srgbClr val="4950BC"/>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7" name="Google Shape;807;p32"/>
          <p:cNvSpPr txBox="1"/>
          <p:nvPr/>
        </p:nvSpPr>
        <p:spPr>
          <a:xfrm>
            <a:off x="6311535" y="2028951"/>
            <a:ext cx="6524045" cy="195326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i="0" lang="en-US" spc="336" sz="5600" u="none" cap="none" strike="noStrike">
                <a:solidFill>
                  <a:srgbClr val="1C3F99"/>
                </a:solidFill>
                <a:latin typeface="Arial"/>
                <a:ea typeface="Arial"/>
                <a:cs typeface="Arial"/>
                <a:sym typeface="Arial"/>
              </a:rPr>
              <a:t>Thank You Very Much!</a:t>
            </a:r>
            <a:endParaRPr/>
          </a:p>
        </p:txBody>
      </p:sp>
      <p:sp>
        <p:nvSpPr>
          <p:cNvPr id="808" name="Google Shape;808;p32"/>
          <p:cNvSpPr txBox="1"/>
          <p:nvPr/>
        </p:nvSpPr>
        <p:spPr>
          <a:xfrm>
            <a:off x="10421473" y="8120083"/>
            <a:ext cx="4828213" cy="481329"/>
          </a:xfrm>
          <a:prstGeom prst="rect">
            <a:avLst/>
          </a:prstGeom>
          <a:noFill/>
          <a:ln>
            <a:noFill/>
          </a:ln>
        </p:spPr>
        <p:txBody>
          <a:bodyPr anchorCtr="0" anchor="t" bIns="0" lIns="0" spcFirstLastPara="1" rIns="0" wrap="square" tIns="0">
            <a:spAutoFit/>
          </a:bodyPr>
          <a:lstStyle/>
          <a:p>
            <a:pPr indent="0" lvl="0" marL="0" marR="0" rtl="0" algn="r">
              <a:lnSpc>
                <a:spcPct val="140000"/>
              </a:lnSpc>
              <a:spcBef>
                <a:spcPts val="0"/>
              </a:spcBef>
              <a:spcAft>
                <a:spcPts val="0"/>
              </a:spcAft>
              <a:buNone/>
            </a:pPr>
            <a:r>
              <a:rPr b="1" i="0" lang="en-US" spc="112" sz="2800" u="none" cap="none" strike="noStrike">
                <a:solidFill>
                  <a:srgbClr val="223448"/>
                </a:solidFill>
                <a:latin typeface="Arial"/>
                <a:ea typeface="Arial"/>
                <a:cs typeface="Arial"/>
                <a:sym typeface="Arial"/>
              </a:rPr>
              <a:t>JOKO SANTOSO</a:t>
            </a:r>
            <a:endParaRPr/>
          </a:p>
        </p:txBody>
      </p:sp>
      <p:sp>
        <p:nvSpPr>
          <p:cNvPr id="809" name="Google Shape;809;p32"/>
          <p:cNvSpPr txBox="1"/>
          <p:nvPr/>
        </p:nvSpPr>
        <p:spPr>
          <a:xfrm>
            <a:off x="6990576" y="5753705"/>
            <a:ext cx="4566507" cy="407360"/>
          </a:xfrm>
          <a:prstGeom prst="rect">
            <a:avLst/>
          </a:prstGeom>
          <a:noFill/>
          <a:ln>
            <a:noFill/>
          </a:ln>
        </p:spPr>
        <p:txBody>
          <a:bodyPr anchorCtr="0" anchor="t" bIns="0" lIns="0" spcFirstLastPara="1" rIns="0" wrap="square" tIns="0">
            <a:spAutoFit/>
          </a:bodyPr>
          <a:lstStyle/>
          <a:p>
            <a:pPr indent="0" lvl="0" marL="0" marR="0" rtl="0" algn="ctr">
              <a:lnSpc>
                <a:spcPct val="140008"/>
              </a:lnSpc>
              <a:spcBef>
                <a:spcPts val="0"/>
              </a:spcBef>
              <a:spcAft>
                <a:spcPts val="0"/>
              </a:spcAft>
              <a:buNone/>
            </a:pPr>
            <a:r>
              <a:rPr b="0" i="0" lang="en-US" sz="2337" u="none" cap="none" strike="noStrike">
                <a:solidFill>
                  <a:srgbClr val="1C3F99"/>
                </a:solidFill>
                <a:latin typeface="Poppins"/>
                <a:ea typeface="Poppins"/>
                <a:cs typeface="Poppins"/>
                <a:sym typeface="Poppins"/>
              </a:rPr>
              <a:t>Presented By: Joko Santoso</a:t>
            </a:r>
            <a:endParaRPr/>
          </a:p>
        </p:txBody>
      </p:sp>
      <p:sp>
        <p:nvSpPr>
          <p:cNvPr id="810" name="Google Shape;810;p32"/>
          <p:cNvSpPr txBox="1"/>
          <p:nvPr/>
        </p:nvSpPr>
        <p:spPr>
          <a:xfrm>
            <a:off x="10790336" y="8668722"/>
            <a:ext cx="4849714" cy="346075"/>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0" i="0" lang="en-US" spc="112" sz="2000" u="none" cap="none" strike="noStrike">
                <a:solidFill>
                  <a:srgbClr val="15213F"/>
                </a:solidFill>
                <a:latin typeface="Poppins"/>
                <a:ea typeface="Poppins"/>
                <a:cs typeface="Poppins"/>
                <a:sym typeface="Poppins"/>
              </a:rPr>
              <a:t>Contact : santosoj160@gmail.com</a:t>
            </a:r>
            <a:endParaRPr/>
          </a:p>
        </p:txBody>
      </p:sp>
      <p:sp>
        <p:nvSpPr>
          <p:cNvPr id="811" name="Google Shape;811;p32"/>
          <p:cNvSpPr txBox="1"/>
          <p:nvPr/>
        </p:nvSpPr>
        <p:spPr>
          <a:xfrm>
            <a:off x="3059228" y="4325111"/>
            <a:ext cx="12169543" cy="942204"/>
          </a:xfrm>
          <a:prstGeom prst="rect">
            <a:avLst/>
          </a:prstGeom>
          <a:noFill/>
          <a:ln>
            <a:noFill/>
          </a:ln>
        </p:spPr>
        <p:txBody>
          <a:bodyPr anchorCtr="0" anchor="t" bIns="0" lIns="0" spcFirstLastPara="1" rIns="0" wrap="square" tIns="0">
            <a:spAutoFit/>
          </a:bodyPr>
          <a:lstStyle/>
          <a:p>
            <a:pPr indent="0" lvl="0" marL="0" marR="0" rtl="0" algn="ctr">
              <a:lnSpc>
                <a:spcPct val="140007"/>
              </a:lnSpc>
              <a:spcBef>
                <a:spcPts val="0"/>
              </a:spcBef>
              <a:spcAft>
                <a:spcPts val="0"/>
              </a:spcAft>
              <a:buNone/>
            </a:pPr>
            <a:r>
              <a:rPr b="1" i="0" lang="en-US" spc="-84" sz="5279" u="none" cap="none" strike="noStrike">
                <a:solidFill>
                  <a:srgbClr val="0394BE"/>
                </a:solidFill>
                <a:latin typeface="Poppins Black"/>
                <a:ea typeface="Poppins Black"/>
                <a:cs typeface="Poppins Black"/>
                <a:sym typeface="Poppins Black"/>
              </a:rPr>
              <a:t>Any thoughts or reflections?</a:t>
            </a:r>
            <a:endParaRPr/>
          </a:p>
        </p:txBody>
      </p:sp>
      <p:sp>
        <p:nvSpPr>
          <p:cNvPr id="812" name="Google Shape;812;p32"/>
          <p:cNvSpPr txBox="1"/>
          <p:nvPr/>
        </p:nvSpPr>
        <p:spPr>
          <a:xfrm>
            <a:off x="977325" y="7931669"/>
            <a:ext cx="2355772" cy="189205"/>
          </a:xfrm>
          <a:prstGeom prst="rect">
            <a:avLst/>
          </a:prstGeom>
          <a:noFill/>
          <a:ln>
            <a:noFill/>
          </a:ln>
        </p:spPr>
        <p:txBody>
          <a:bodyPr anchorCtr="0" anchor="t" bIns="0" lIns="0" spcFirstLastPara="1" rIns="0" wrap="square" tIns="0">
            <a:spAutoFit/>
          </a:bodyPr>
          <a:lstStyle/>
          <a:p>
            <a:pPr indent="0" lvl="0" marL="0" marR="0" rtl="0" algn="l">
              <a:lnSpc>
                <a:spcPct val="115185"/>
              </a:lnSpc>
              <a:spcBef>
                <a:spcPts val="0"/>
              </a:spcBef>
              <a:spcAft>
                <a:spcPts val="0"/>
              </a:spcAft>
              <a:buNone/>
            </a:pPr>
            <a:r>
              <a:rPr b="1" i="0" lang="en-US" sz="1350" u="none" cap="none" strike="noStrike">
                <a:solidFill>
                  <a:srgbClr val="1A2D7A"/>
                </a:solidFill>
                <a:latin typeface="Inter"/>
                <a:ea typeface="Inter"/>
                <a:cs typeface="Inter"/>
                <a:sym typeface="Inter"/>
              </a:rPr>
              <a:t>SUPPLY CHAIN</a:t>
            </a:r>
            <a:endParaRPr/>
          </a:p>
        </p:txBody>
      </p:sp>
      <p:sp>
        <p:nvSpPr>
          <p:cNvPr id="813" name="Google Shape;813;p32"/>
          <p:cNvSpPr txBox="1"/>
          <p:nvPr/>
        </p:nvSpPr>
        <p:spPr>
          <a:xfrm>
            <a:off x="3672149" y="7931669"/>
            <a:ext cx="2172450" cy="179375"/>
          </a:xfrm>
          <a:prstGeom prst="rect">
            <a:avLst/>
          </a:prstGeom>
          <a:noFill/>
          <a:ln>
            <a:noFill/>
          </a:ln>
        </p:spPr>
        <p:txBody>
          <a:bodyPr anchorCtr="0" anchor="t" bIns="0" lIns="0" spcFirstLastPara="1" rIns="0" wrap="square" tIns="0">
            <a:spAutoFit/>
          </a:bodyPr>
          <a:lstStyle/>
          <a:p>
            <a:pPr indent="0" lvl="0" marL="0" marR="0" rtl="0" algn="l">
              <a:lnSpc>
                <a:spcPct val="115242"/>
              </a:lnSpc>
              <a:spcBef>
                <a:spcPts val="0"/>
              </a:spcBef>
              <a:spcAft>
                <a:spcPts val="0"/>
              </a:spcAft>
              <a:buNone/>
            </a:pPr>
            <a:r>
              <a:rPr b="0" i="0" lang="en-US" sz="1299" u="none" cap="none" strike="noStrike">
                <a:solidFill>
                  <a:srgbClr val="4950BC"/>
                </a:solidFill>
                <a:latin typeface="Inter"/>
                <a:ea typeface="Inter"/>
                <a:cs typeface="Inter"/>
                <a:sym typeface="Inter"/>
              </a:rPr>
              <a:t>DEMAND FORECASTING</a:t>
            </a:r>
            <a:endParaRPr/>
          </a:p>
        </p:txBody>
      </p:sp>
      <p:sp>
        <p:nvSpPr>
          <p:cNvPr id="814" name="Google Shape;814;p32"/>
          <p:cNvSpPr txBox="1"/>
          <p:nvPr/>
        </p:nvSpPr>
        <p:spPr>
          <a:xfrm>
            <a:off x="6203703" y="7932569"/>
            <a:ext cx="2841600" cy="231000"/>
          </a:xfrm>
          <a:prstGeom prst="rect">
            <a:avLst/>
          </a:prstGeom>
          <a:noFill/>
          <a:ln>
            <a:noFill/>
          </a:ln>
        </p:spPr>
        <p:txBody>
          <a:bodyPr anchorCtr="0" anchor="t" bIns="0" lIns="0" spcFirstLastPara="1" rIns="0" wrap="square" tIns="0">
            <a:spAutoFit/>
          </a:bodyPr>
          <a:lstStyle/>
          <a:p>
            <a:pPr indent="0" lvl="0" marL="0" marR="0" rtl="0" algn="l">
              <a:lnSpc>
                <a:spcPct val="115133"/>
              </a:lnSpc>
              <a:spcBef>
                <a:spcPts val="0"/>
              </a:spcBef>
              <a:spcAft>
                <a:spcPts val="0"/>
              </a:spcAft>
              <a:buNone/>
            </a:pPr>
            <a:r>
              <a:rPr b="0" i="0" lang="en-US" sz="1500" u="none" cap="none" strike="noStrike">
                <a:solidFill>
                  <a:srgbClr val="3257B8"/>
                </a:solidFill>
                <a:latin typeface="Inter"/>
                <a:ea typeface="Inter"/>
                <a:cs typeface="Inter"/>
                <a:sym typeface="Inter"/>
              </a:rPr>
              <a:t>BUSINESS INTELLIGENCE</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